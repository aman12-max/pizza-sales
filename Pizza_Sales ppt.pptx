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86" r:id="rId2"/>
    <p:sldId id="287" r:id="rId3"/>
    <p:sldId id="288" r:id="rId4"/>
    <p:sldId id="289" r:id="rId5"/>
    <p:sldId id="290" r:id="rId6"/>
    <p:sldId id="291" r:id="rId7"/>
    <p:sldId id="292" r:id="rId8"/>
    <p:sldId id="293" r:id="rId9"/>
    <p:sldId id="295"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256"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Gusain" userId="a4c796fedc741f04" providerId="LiveId" clId="{16B6BBAF-CA96-42FB-8AD5-A20313B2F528}"/>
    <pc:docChg chg="undo custSel addSld delSld modSld">
      <pc:chgData name="Aman Gusain" userId="a4c796fedc741f04" providerId="LiveId" clId="{16B6BBAF-CA96-42FB-8AD5-A20313B2F528}" dt="2026-10-07T15:28:07.512" v="165" actId="20577"/>
      <pc:docMkLst>
        <pc:docMk/>
      </pc:docMkLst>
      <pc:sldChg chg="modSp add mod modTransition">
        <pc:chgData name="Aman Gusain" userId="a4c796fedc741f04" providerId="LiveId" clId="{16B6BBAF-CA96-42FB-8AD5-A20313B2F528}" dt="2026-10-07T13:40:29.993" v="103" actId="113"/>
        <pc:sldMkLst>
          <pc:docMk/>
          <pc:sldMk cId="439129002" sldId="256"/>
        </pc:sldMkLst>
        <pc:spChg chg="mod">
          <ac:chgData name="Aman Gusain" userId="a4c796fedc741f04" providerId="LiveId" clId="{16B6BBAF-CA96-42FB-8AD5-A20313B2F528}" dt="2026-10-07T13:40:12.427" v="100" actId="255"/>
          <ac:spMkLst>
            <pc:docMk/>
            <pc:sldMk cId="439129002" sldId="256"/>
            <ac:spMk id="3" creationId="{00000000-0000-0000-0000-000000000000}"/>
          </ac:spMkLst>
        </pc:spChg>
        <pc:spChg chg="mod">
          <ac:chgData name="Aman Gusain" userId="a4c796fedc741f04" providerId="LiveId" clId="{16B6BBAF-CA96-42FB-8AD5-A20313B2F528}" dt="2026-10-07T13:40:29.993" v="103" actId="113"/>
          <ac:spMkLst>
            <pc:docMk/>
            <pc:sldMk cId="439129002" sldId="256"/>
            <ac:spMk id="37" creationId="{00000000-0000-0000-0000-000000000000}"/>
          </ac:spMkLst>
        </pc:spChg>
      </pc:sldChg>
      <pc:sldChg chg="add del setBg">
        <pc:chgData name="Aman Gusain" userId="a4c796fedc741f04" providerId="LiveId" clId="{16B6BBAF-CA96-42FB-8AD5-A20313B2F528}" dt="2026-10-07T11:31:55.151" v="70"/>
        <pc:sldMkLst>
          <pc:docMk/>
          <pc:sldMk cId="824395888" sldId="256"/>
        </pc:sldMkLst>
      </pc:sldChg>
      <pc:sldChg chg="modSp add del mod modTransition">
        <pc:chgData name="Aman Gusain" userId="a4c796fedc741f04" providerId="LiveId" clId="{16B6BBAF-CA96-42FB-8AD5-A20313B2F528}" dt="2026-10-07T11:31:54.204" v="66"/>
        <pc:sldMkLst>
          <pc:docMk/>
          <pc:sldMk cId="3377898418" sldId="256"/>
        </pc:sldMkLst>
        <pc:spChg chg="mod">
          <ac:chgData name="Aman Gusain" userId="a4c796fedc741f04" providerId="LiveId" clId="{16B6BBAF-CA96-42FB-8AD5-A20313B2F528}" dt="2026-10-07T11:31:53.766" v="64" actId="255"/>
          <ac:spMkLst>
            <pc:docMk/>
            <pc:sldMk cId="3377898418" sldId="256"/>
            <ac:spMk id="3" creationId="{00000000-0000-0000-0000-000000000000}"/>
          </ac:spMkLst>
        </pc:spChg>
      </pc:sldChg>
      <pc:sldChg chg="add del setBg">
        <pc:chgData name="Aman Gusain" userId="a4c796fedc741f04" providerId="LiveId" clId="{16B6BBAF-CA96-42FB-8AD5-A20313B2F528}" dt="2026-10-07T11:32:09.165" v="76" actId="2696"/>
        <pc:sldMkLst>
          <pc:docMk/>
          <pc:sldMk cId="3725698280" sldId="256"/>
        </pc:sldMkLst>
      </pc:sldChg>
      <pc:sldChg chg="modSp mod modTransition modAnim">
        <pc:chgData name="Aman Gusain" userId="a4c796fedc741f04" providerId="LiveId" clId="{16B6BBAF-CA96-42FB-8AD5-A20313B2F528}" dt="2026-10-07T15:26:38.478" v="119" actId="1076"/>
        <pc:sldMkLst>
          <pc:docMk/>
          <pc:sldMk cId="2875079197" sldId="286"/>
        </pc:sldMkLst>
        <pc:spChg chg="mod">
          <ac:chgData name="Aman Gusain" userId="a4c796fedc741f04" providerId="LiveId" clId="{16B6BBAF-CA96-42FB-8AD5-A20313B2F528}" dt="2026-10-07T15:26:38.478" v="119" actId="1076"/>
          <ac:spMkLst>
            <pc:docMk/>
            <pc:sldMk cId="2875079197" sldId="286"/>
            <ac:spMk id="40" creationId="{00000000-0000-0000-0000-000000000000}"/>
          </ac:spMkLst>
        </pc:spChg>
        <pc:spChg chg="mod">
          <ac:chgData name="Aman Gusain" userId="a4c796fedc741f04" providerId="LiveId" clId="{16B6BBAF-CA96-42FB-8AD5-A20313B2F528}" dt="2026-10-07T15:26:30.570" v="118" actId="20577"/>
          <ac:spMkLst>
            <pc:docMk/>
            <pc:sldMk cId="2875079197" sldId="286"/>
            <ac:spMk id="41" creationId="{00000000-0000-0000-0000-000000000000}"/>
          </ac:spMkLst>
        </pc:spChg>
      </pc:sldChg>
      <pc:sldChg chg="modSp mod modAnim">
        <pc:chgData name="Aman Gusain" userId="a4c796fedc741f04" providerId="LiveId" clId="{16B6BBAF-CA96-42FB-8AD5-A20313B2F528}" dt="2026-10-07T15:26:51.774" v="120" actId="1076"/>
        <pc:sldMkLst>
          <pc:docMk/>
          <pc:sldMk cId="1808767188" sldId="287"/>
        </pc:sldMkLst>
        <pc:spChg chg="mod">
          <ac:chgData name="Aman Gusain" userId="a4c796fedc741f04" providerId="LiveId" clId="{16B6BBAF-CA96-42FB-8AD5-A20313B2F528}" dt="2026-10-07T15:26:51.774" v="120" actId="1076"/>
          <ac:spMkLst>
            <pc:docMk/>
            <pc:sldMk cId="1808767188" sldId="287"/>
            <ac:spMk id="61" creationId="{1477C6CA-3F6D-452D-9E94-E512B893C700}"/>
          </ac:spMkLst>
        </pc:spChg>
        <pc:spChg chg="mod">
          <ac:chgData name="Aman Gusain" userId="a4c796fedc741f04" providerId="LiveId" clId="{16B6BBAF-CA96-42FB-8AD5-A20313B2F528}" dt="2026-10-07T13:43:35.247" v="104" actId="1076"/>
          <ac:spMkLst>
            <pc:docMk/>
            <pc:sldMk cId="1808767188" sldId="287"/>
            <ac:spMk id="63" creationId="{8DC911B5-4530-44B9-8BB3-3A4294B4D29A}"/>
          </ac:spMkLst>
        </pc:spChg>
        <pc:spChg chg="mod">
          <ac:chgData name="Aman Gusain" userId="a4c796fedc741f04" providerId="LiveId" clId="{16B6BBAF-CA96-42FB-8AD5-A20313B2F528}" dt="2026-10-07T13:43:46.027" v="106" actId="1076"/>
          <ac:spMkLst>
            <pc:docMk/>
            <pc:sldMk cId="1808767188" sldId="287"/>
            <ac:spMk id="64" creationId="{62DC11B8-467F-4F2C-8902-783BB8B5F429}"/>
          </ac:spMkLst>
        </pc:spChg>
        <pc:spChg chg="mod">
          <ac:chgData name="Aman Gusain" userId="a4c796fedc741f04" providerId="LiveId" clId="{16B6BBAF-CA96-42FB-8AD5-A20313B2F528}" dt="2026-10-07T13:45:17.603" v="111" actId="1076"/>
          <ac:spMkLst>
            <pc:docMk/>
            <pc:sldMk cId="1808767188" sldId="287"/>
            <ac:spMk id="87" creationId="{3B6E4220-7884-4319-AD29-75C0AB36AC3A}"/>
          </ac:spMkLst>
        </pc:spChg>
        <pc:spChg chg="mod">
          <ac:chgData name="Aman Gusain" userId="a4c796fedc741f04" providerId="LiveId" clId="{16B6BBAF-CA96-42FB-8AD5-A20313B2F528}" dt="2026-10-07T13:45:09.855" v="109" actId="1076"/>
          <ac:spMkLst>
            <pc:docMk/>
            <pc:sldMk cId="1808767188" sldId="287"/>
            <ac:spMk id="88" creationId="{527F9F7C-8157-4B48-818A-93ED0C246FFE}"/>
          </ac:spMkLst>
        </pc:spChg>
        <pc:spChg chg="mod">
          <ac:chgData name="Aman Gusain" userId="a4c796fedc741f04" providerId="LiveId" clId="{16B6BBAF-CA96-42FB-8AD5-A20313B2F528}" dt="2026-10-07T13:45:25.780" v="113" actId="1076"/>
          <ac:spMkLst>
            <pc:docMk/>
            <pc:sldMk cId="1808767188" sldId="287"/>
            <ac:spMk id="89" creationId="{422AD046-B614-4622-B427-322EF38A2D52}"/>
          </ac:spMkLst>
        </pc:spChg>
        <pc:spChg chg="mod">
          <ac:chgData name="Aman Gusain" userId="a4c796fedc741f04" providerId="LiveId" clId="{16B6BBAF-CA96-42FB-8AD5-A20313B2F528}" dt="2026-10-07T13:45:22.542" v="112" actId="1076"/>
          <ac:spMkLst>
            <pc:docMk/>
            <pc:sldMk cId="1808767188" sldId="287"/>
            <ac:spMk id="90" creationId="{FC8D85E4-65D8-440D-8959-29D49C370981}"/>
          </ac:spMkLst>
        </pc:spChg>
        <pc:spChg chg="mod">
          <ac:chgData name="Aman Gusain" userId="a4c796fedc741f04" providerId="LiveId" clId="{16B6BBAF-CA96-42FB-8AD5-A20313B2F528}" dt="2026-10-07T13:45:27.999" v="114" actId="1076"/>
          <ac:spMkLst>
            <pc:docMk/>
            <pc:sldMk cId="1808767188" sldId="287"/>
            <ac:spMk id="91" creationId="{AD9724B0-A911-4B98-83EF-EE35D335E3CA}"/>
          </ac:spMkLst>
        </pc:spChg>
      </pc:sldChg>
      <pc:sldChg chg="modSp mod">
        <pc:chgData name="Aman Gusain" userId="a4c796fedc741f04" providerId="LiveId" clId="{16B6BBAF-CA96-42FB-8AD5-A20313B2F528}" dt="2026-10-07T15:28:07.512" v="165" actId="20577"/>
        <pc:sldMkLst>
          <pc:docMk/>
          <pc:sldMk cId="3570599823" sldId="308"/>
        </pc:sldMkLst>
        <pc:spChg chg="mod">
          <ac:chgData name="Aman Gusain" userId="a4c796fedc741f04" providerId="LiveId" clId="{16B6BBAF-CA96-42FB-8AD5-A20313B2F528}" dt="2026-10-07T15:28:07.512" v="165" actId="20577"/>
          <ac:spMkLst>
            <pc:docMk/>
            <pc:sldMk cId="3570599823" sldId="308"/>
            <ac:spMk id="5" creationId="{77269C2E-7F36-088F-1D42-42D3DDC89D40}"/>
          </ac:spMkLst>
        </pc:spChg>
      </pc:sldChg>
      <pc:sldChg chg="add del">
        <pc:chgData name="Aman Gusain" userId="a4c796fedc741f04" providerId="LiveId" clId="{16B6BBAF-CA96-42FB-8AD5-A20313B2F528}" dt="2026-10-07T11:31:54.357" v="67"/>
        <pc:sldMkLst>
          <pc:docMk/>
          <pc:sldMk cId="292676324" sldId="309"/>
        </pc:sldMkLst>
      </pc:sldChg>
      <pc:sldChg chg="new del">
        <pc:chgData name="Aman Gusain" userId="a4c796fedc741f04" providerId="LiveId" clId="{16B6BBAF-CA96-42FB-8AD5-A20313B2F528}" dt="2026-10-07T11:32:18.182" v="78" actId="2696"/>
        <pc:sldMkLst>
          <pc:docMk/>
          <pc:sldMk cId="393442715" sldId="309"/>
        </pc:sldMkLst>
      </pc:sldChg>
      <pc:sldChg chg="new add del">
        <pc:chgData name="Aman Gusain" userId="a4c796fedc741f04" providerId="LiveId" clId="{16B6BBAF-CA96-42FB-8AD5-A20313B2F528}" dt="2026-10-07T11:31:55.675" v="72" actId="680"/>
        <pc:sldMkLst>
          <pc:docMk/>
          <pc:sldMk cId="902561529" sldId="309"/>
        </pc:sldMkLst>
      </pc:sldChg>
      <pc:sldChg chg="add del setBg">
        <pc:chgData name="Aman Gusain" userId="a4c796fedc741f04" providerId="LiveId" clId="{16B6BBAF-CA96-42FB-8AD5-A20313B2F528}" dt="2026-10-07T11:28:26.818" v="41" actId="2696"/>
        <pc:sldMkLst>
          <pc:docMk/>
          <pc:sldMk cId="1410313455" sldId="309"/>
        </pc:sldMkLst>
      </pc:sldChg>
      <pc:sldChg chg="modSp add del mod">
        <pc:chgData name="Aman Gusain" userId="a4c796fedc741f04" providerId="LiveId" clId="{16B6BBAF-CA96-42FB-8AD5-A20313B2F528}" dt="2026-10-07T11:25:10.634" v="27" actId="2696"/>
        <pc:sldMkLst>
          <pc:docMk/>
          <pc:sldMk cId="1670107920" sldId="309"/>
        </pc:sldMkLst>
        <pc:spChg chg="mod">
          <ac:chgData name="Aman Gusain" userId="a4c796fedc741f04" providerId="LiveId" clId="{16B6BBAF-CA96-42FB-8AD5-A20313B2F528}" dt="2026-10-07T11:20:30.019" v="2"/>
          <ac:spMkLst>
            <pc:docMk/>
            <pc:sldMk cId="1670107920" sldId="309"/>
            <ac:spMk id="4" creationId="{D084EFC3-CE29-4747-BE7C-FEBA936F5B81}"/>
          </ac:spMkLst>
        </pc:spChg>
        <pc:spChg chg="mod">
          <ac:chgData name="Aman Gusain" userId="a4c796fedc741f04" providerId="LiveId" clId="{16B6BBAF-CA96-42FB-8AD5-A20313B2F528}" dt="2026-10-07T11:20:30.046" v="4"/>
          <ac:spMkLst>
            <pc:docMk/>
            <pc:sldMk cId="1670107920" sldId="309"/>
            <ac:spMk id="5" creationId="{DC696709-DE4E-4214-9049-B3FAB0A1F9BA}"/>
          </ac:spMkLst>
        </pc:spChg>
        <pc:spChg chg="mod">
          <ac:chgData name="Aman Gusain" userId="a4c796fedc741f04" providerId="LiveId" clId="{16B6BBAF-CA96-42FB-8AD5-A20313B2F528}" dt="2026-10-07T11:20:30.052" v="6"/>
          <ac:spMkLst>
            <pc:docMk/>
            <pc:sldMk cId="1670107920" sldId="309"/>
            <ac:spMk id="6" creationId="{4B1896AF-AE13-43BF-80C3-2E954A74B878}"/>
          </ac:spMkLst>
        </pc:spChg>
        <pc:spChg chg="mod">
          <ac:chgData name="Aman Gusain" userId="a4c796fedc741f04" providerId="LiveId" clId="{16B6BBAF-CA96-42FB-8AD5-A20313B2F528}" dt="2026-10-07T11:20:30.062" v="8"/>
          <ac:spMkLst>
            <pc:docMk/>
            <pc:sldMk cId="1670107920" sldId="309"/>
            <ac:spMk id="9" creationId="{C882EF77-6016-4941-B68D-7CE9F7A14084}"/>
          </ac:spMkLst>
        </pc:spChg>
        <pc:spChg chg="mod">
          <ac:chgData name="Aman Gusain" userId="a4c796fedc741f04" providerId="LiveId" clId="{16B6BBAF-CA96-42FB-8AD5-A20313B2F528}" dt="2026-10-07T11:20:30.062" v="10"/>
          <ac:spMkLst>
            <pc:docMk/>
            <pc:sldMk cId="1670107920" sldId="309"/>
            <ac:spMk id="10" creationId="{BA3307F4-F841-4088-9234-0A424CFB2A4A}"/>
          </ac:spMkLst>
        </pc:spChg>
        <pc:spChg chg="mod">
          <ac:chgData name="Aman Gusain" userId="a4c796fedc741f04" providerId="LiveId" clId="{16B6BBAF-CA96-42FB-8AD5-A20313B2F528}" dt="2026-10-07T11:20:30.079" v="12"/>
          <ac:spMkLst>
            <pc:docMk/>
            <pc:sldMk cId="1670107920" sldId="309"/>
            <ac:spMk id="13" creationId="{1892267E-8066-4293-A12D-E8CD2624891D}"/>
          </ac:spMkLst>
        </pc:spChg>
        <pc:spChg chg="mod">
          <ac:chgData name="Aman Gusain" userId="a4c796fedc741f04" providerId="LiveId" clId="{16B6BBAF-CA96-42FB-8AD5-A20313B2F528}" dt="2026-10-07T11:20:30.092" v="14"/>
          <ac:spMkLst>
            <pc:docMk/>
            <pc:sldMk cId="1670107920" sldId="309"/>
            <ac:spMk id="14" creationId="{0E82B3F3-B548-441D-ADCF-82B6A8BFE57E}"/>
          </ac:spMkLst>
        </pc:spChg>
        <pc:spChg chg="mod">
          <ac:chgData name="Aman Gusain" userId="a4c796fedc741f04" providerId="LiveId" clId="{16B6BBAF-CA96-42FB-8AD5-A20313B2F528}" dt="2026-10-07T11:20:30.101" v="16"/>
          <ac:spMkLst>
            <pc:docMk/>
            <pc:sldMk cId="1670107920" sldId="309"/>
            <ac:spMk id="17" creationId="{74A050F9-15F9-4C22-AEE0-A3D05CA18F2D}"/>
          </ac:spMkLst>
        </pc:spChg>
        <pc:spChg chg="mod">
          <ac:chgData name="Aman Gusain" userId="a4c796fedc741f04" providerId="LiveId" clId="{16B6BBAF-CA96-42FB-8AD5-A20313B2F528}" dt="2026-10-07T11:20:30.111" v="18"/>
          <ac:spMkLst>
            <pc:docMk/>
            <pc:sldMk cId="1670107920" sldId="309"/>
            <ac:spMk id="18" creationId="{2FE141A2-6506-42F5-A8C6-D3AEF19161EA}"/>
          </ac:spMkLst>
        </pc:spChg>
        <pc:spChg chg="mod">
          <ac:chgData name="Aman Gusain" userId="a4c796fedc741f04" providerId="LiveId" clId="{16B6BBAF-CA96-42FB-8AD5-A20313B2F528}" dt="2026-10-07T11:20:30.113" v="20"/>
          <ac:spMkLst>
            <pc:docMk/>
            <pc:sldMk cId="1670107920" sldId="309"/>
            <ac:spMk id="20" creationId="{BFF890D5-960E-43F0-BEC4-E2F7BB2CA9EB}"/>
          </ac:spMkLst>
        </pc:spChg>
        <pc:spChg chg="mod">
          <ac:chgData name="Aman Gusain" userId="a4c796fedc741f04" providerId="LiveId" clId="{16B6BBAF-CA96-42FB-8AD5-A20313B2F528}" dt="2026-10-07T11:20:30.127" v="22"/>
          <ac:spMkLst>
            <pc:docMk/>
            <pc:sldMk cId="1670107920" sldId="309"/>
            <ac:spMk id="21" creationId="{4F9A01F3-C77A-4A04-A0F4-BCD20740919A}"/>
          </ac:spMkLst>
        </pc:spChg>
        <pc:spChg chg="mod">
          <ac:chgData name="Aman Gusain" userId="a4c796fedc741f04" providerId="LiveId" clId="{16B6BBAF-CA96-42FB-8AD5-A20313B2F528}" dt="2026-10-07T11:20:30.129" v="24"/>
          <ac:spMkLst>
            <pc:docMk/>
            <pc:sldMk cId="1670107920" sldId="309"/>
            <ac:spMk id="22" creationId="{2004B830-6C49-44BE-B177-378AA184BB8E}"/>
          </ac:spMkLst>
        </pc:spChg>
        <pc:spChg chg="mod">
          <ac:chgData name="Aman Gusain" userId="a4c796fedc741f04" providerId="LiveId" clId="{16B6BBAF-CA96-42FB-8AD5-A20313B2F528}" dt="2026-10-07T11:20:30.144" v="26"/>
          <ac:spMkLst>
            <pc:docMk/>
            <pc:sldMk cId="1670107920" sldId="309"/>
            <ac:spMk id="23" creationId="{6CE2D848-935D-4FB3-985F-0174FC4ACEE7}"/>
          </ac:spMkLst>
        </pc:spChg>
      </pc:sldChg>
      <pc:sldChg chg="add del setBg">
        <pc:chgData name="Aman Gusain" userId="a4c796fedc741f04" providerId="LiveId" clId="{16B6BBAF-CA96-42FB-8AD5-A20313B2F528}" dt="2026-10-07T11:31:56.285" v="75"/>
        <pc:sldMkLst>
          <pc:docMk/>
          <pc:sldMk cId="3379243356" sldId="309"/>
        </pc:sldMkLst>
      </pc:sldChg>
      <pc:sldChg chg="addSp delSp modSp new del mod">
        <pc:chgData name="Aman Gusain" userId="a4c796fedc741f04" providerId="LiveId" clId="{16B6BBAF-CA96-42FB-8AD5-A20313B2F528}" dt="2026-10-07T11:28:11.386" v="38" actId="2696"/>
        <pc:sldMkLst>
          <pc:docMk/>
          <pc:sldMk cId="3895015489" sldId="309"/>
        </pc:sldMkLst>
        <pc:picChg chg="add del mod">
          <ac:chgData name="Aman Gusain" userId="a4c796fedc741f04" providerId="LiveId" clId="{16B6BBAF-CA96-42FB-8AD5-A20313B2F528}" dt="2026-10-07T11:26:28.688" v="35" actId="21"/>
          <ac:picMkLst>
            <pc:docMk/>
            <pc:sldMk cId="3895015489" sldId="309"/>
            <ac:picMk id="2" creationId="{441D0325-855A-0DCF-8F14-DF2983C514BB}"/>
          </ac:picMkLst>
        </pc:picChg>
      </pc:sldChg>
      <pc:sldChg chg="add del setBg">
        <pc:chgData name="Aman Gusain" userId="a4c796fedc741f04" providerId="LiveId" clId="{16B6BBAF-CA96-42FB-8AD5-A20313B2F528}" dt="2026-10-07T11:31:56.095" v="74"/>
        <pc:sldMkLst>
          <pc:docMk/>
          <pc:sldMk cId="1655115795" sldId="310"/>
        </pc:sldMkLst>
      </pc:sldChg>
      <pc:sldChg chg="add del setBg">
        <pc:chgData name="Aman Gusain" userId="a4c796fedc741f04" providerId="LiveId" clId="{16B6BBAF-CA96-42FB-8AD5-A20313B2F528}" dt="2026-10-07T11:28:16.574" v="39" actId="2696"/>
        <pc:sldMkLst>
          <pc:docMk/>
          <pc:sldMk cId="2082529364" sldId="3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557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Tip: add Fade/Zoom entrance animations to the title and pizza shapes, and group the pizza shapes to spin it with a Spin emphasis animation.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slide. Tip: add Fade entrance animations to the four cards (After Previous) and make the Thank You button pop with Zoom. Replace card text with your actual findings (e.g., top pizza, peak hour).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185490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mailto:amangusain8920@gmail.co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A17"/>
        </a:solidFill>
        <a:effectLst/>
      </p:bgPr>
    </p:bg>
    <p:spTree>
      <p:nvGrpSpPr>
        <p:cNvPr id="1" name=""/>
        <p:cNvGrpSpPr/>
        <p:nvPr/>
      </p:nvGrpSpPr>
      <p:grpSpPr>
        <a:xfrm>
          <a:off x="0" y="0"/>
          <a:ext cx="0" cy="0"/>
          <a:chOff x="0" y="0"/>
          <a:chExt cx="0" cy="0"/>
        </a:xfrm>
      </p:grpSpPr>
      <p:sp>
        <p:nvSpPr>
          <p:cNvPr id="2" name="Shape 0"/>
          <p:cNvSpPr/>
          <p:nvPr/>
        </p:nvSpPr>
        <p:spPr>
          <a:xfrm>
            <a:off x="4343400" y="274320"/>
            <a:ext cx="4754880" cy="4572000"/>
          </a:xfrm>
          <a:prstGeom prst="ellipse">
            <a:avLst/>
          </a:prstGeom>
          <a:solidFill>
            <a:srgbClr val="2A221D"/>
          </a:solidFill>
          <a:ln w="12700">
            <a:solidFill>
              <a:srgbClr val="3A2E27"/>
            </a:solidFill>
            <a:prstDash val="solid"/>
          </a:ln>
        </p:spPr>
        <p:txBody>
          <a:bodyPr/>
          <a:lstStyle/>
          <a:p>
            <a:endParaRPr lang="en-IN"/>
          </a:p>
        </p:txBody>
      </p:sp>
      <p:sp>
        <p:nvSpPr>
          <p:cNvPr id="3" name="Shape 1"/>
          <p:cNvSpPr/>
          <p:nvPr/>
        </p:nvSpPr>
        <p:spPr>
          <a:xfrm>
            <a:off x="4800600" y="640080"/>
            <a:ext cx="3840480" cy="3840480"/>
          </a:xfrm>
          <a:prstGeom prst="ellipse">
            <a:avLst/>
          </a:prstGeom>
          <a:solidFill>
            <a:srgbClr val="D9923F"/>
          </a:solidFill>
          <a:ln w="12700">
            <a:solidFill>
              <a:srgbClr val="D9923F"/>
            </a:solidFill>
            <a:prstDash val="solid"/>
          </a:ln>
        </p:spPr>
        <p:txBody>
          <a:bodyPr/>
          <a:lstStyle/>
          <a:p>
            <a:endParaRPr lang="en-IN"/>
          </a:p>
        </p:txBody>
      </p:sp>
      <p:sp>
        <p:nvSpPr>
          <p:cNvPr id="4" name="Shape 2"/>
          <p:cNvSpPr/>
          <p:nvPr/>
        </p:nvSpPr>
        <p:spPr>
          <a:xfrm>
            <a:off x="5001768" y="841248"/>
            <a:ext cx="3438144" cy="3438144"/>
          </a:xfrm>
          <a:prstGeom prst="ellipse">
            <a:avLst/>
          </a:prstGeom>
          <a:solidFill>
            <a:srgbClr val="C0392B"/>
          </a:solidFill>
          <a:ln w="12700">
            <a:solidFill>
              <a:srgbClr val="C0392B"/>
            </a:solidFill>
            <a:prstDash val="solid"/>
          </a:ln>
        </p:spPr>
        <p:txBody>
          <a:bodyPr/>
          <a:lstStyle/>
          <a:p>
            <a:endParaRPr lang="en-IN"/>
          </a:p>
        </p:txBody>
      </p:sp>
      <p:sp>
        <p:nvSpPr>
          <p:cNvPr id="5" name="Shape 3"/>
          <p:cNvSpPr/>
          <p:nvPr/>
        </p:nvSpPr>
        <p:spPr>
          <a:xfrm>
            <a:off x="5148072" y="987552"/>
            <a:ext cx="3145536" cy="3145536"/>
          </a:xfrm>
          <a:prstGeom prst="ellipse">
            <a:avLst/>
          </a:prstGeom>
          <a:solidFill>
            <a:srgbClr val="F4C542"/>
          </a:solidFill>
          <a:ln w="12700">
            <a:solidFill>
              <a:srgbClr val="F4C542"/>
            </a:solidFill>
            <a:prstDash val="solid"/>
          </a:ln>
        </p:spPr>
        <p:txBody>
          <a:bodyPr/>
          <a:lstStyle/>
          <a:p>
            <a:endParaRPr lang="en-IN"/>
          </a:p>
        </p:txBody>
      </p:sp>
      <p:sp>
        <p:nvSpPr>
          <p:cNvPr id="6" name="Shape 4"/>
          <p:cNvSpPr/>
          <p:nvPr/>
        </p:nvSpPr>
        <p:spPr>
          <a:xfrm>
            <a:off x="5733288" y="1938528"/>
            <a:ext cx="329184" cy="329184"/>
          </a:xfrm>
          <a:prstGeom prst="ellipse">
            <a:avLst/>
          </a:prstGeom>
          <a:solidFill>
            <a:srgbClr val="FBD96B"/>
          </a:solidFill>
          <a:ln w="12700">
            <a:solidFill>
              <a:srgbClr val="FBD96B"/>
            </a:solidFill>
            <a:prstDash val="solid"/>
          </a:ln>
        </p:spPr>
        <p:txBody>
          <a:bodyPr/>
          <a:lstStyle/>
          <a:p>
            <a:endParaRPr lang="en-IN"/>
          </a:p>
        </p:txBody>
      </p:sp>
      <p:sp>
        <p:nvSpPr>
          <p:cNvPr id="7" name="Shape 5"/>
          <p:cNvSpPr/>
          <p:nvPr/>
        </p:nvSpPr>
        <p:spPr>
          <a:xfrm>
            <a:off x="7104888" y="1389888"/>
            <a:ext cx="329184" cy="329184"/>
          </a:xfrm>
          <a:prstGeom prst="ellipse">
            <a:avLst/>
          </a:prstGeom>
          <a:solidFill>
            <a:srgbClr val="FBD96B"/>
          </a:solidFill>
          <a:ln w="12700">
            <a:solidFill>
              <a:srgbClr val="FBD96B"/>
            </a:solidFill>
            <a:prstDash val="solid"/>
          </a:ln>
        </p:spPr>
        <p:txBody>
          <a:bodyPr/>
          <a:lstStyle/>
          <a:p>
            <a:endParaRPr lang="en-IN"/>
          </a:p>
        </p:txBody>
      </p:sp>
      <p:sp>
        <p:nvSpPr>
          <p:cNvPr id="8" name="Shape 6"/>
          <p:cNvSpPr/>
          <p:nvPr/>
        </p:nvSpPr>
        <p:spPr>
          <a:xfrm>
            <a:off x="7562088" y="2670048"/>
            <a:ext cx="329184" cy="329184"/>
          </a:xfrm>
          <a:prstGeom prst="ellipse">
            <a:avLst/>
          </a:prstGeom>
          <a:solidFill>
            <a:srgbClr val="FBD96B"/>
          </a:solidFill>
          <a:ln w="12700">
            <a:solidFill>
              <a:srgbClr val="FBD96B"/>
            </a:solidFill>
            <a:prstDash val="solid"/>
          </a:ln>
        </p:spPr>
        <p:txBody>
          <a:bodyPr/>
          <a:lstStyle/>
          <a:p>
            <a:endParaRPr lang="en-IN"/>
          </a:p>
        </p:txBody>
      </p:sp>
      <p:sp>
        <p:nvSpPr>
          <p:cNvPr id="9" name="Shape 7"/>
          <p:cNvSpPr/>
          <p:nvPr/>
        </p:nvSpPr>
        <p:spPr>
          <a:xfrm>
            <a:off x="6281928" y="3401568"/>
            <a:ext cx="329184" cy="329184"/>
          </a:xfrm>
          <a:prstGeom prst="ellipse">
            <a:avLst/>
          </a:prstGeom>
          <a:solidFill>
            <a:srgbClr val="FBD96B"/>
          </a:solidFill>
          <a:ln w="12700">
            <a:solidFill>
              <a:srgbClr val="FBD96B"/>
            </a:solidFill>
            <a:prstDash val="solid"/>
          </a:ln>
        </p:spPr>
        <p:txBody>
          <a:bodyPr/>
          <a:lstStyle/>
          <a:p>
            <a:endParaRPr lang="en-IN"/>
          </a:p>
        </p:txBody>
      </p:sp>
      <p:sp>
        <p:nvSpPr>
          <p:cNvPr id="10" name="Shape 8"/>
          <p:cNvSpPr/>
          <p:nvPr/>
        </p:nvSpPr>
        <p:spPr>
          <a:xfrm>
            <a:off x="5550408" y="3035808"/>
            <a:ext cx="329184" cy="329184"/>
          </a:xfrm>
          <a:prstGeom prst="ellipse">
            <a:avLst/>
          </a:prstGeom>
          <a:solidFill>
            <a:srgbClr val="FBD96B"/>
          </a:solidFill>
          <a:ln w="12700">
            <a:solidFill>
              <a:srgbClr val="FBD96B"/>
            </a:solidFill>
            <a:prstDash val="solid"/>
          </a:ln>
        </p:spPr>
        <p:txBody>
          <a:bodyPr/>
          <a:lstStyle/>
          <a:p>
            <a:endParaRPr lang="en-IN"/>
          </a:p>
        </p:txBody>
      </p:sp>
      <p:sp>
        <p:nvSpPr>
          <p:cNvPr id="11" name="Shape 9"/>
          <p:cNvSpPr/>
          <p:nvPr/>
        </p:nvSpPr>
        <p:spPr>
          <a:xfrm>
            <a:off x="5833872" y="1490472"/>
            <a:ext cx="493776" cy="493776"/>
          </a:xfrm>
          <a:prstGeom prst="ellipse">
            <a:avLst/>
          </a:prstGeom>
          <a:solidFill>
            <a:srgbClr val="A9281E"/>
          </a:solidFill>
          <a:ln w="19050">
            <a:solidFill>
              <a:srgbClr val="8E1F17"/>
            </a:solidFill>
            <a:prstDash val="solid"/>
          </a:ln>
        </p:spPr>
        <p:txBody>
          <a:bodyPr/>
          <a:lstStyle/>
          <a:p>
            <a:endParaRPr lang="en-IN"/>
          </a:p>
        </p:txBody>
      </p:sp>
      <p:sp>
        <p:nvSpPr>
          <p:cNvPr id="12" name="Shape 10"/>
          <p:cNvSpPr/>
          <p:nvPr/>
        </p:nvSpPr>
        <p:spPr>
          <a:xfrm>
            <a:off x="5989320" y="1645920"/>
            <a:ext cx="182880" cy="182880"/>
          </a:xfrm>
          <a:prstGeom prst="ellipse">
            <a:avLst/>
          </a:prstGeom>
          <a:solidFill>
            <a:srgbClr val="C4413A"/>
          </a:solidFill>
          <a:ln w="12700">
            <a:solidFill>
              <a:srgbClr val="C4413A"/>
            </a:solidFill>
            <a:prstDash val="solid"/>
          </a:ln>
        </p:spPr>
        <p:txBody>
          <a:bodyPr/>
          <a:lstStyle/>
          <a:p>
            <a:endParaRPr lang="en-IN"/>
          </a:p>
        </p:txBody>
      </p:sp>
      <p:sp>
        <p:nvSpPr>
          <p:cNvPr id="13" name="Shape 11"/>
          <p:cNvSpPr/>
          <p:nvPr/>
        </p:nvSpPr>
        <p:spPr>
          <a:xfrm>
            <a:off x="6748272" y="1947672"/>
            <a:ext cx="493776" cy="493776"/>
          </a:xfrm>
          <a:prstGeom prst="ellipse">
            <a:avLst/>
          </a:prstGeom>
          <a:solidFill>
            <a:srgbClr val="A9281E"/>
          </a:solidFill>
          <a:ln w="19050">
            <a:solidFill>
              <a:srgbClr val="8E1F17"/>
            </a:solidFill>
            <a:prstDash val="solid"/>
          </a:ln>
        </p:spPr>
        <p:txBody>
          <a:bodyPr/>
          <a:lstStyle/>
          <a:p>
            <a:endParaRPr lang="en-IN"/>
          </a:p>
        </p:txBody>
      </p:sp>
      <p:sp>
        <p:nvSpPr>
          <p:cNvPr id="14" name="Shape 12"/>
          <p:cNvSpPr/>
          <p:nvPr/>
        </p:nvSpPr>
        <p:spPr>
          <a:xfrm>
            <a:off x="6903720" y="2103120"/>
            <a:ext cx="182880" cy="182880"/>
          </a:xfrm>
          <a:prstGeom prst="ellipse">
            <a:avLst/>
          </a:prstGeom>
          <a:solidFill>
            <a:srgbClr val="C4413A"/>
          </a:solidFill>
          <a:ln w="12700">
            <a:solidFill>
              <a:srgbClr val="C4413A"/>
            </a:solidFill>
            <a:prstDash val="solid"/>
          </a:ln>
        </p:spPr>
        <p:txBody>
          <a:bodyPr/>
          <a:lstStyle/>
          <a:p>
            <a:endParaRPr lang="en-IN"/>
          </a:p>
        </p:txBody>
      </p:sp>
      <p:sp>
        <p:nvSpPr>
          <p:cNvPr id="15" name="Shape 13"/>
          <p:cNvSpPr/>
          <p:nvPr/>
        </p:nvSpPr>
        <p:spPr>
          <a:xfrm>
            <a:off x="7296912" y="1490472"/>
            <a:ext cx="493776" cy="493776"/>
          </a:xfrm>
          <a:prstGeom prst="ellipse">
            <a:avLst/>
          </a:prstGeom>
          <a:solidFill>
            <a:srgbClr val="A9281E"/>
          </a:solidFill>
          <a:ln w="19050">
            <a:solidFill>
              <a:srgbClr val="8E1F17"/>
            </a:solidFill>
            <a:prstDash val="solid"/>
          </a:ln>
        </p:spPr>
        <p:txBody>
          <a:bodyPr/>
          <a:lstStyle/>
          <a:p>
            <a:endParaRPr lang="en-IN"/>
          </a:p>
        </p:txBody>
      </p:sp>
      <p:sp>
        <p:nvSpPr>
          <p:cNvPr id="16" name="Shape 14"/>
          <p:cNvSpPr/>
          <p:nvPr/>
        </p:nvSpPr>
        <p:spPr>
          <a:xfrm>
            <a:off x="7452360" y="1645920"/>
            <a:ext cx="182880" cy="182880"/>
          </a:xfrm>
          <a:prstGeom prst="ellipse">
            <a:avLst/>
          </a:prstGeom>
          <a:solidFill>
            <a:srgbClr val="C4413A"/>
          </a:solidFill>
          <a:ln w="12700">
            <a:solidFill>
              <a:srgbClr val="C4413A"/>
            </a:solidFill>
            <a:prstDash val="solid"/>
          </a:ln>
        </p:spPr>
        <p:txBody>
          <a:bodyPr/>
          <a:lstStyle/>
          <a:p>
            <a:endParaRPr lang="en-IN"/>
          </a:p>
        </p:txBody>
      </p:sp>
      <p:sp>
        <p:nvSpPr>
          <p:cNvPr id="17" name="Shape 15"/>
          <p:cNvSpPr/>
          <p:nvPr/>
        </p:nvSpPr>
        <p:spPr>
          <a:xfrm>
            <a:off x="6291072" y="2770632"/>
            <a:ext cx="493776" cy="493776"/>
          </a:xfrm>
          <a:prstGeom prst="ellipse">
            <a:avLst/>
          </a:prstGeom>
          <a:solidFill>
            <a:srgbClr val="A9281E"/>
          </a:solidFill>
          <a:ln w="19050">
            <a:solidFill>
              <a:srgbClr val="8E1F17"/>
            </a:solidFill>
            <a:prstDash val="solid"/>
          </a:ln>
        </p:spPr>
        <p:txBody>
          <a:bodyPr/>
          <a:lstStyle/>
          <a:p>
            <a:endParaRPr lang="en-IN"/>
          </a:p>
        </p:txBody>
      </p:sp>
      <p:sp>
        <p:nvSpPr>
          <p:cNvPr id="18" name="Shape 16"/>
          <p:cNvSpPr/>
          <p:nvPr/>
        </p:nvSpPr>
        <p:spPr>
          <a:xfrm>
            <a:off x="6446520" y="2926080"/>
            <a:ext cx="182880" cy="182880"/>
          </a:xfrm>
          <a:prstGeom prst="ellipse">
            <a:avLst/>
          </a:prstGeom>
          <a:solidFill>
            <a:srgbClr val="C4413A"/>
          </a:solidFill>
          <a:ln w="12700">
            <a:solidFill>
              <a:srgbClr val="C4413A"/>
            </a:solidFill>
            <a:prstDash val="solid"/>
          </a:ln>
        </p:spPr>
        <p:txBody>
          <a:bodyPr/>
          <a:lstStyle/>
          <a:p>
            <a:endParaRPr lang="en-IN"/>
          </a:p>
        </p:txBody>
      </p:sp>
      <p:sp>
        <p:nvSpPr>
          <p:cNvPr id="19" name="Shape 17"/>
          <p:cNvSpPr/>
          <p:nvPr/>
        </p:nvSpPr>
        <p:spPr>
          <a:xfrm>
            <a:off x="7296912" y="3044952"/>
            <a:ext cx="493776" cy="493776"/>
          </a:xfrm>
          <a:prstGeom prst="ellipse">
            <a:avLst/>
          </a:prstGeom>
          <a:solidFill>
            <a:srgbClr val="A9281E"/>
          </a:solidFill>
          <a:ln w="19050">
            <a:solidFill>
              <a:srgbClr val="8E1F17"/>
            </a:solidFill>
            <a:prstDash val="solid"/>
          </a:ln>
        </p:spPr>
        <p:txBody>
          <a:bodyPr/>
          <a:lstStyle/>
          <a:p>
            <a:endParaRPr lang="en-IN"/>
          </a:p>
        </p:txBody>
      </p:sp>
      <p:sp>
        <p:nvSpPr>
          <p:cNvPr id="20" name="Shape 18"/>
          <p:cNvSpPr/>
          <p:nvPr/>
        </p:nvSpPr>
        <p:spPr>
          <a:xfrm>
            <a:off x="7452360" y="3200400"/>
            <a:ext cx="182880" cy="182880"/>
          </a:xfrm>
          <a:prstGeom prst="ellipse">
            <a:avLst/>
          </a:prstGeom>
          <a:solidFill>
            <a:srgbClr val="C4413A"/>
          </a:solidFill>
          <a:ln w="12700">
            <a:solidFill>
              <a:srgbClr val="C4413A"/>
            </a:solidFill>
            <a:prstDash val="solid"/>
          </a:ln>
        </p:spPr>
        <p:txBody>
          <a:bodyPr/>
          <a:lstStyle/>
          <a:p>
            <a:endParaRPr lang="en-IN"/>
          </a:p>
        </p:txBody>
      </p:sp>
      <p:sp>
        <p:nvSpPr>
          <p:cNvPr id="21" name="Shape 19"/>
          <p:cNvSpPr/>
          <p:nvPr/>
        </p:nvSpPr>
        <p:spPr>
          <a:xfrm>
            <a:off x="5559552" y="2404872"/>
            <a:ext cx="493776" cy="493776"/>
          </a:xfrm>
          <a:prstGeom prst="ellipse">
            <a:avLst/>
          </a:prstGeom>
          <a:solidFill>
            <a:srgbClr val="A9281E"/>
          </a:solidFill>
          <a:ln w="19050">
            <a:solidFill>
              <a:srgbClr val="8E1F17"/>
            </a:solidFill>
            <a:prstDash val="solid"/>
          </a:ln>
        </p:spPr>
        <p:txBody>
          <a:bodyPr/>
          <a:lstStyle/>
          <a:p>
            <a:endParaRPr lang="en-IN"/>
          </a:p>
        </p:txBody>
      </p:sp>
      <p:sp>
        <p:nvSpPr>
          <p:cNvPr id="22" name="Shape 20"/>
          <p:cNvSpPr/>
          <p:nvPr/>
        </p:nvSpPr>
        <p:spPr>
          <a:xfrm>
            <a:off x="5715000" y="2560320"/>
            <a:ext cx="182880" cy="182880"/>
          </a:xfrm>
          <a:prstGeom prst="ellipse">
            <a:avLst/>
          </a:prstGeom>
          <a:solidFill>
            <a:srgbClr val="C4413A"/>
          </a:solidFill>
          <a:ln w="12700">
            <a:solidFill>
              <a:srgbClr val="C4413A"/>
            </a:solidFill>
            <a:prstDash val="solid"/>
          </a:ln>
        </p:spPr>
        <p:txBody>
          <a:bodyPr/>
          <a:lstStyle/>
          <a:p>
            <a:endParaRPr lang="en-IN"/>
          </a:p>
        </p:txBody>
      </p:sp>
      <p:sp>
        <p:nvSpPr>
          <p:cNvPr id="23" name="Shape 21"/>
          <p:cNvSpPr/>
          <p:nvPr/>
        </p:nvSpPr>
        <p:spPr>
          <a:xfrm>
            <a:off x="6473952" y="1124712"/>
            <a:ext cx="493776" cy="493776"/>
          </a:xfrm>
          <a:prstGeom prst="ellipse">
            <a:avLst/>
          </a:prstGeom>
          <a:solidFill>
            <a:srgbClr val="A9281E"/>
          </a:solidFill>
          <a:ln w="19050">
            <a:solidFill>
              <a:srgbClr val="8E1F17"/>
            </a:solidFill>
            <a:prstDash val="solid"/>
          </a:ln>
        </p:spPr>
        <p:txBody>
          <a:bodyPr/>
          <a:lstStyle/>
          <a:p>
            <a:endParaRPr lang="en-IN"/>
          </a:p>
        </p:txBody>
      </p:sp>
      <p:sp>
        <p:nvSpPr>
          <p:cNvPr id="24" name="Shape 22"/>
          <p:cNvSpPr/>
          <p:nvPr/>
        </p:nvSpPr>
        <p:spPr>
          <a:xfrm>
            <a:off x="6629400" y="1280160"/>
            <a:ext cx="182880" cy="182880"/>
          </a:xfrm>
          <a:prstGeom prst="ellipse">
            <a:avLst/>
          </a:prstGeom>
          <a:solidFill>
            <a:srgbClr val="C4413A"/>
          </a:solidFill>
          <a:ln w="12700">
            <a:solidFill>
              <a:srgbClr val="C4413A"/>
            </a:solidFill>
            <a:prstDash val="solid"/>
          </a:ln>
        </p:spPr>
        <p:txBody>
          <a:bodyPr/>
          <a:lstStyle/>
          <a:p>
            <a:endParaRPr lang="en-IN"/>
          </a:p>
        </p:txBody>
      </p:sp>
      <p:sp>
        <p:nvSpPr>
          <p:cNvPr id="25" name="Shape 23"/>
          <p:cNvSpPr/>
          <p:nvPr/>
        </p:nvSpPr>
        <p:spPr>
          <a:xfrm>
            <a:off x="5833872" y="3227832"/>
            <a:ext cx="493776" cy="493776"/>
          </a:xfrm>
          <a:prstGeom prst="ellipse">
            <a:avLst/>
          </a:prstGeom>
          <a:solidFill>
            <a:srgbClr val="A9281E"/>
          </a:solidFill>
          <a:ln w="19050">
            <a:solidFill>
              <a:srgbClr val="8E1F17"/>
            </a:solidFill>
            <a:prstDash val="solid"/>
          </a:ln>
        </p:spPr>
        <p:txBody>
          <a:bodyPr/>
          <a:lstStyle/>
          <a:p>
            <a:endParaRPr lang="en-IN"/>
          </a:p>
        </p:txBody>
      </p:sp>
      <p:sp>
        <p:nvSpPr>
          <p:cNvPr id="26" name="Shape 24"/>
          <p:cNvSpPr/>
          <p:nvPr/>
        </p:nvSpPr>
        <p:spPr>
          <a:xfrm>
            <a:off x="5989320" y="3383280"/>
            <a:ext cx="182880" cy="182880"/>
          </a:xfrm>
          <a:prstGeom prst="ellipse">
            <a:avLst/>
          </a:prstGeom>
          <a:solidFill>
            <a:srgbClr val="C4413A"/>
          </a:solidFill>
          <a:ln w="12700">
            <a:solidFill>
              <a:srgbClr val="C4413A"/>
            </a:solidFill>
            <a:prstDash val="solid"/>
          </a:ln>
        </p:spPr>
        <p:txBody>
          <a:bodyPr/>
          <a:lstStyle/>
          <a:p>
            <a:endParaRPr lang="en-IN"/>
          </a:p>
        </p:txBody>
      </p:sp>
      <p:sp>
        <p:nvSpPr>
          <p:cNvPr id="27" name="Shape 25"/>
          <p:cNvSpPr/>
          <p:nvPr/>
        </p:nvSpPr>
        <p:spPr>
          <a:xfrm rot="1800000">
            <a:off x="7068312" y="2578608"/>
            <a:ext cx="310896" cy="146304"/>
          </a:xfrm>
          <a:prstGeom prst="ellipse">
            <a:avLst/>
          </a:prstGeom>
          <a:solidFill>
            <a:srgbClr val="3E8E41"/>
          </a:solidFill>
          <a:ln w="9525">
            <a:solidFill>
              <a:srgbClr val="2E6B31"/>
            </a:solidFill>
            <a:prstDash val="solid"/>
          </a:ln>
        </p:spPr>
        <p:txBody>
          <a:bodyPr/>
          <a:lstStyle/>
          <a:p>
            <a:endParaRPr lang="en-IN"/>
          </a:p>
        </p:txBody>
      </p:sp>
      <p:sp>
        <p:nvSpPr>
          <p:cNvPr id="28" name="Shape 26"/>
          <p:cNvSpPr/>
          <p:nvPr/>
        </p:nvSpPr>
        <p:spPr>
          <a:xfrm rot="-2400000">
            <a:off x="6062472" y="2304288"/>
            <a:ext cx="310896" cy="146304"/>
          </a:xfrm>
          <a:prstGeom prst="ellipse">
            <a:avLst/>
          </a:prstGeom>
          <a:solidFill>
            <a:srgbClr val="3E8E41"/>
          </a:solidFill>
          <a:ln w="9525">
            <a:solidFill>
              <a:srgbClr val="2E6B31"/>
            </a:solidFill>
            <a:prstDash val="solid"/>
          </a:ln>
        </p:spPr>
        <p:txBody>
          <a:bodyPr/>
          <a:lstStyle/>
          <a:p>
            <a:endParaRPr lang="en-IN"/>
          </a:p>
        </p:txBody>
      </p:sp>
      <p:sp>
        <p:nvSpPr>
          <p:cNvPr id="29" name="Shape 27"/>
          <p:cNvSpPr/>
          <p:nvPr/>
        </p:nvSpPr>
        <p:spPr>
          <a:xfrm rot="4200000">
            <a:off x="6748272" y="3538728"/>
            <a:ext cx="310896" cy="146304"/>
          </a:xfrm>
          <a:prstGeom prst="ellipse">
            <a:avLst/>
          </a:prstGeom>
          <a:solidFill>
            <a:srgbClr val="3E8E41"/>
          </a:solidFill>
          <a:ln w="9525">
            <a:solidFill>
              <a:srgbClr val="2E6B31"/>
            </a:solidFill>
            <a:prstDash val="solid"/>
          </a:ln>
        </p:spPr>
        <p:txBody>
          <a:bodyPr/>
          <a:lstStyle/>
          <a:p>
            <a:endParaRPr lang="en-IN"/>
          </a:p>
        </p:txBody>
      </p:sp>
      <p:sp>
        <p:nvSpPr>
          <p:cNvPr id="30" name="Shape 28"/>
          <p:cNvSpPr/>
          <p:nvPr/>
        </p:nvSpPr>
        <p:spPr>
          <a:xfrm rot="600000">
            <a:off x="5742432" y="1572768"/>
            <a:ext cx="310896" cy="146304"/>
          </a:xfrm>
          <a:prstGeom prst="ellipse">
            <a:avLst/>
          </a:prstGeom>
          <a:solidFill>
            <a:srgbClr val="3E8E41"/>
          </a:solidFill>
          <a:ln w="9525">
            <a:solidFill>
              <a:srgbClr val="2E6B31"/>
            </a:solidFill>
            <a:prstDash val="solid"/>
          </a:ln>
        </p:spPr>
        <p:txBody>
          <a:bodyPr/>
          <a:lstStyle/>
          <a:p>
            <a:endParaRPr lang="en-IN"/>
          </a:p>
        </p:txBody>
      </p:sp>
      <p:sp>
        <p:nvSpPr>
          <p:cNvPr id="31" name="Shape 29"/>
          <p:cNvSpPr/>
          <p:nvPr/>
        </p:nvSpPr>
        <p:spPr>
          <a:xfrm rot="-1200000">
            <a:off x="7616952" y="2212848"/>
            <a:ext cx="310896" cy="146304"/>
          </a:xfrm>
          <a:prstGeom prst="ellipse">
            <a:avLst/>
          </a:prstGeom>
          <a:solidFill>
            <a:srgbClr val="3E8E41"/>
          </a:solidFill>
          <a:ln w="9525">
            <a:solidFill>
              <a:srgbClr val="2E6B31"/>
            </a:solidFill>
            <a:prstDash val="solid"/>
          </a:ln>
        </p:spPr>
        <p:txBody>
          <a:bodyPr/>
          <a:lstStyle/>
          <a:p>
            <a:endParaRPr lang="en-IN"/>
          </a:p>
        </p:txBody>
      </p:sp>
      <p:sp>
        <p:nvSpPr>
          <p:cNvPr id="32" name="Shape 30"/>
          <p:cNvSpPr/>
          <p:nvPr/>
        </p:nvSpPr>
        <p:spPr>
          <a:xfrm>
            <a:off x="6720840" y="2560320"/>
            <a:ext cx="1920240" cy="0"/>
          </a:xfrm>
          <a:prstGeom prst="line">
            <a:avLst/>
          </a:prstGeom>
          <a:noFill/>
          <a:ln w="15875">
            <a:solidFill>
              <a:srgbClr val="8A5A22">
                <a:alpha val="60000"/>
              </a:srgbClr>
            </a:solidFill>
            <a:prstDash val="solid"/>
          </a:ln>
        </p:spPr>
      </p:sp>
      <p:sp>
        <p:nvSpPr>
          <p:cNvPr id="33" name="Shape 31"/>
          <p:cNvSpPr/>
          <p:nvPr/>
        </p:nvSpPr>
        <p:spPr>
          <a:xfrm>
            <a:off x="6720840" y="2560320"/>
            <a:ext cx="1357815" cy="1357815"/>
          </a:xfrm>
          <a:prstGeom prst="line">
            <a:avLst/>
          </a:prstGeom>
          <a:noFill/>
          <a:ln w="15875">
            <a:solidFill>
              <a:srgbClr val="8A5A22">
                <a:alpha val="60000"/>
              </a:srgbClr>
            </a:solidFill>
            <a:prstDash val="solid"/>
          </a:ln>
        </p:spPr>
      </p:sp>
      <p:sp>
        <p:nvSpPr>
          <p:cNvPr id="34" name="Shape 32"/>
          <p:cNvSpPr/>
          <p:nvPr/>
        </p:nvSpPr>
        <p:spPr>
          <a:xfrm>
            <a:off x="6720840" y="2560320"/>
            <a:ext cx="0" cy="1920240"/>
          </a:xfrm>
          <a:prstGeom prst="line">
            <a:avLst/>
          </a:prstGeom>
          <a:noFill/>
          <a:ln w="15875">
            <a:solidFill>
              <a:srgbClr val="8A5A22">
                <a:alpha val="60000"/>
              </a:srgbClr>
            </a:solidFill>
            <a:prstDash val="solid"/>
          </a:ln>
        </p:spPr>
      </p:sp>
      <p:sp>
        <p:nvSpPr>
          <p:cNvPr id="35" name="Shape 33"/>
          <p:cNvSpPr/>
          <p:nvPr/>
        </p:nvSpPr>
        <p:spPr>
          <a:xfrm flipH="1">
            <a:off x="5363025" y="2560320"/>
            <a:ext cx="1357815" cy="1357815"/>
          </a:xfrm>
          <a:prstGeom prst="line">
            <a:avLst/>
          </a:prstGeom>
          <a:noFill/>
          <a:ln w="15875">
            <a:solidFill>
              <a:srgbClr val="8A5A22">
                <a:alpha val="60000"/>
              </a:srgbClr>
            </a:solidFill>
            <a:prstDash val="solid"/>
          </a:ln>
        </p:spPr>
      </p:sp>
      <p:sp>
        <p:nvSpPr>
          <p:cNvPr id="36" name="Shape 34"/>
          <p:cNvSpPr/>
          <p:nvPr/>
        </p:nvSpPr>
        <p:spPr>
          <a:xfrm flipH="1">
            <a:off x="4800600" y="2560320"/>
            <a:ext cx="1920240" cy="0"/>
          </a:xfrm>
          <a:prstGeom prst="line">
            <a:avLst/>
          </a:prstGeom>
          <a:noFill/>
          <a:ln w="15875">
            <a:solidFill>
              <a:srgbClr val="8A5A22">
                <a:alpha val="60000"/>
              </a:srgbClr>
            </a:solidFill>
            <a:prstDash val="solid"/>
          </a:ln>
        </p:spPr>
      </p:sp>
      <p:sp>
        <p:nvSpPr>
          <p:cNvPr id="37" name="Shape 35"/>
          <p:cNvSpPr/>
          <p:nvPr/>
        </p:nvSpPr>
        <p:spPr>
          <a:xfrm flipH="1" flipV="1">
            <a:off x="5363025" y="1202505"/>
            <a:ext cx="1357815" cy="1357815"/>
          </a:xfrm>
          <a:prstGeom prst="line">
            <a:avLst/>
          </a:prstGeom>
          <a:noFill/>
          <a:ln w="15875">
            <a:solidFill>
              <a:srgbClr val="8A5A22">
                <a:alpha val="60000"/>
              </a:srgbClr>
            </a:solidFill>
            <a:prstDash val="solid"/>
          </a:ln>
        </p:spPr>
      </p:sp>
      <p:sp>
        <p:nvSpPr>
          <p:cNvPr id="38" name="Shape 36"/>
          <p:cNvSpPr/>
          <p:nvPr/>
        </p:nvSpPr>
        <p:spPr>
          <a:xfrm flipV="1">
            <a:off x="6720840" y="640080"/>
            <a:ext cx="0" cy="1920240"/>
          </a:xfrm>
          <a:prstGeom prst="line">
            <a:avLst/>
          </a:prstGeom>
          <a:noFill/>
          <a:ln w="15875">
            <a:solidFill>
              <a:srgbClr val="8A5A22">
                <a:alpha val="60000"/>
              </a:srgbClr>
            </a:solidFill>
            <a:prstDash val="solid"/>
          </a:ln>
        </p:spPr>
      </p:sp>
      <p:sp>
        <p:nvSpPr>
          <p:cNvPr id="39" name="Shape 37"/>
          <p:cNvSpPr/>
          <p:nvPr/>
        </p:nvSpPr>
        <p:spPr>
          <a:xfrm flipV="1">
            <a:off x="6720840" y="1202505"/>
            <a:ext cx="1357815" cy="1357815"/>
          </a:xfrm>
          <a:prstGeom prst="line">
            <a:avLst/>
          </a:prstGeom>
          <a:noFill/>
          <a:ln w="15875">
            <a:solidFill>
              <a:srgbClr val="8A5A22">
                <a:alpha val="60000"/>
              </a:srgbClr>
            </a:solidFill>
            <a:prstDash val="solid"/>
          </a:ln>
        </p:spPr>
      </p:sp>
      <p:sp>
        <p:nvSpPr>
          <p:cNvPr id="40" name="Shape 38"/>
          <p:cNvSpPr/>
          <p:nvPr/>
        </p:nvSpPr>
        <p:spPr>
          <a:xfrm>
            <a:off x="498348" y="512064"/>
            <a:ext cx="73152" cy="292608"/>
          </a:xfrm>
          <a:prstGeom prst="rect">
            <a:avLst/>
          </a:prstGeom>
          <a:solidFill>
            <a:srgbClr val="E8452C"/>
          </a:solidFill>
          <a:ln w="12700">
            <a:solidFill>
              <a:srgbClr val="E8452C"/>
            </a:solidFill>
            <a:prstDash val="solid"/>
          </a:ln>
        </p:spPr>
        <p:txBody>
          <a:bodyPr/>
          <a:lstStyle/>
          <a:p>
            <a:endParaRPr lang="en-IN" dirty="0"/>
          </a:p>
        </p:txBody>
      </p:sp>
      <p:sp>
        <p:nvSpPr>
          <p:cNvPr id="41" name="Text 39"/>
          <p:cNvSpPr txBox="1"/>
          <p:nvPr/>
        </p:nvSpPr>
        <p:spPr>
          <a:xfrm>
            <a:off x="704088" y="626433"/>
            <a:ext cx="4681728" cy="365760"/>
          </a:xfrm>
          <a:prstGeom prst="rect">
            <a:avLst/>
          </a:prstGeom>
          <a:noFill/>
          <a:ln/>
        </p:spPr>
        <p:txBody>
          <a:bodyPr wrap="square" lIns="0" tIns="0" rIns="0" bIns="0" rtlCol="0" anchor="ctr"/>
          <a:lstStyle/>
          <a:p>
            <a:pPr marL="0" indent="0">
              <a:buNone/>
            </a:pPr>
            <a:r>
              <a:rPr lang="en-US" sz="2400" b="1" kern="0" spc="400" dirty="0">
                <a:solidFill>
                  <a:srgbClr val="F4C542"/>
                </a:solidFill>
                <a:latin typeface="Calibri" pitchFamily="34" charset="0"/>
                <a:ea typeface="Calibri" pitchFamily="34" charset="-122"/>
                <a:cs typeface="Calibri" pitchFamily="34" charset="-120"/>
              </a:rPr>
              <a:t>DATA ANALYTICS </a:t>
            </a:r>
          </a:p>
          <a:p>
            <a:pPr marL="0" indent="0">
              <a:buNone/>
            </a:pPr>
            <a:r>
              <a:rPr lang="en-US" sz="2400" b="1" kern="0" spc="400" dirty="0">
                <a:solidFill>
                  <a:srgbClr val="F4C542"/>
                </a:solidFill>
                <a:latin typeface="Calibri" pitchFamily="34" charset="0"/>
                <a:ea typeface="Calibri" pitchFamily="34" charset="-122"/>
                <a:cs typeface="Calibri" pitchFamily="34" charset="-120"/>
              </a:rPr>
              <a:t>PROJECT</a:t>
            </a:r>
            <a:endParaRPr lang="en-US" sz="2400" dirty="0"/>
          </a:p>
        </p:txBody>
      </p:sp>
      <p:sp>
        <p:nvSpPr>
          <p:cNvPr id="42" name="Text 40"/>
          <p:cNvSpPr txBox="1"/>
          <p:nvPr/>
        </p:nvSpPr>
        <p:spPr>
          <a:xfrm>
            <a:off x="548640" y="1143000"/>
            <a:ext cx="4023360" cy="1097280"/>
          </a:xfrm>
          <a:prstGeom prst="rect">
            <a:avLst/>
          </a:prstGeom>
          <a:noFill/>
          <a:ln/>
        </p:spPr>
        <p:txBody>
          <a:bodyPr wrap="square" lIns="0" tIns="0" rIns="0" bIns="0" rtlCol="0" anchor="ctr"/>
          <a:lstStyle/>
          <a:p>
            <a:pPr marL="0" indent="0">
              <a:buNone/>
            </a:pPr>
            <a:r>
              <a:rPr lang="en-US" sz="7000" b="1" dirty="0">
                <a:solidFill>
                  <a:srgbClr val="E8452C"/>
                </a:solidFill>
                <a:latin typeface="Georgia" pitchFamily="34" charset="0"/>
                <a:ea typeface="Georgia" pitchFamily="34" charset="-122"/>
                <a:cs typeface="Georgia" pitchFamily="34" charset="-120"/>
              </a:rPr>
              <a:t>PIZZA</a:t>
            </a:r>
            <a:endParaRPr lang="en-US" sz="7000" dirty="0"/>
          </a:p>
        </p:txBody>
      </p:sp>
      <p:sp>
        <p:nvSpPr>
          <p:cNvPr id="43" name="Text 41"/>
          <p:cNvSpPr txBox="1"/>
          <p:nvPr/>
        </p:nvSpPr>
        <p:spPr>
          <a:xfrm>
            <a:off x="548640" y="2103120"/>
            <a:ext cx="4023360" cy="1097280"/>
          </a:xfrm>
          <a:prstGeom prst="rect">
            <a:avLst/>
          </a:prstGeom>
          <a:noFill/>
          <a:ln/>
        </p:spPr>
        <p:txBody>
          <a:bodyPr wrap="square" lIns="0" tIns="0" rIns="0" bIns="0" rtlCol="0" anchor="ctr"/>
          <a:lstStyle/>
          <a:p>
            <a:pPr marL="0" indent="0">
              <a:buNone/>
            </a:pPr>
            <a:r>
              <a:rPr lang="en-US" sz="7000" b="1" dirty="0">
                <a:solidFill>
                  <a:srgbClr val="FFF4E0"/>
                </a:solidFill>
                <a:latin typeface="Georgia" pitchFamily="34" charset="0"/>
                <a:ea typeface="Georgia" pitchFamily="34" charset="-122"/>
                <a:cs typeface="Georgia" pitchFamily="34" charset="-120"/>
              </a:rPr>
              <a:t>SALES</a:t>
            </a:r>
            <a:endParaRPr lang="en-US" sz="7000" dirty="0"/>
          </a:p>
        </p:txBody>
      </p:sp>
      <p:sp>
        <p:nvSpPr>
          <p:cNvPr id="44" name="Text 42"/>
          <p:cNvSpPr txBox="1"/>
          <p:nvPr/>
        </p:nvSpPr>
        <p:spPr>
          <a:xfrm>
            <a:off x="548640" y="3246120"/>
            <a:ext cx="3657600" cy="548640"/>
          </a:xfrm>
          <a:prstGeom prst="rect">
            <a:avLst/>
          </a:prstGeom>
          <a:noFill/>
          <a:ln/>
        </p:spPr>
        <p:txBody>
          <a:bodyPr wrap="square" lIns="0" tIns="0" rIns="0" bIns="0" rtlCol="0" anchor="ctr"/>
          <a:lstStyle/>
          <a:p>
            <a:pPr marL="0" indent="0">
              <a:buNone/>
            </a:pPr>
            <a:r>
              <a:rPr lang="en-US" sz="1400" i="1" dirty="0">
                <a:solidFill>
                  <a:srgbClr val="D8C9B6"/>
                </a:solidFill>
                <a:latin typeface="Calibri" pitchFamily="34" charset="0"/>
                <a:ea typeface="Calibri" pitchFamily="34" charset="-122"/>
                <a:cs typeface="Calibri" pitchFamily="34" charset="-120"/>
              </a:rPr>
              <a:t>Turning raw orders into tasty insights with Microsoft SQL Server</a:t>
            </a:r>
            <a:endParaRPr lang="en-US" sz="1400" dirty="0"/>
          </a:p>
        </p:txBody>
      </p:sp>
      <p:sp>
        <p:nvSpPr>
          <p:cNvPr id="45" name="Text 43"/>
          <p:cNvSpPr txBox="1"/>
          <p:nvPr/>
        </p:nvSpPr>
        <p:spPr>
          <a:xfrm>
            <a:off x="548640" y="3931920"/>
            <a:ext cx="960120" cy="310896"/>
          </a:xfrm>
          <a:prstGeom prst="roundRect">
            <a:avLst>
              <a:gd name="adj" fmla="val 50000"/>
            </a:avLst>
          </a:prstGeom>
          <a:solidFill>
            <a:srgbClr val="E8452C"/>
          </a:solidFill>
          <a:ln>
            <a:solidFill>
              <a:srgbClr val="E8452C"/>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p>
        </p:txBody>
      </p:sp>
      <p:sp>
        <p:nvSpPr>
          <p:cNvPr id="46" name="Text 44"/>
          <p:cNvSpPr txBox="1"/>
          <p:nvPr/>
        </p:nvSpPr>
        <p:spPr>
          <a:xfrm>
            <a:off x="1581912" y="3931920"/>
            <a:ext cx="960120" cy="310896"/>
          </a:xfrm>
          <a:prstGeom prst="roundRect">
            <a:avLst>
              <a:gd name="adj" fmla="val 50000"/>
            </a:avLst>
          </a:prstGeom>
          <a:solidFill>
            <a:srgbClr val="D9923F"/>
          </a:solidFill>
          <a:ln>
            <a:solidFill>
              <a:srgbClr val="D9923F"/>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Orders</a:t>
            </a:r>
            <a:endParaRPr lang="en-US" sz="1000" dirty="0"/>
          </a:p>
        </p:txBody>
      </p:sp>
      <p:sp>
        <p:nvSpPr>
          <p:cNvPr id="47" name="Text 45"/>
          <p:cNvSpPr txBox="1"/>
          <p:nvPr/>
        </p:nvSpPr>
        <p:spPr>
          <a:xfrm>
            <a:off x="2615184" y="3931920"/>
            <a:ext cx="960120" cy="310896"/>
          </a:xfrm>
          <a:prstGeom prst="roundRect">
            <a:avLst>
              <a:gd name="adj" fmla="val 50000"/>
            </a:avLst>
          </a:prstGeom>
          <a:solidFill>
            <a:srgbClr val="3E8E41"/>
          </a:solidFill>
          <a:ln>
            <a:solidFill>
              <a:srgbClr val="3E8E41"/>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Best Sellers</a:t>
            </a:r>
            <a:endParaRPr lang="en-US" sz="1000" dirty="0"/>
          </a:p>
        </p:txBody>
      </p:sp>
      <p:sp>
        <p:nvSpPr>
          <p:cNvPr id="48" name="Text 46"/>
          <p:cNvSpPr txBox="1"/>
          <p:nvPr/>
        </p:nvSpPr>
        <p:spPr>
          <a:xfrm>
            <a:off x="3648456" y="3931920"/>
            <a:ext cx="960120" cy="310896"/>
          </a:xfrm>
          <a:prstGeom prst="roundRect">
            <a:avLst>
              <a:gd name="adj" fmla="val 50000"/>
            </a:avLst>
          </a:prstGeom>
          <a:solidFill>
            <a:srgbClr val="B8860B"/>
          </a:solidFill>
          <a:ln>
            <a:solidFill>
              <a:srgbClr val="B8860B"/>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Peak Hours</a:t>
            </a:r>
            <a:endParaRPr lang="en-US" sz="1000" dirty="0"/>
          </a:p>
        </p:txBody>
      </p:sp>
      <p:sp>
        <p:nvSpPr>
          <p:cNvPr id="49" name="Text 47"/>
          <p:cNvSpPr txBox="1"/>
          <p:nvPr/>
        </p:nvSpPr>
        <p:spPr>
          <a:xfrm>
            <a:off x="548640" y="4526280"/>
            <a:ext cx="4572000" cy="274320"/>
          </a:xfrm>
          <a:prstGeom prst="rect">
            <a:avLst/>
          </a:prstGeom>
          <a:noFill/>
          <a:ln/>
        </p:spPr>
        <p:txBody>
          <a:bodyPr wrap="square" lIns="0" tIns="0" rIns="0" bIns="0" rtlCol="0" anchor="ctr"/>
          <a:lstStyle/>
          <a:p>
            <a:pPr marL="0" indent="0">
              <a:buNone/>
            </a:pPr>
            <a:r>
              <a:rPr lang="en-US" sz="1100" dirty="0">
                <a:solidFill>
                  <a:srgbClr val="A89A89"/>
                </a:solidFill>
                <a:latin typeface="Calibri" pitchFamily="34" charset="0"/>
                <a:ea typeface="Calibri" pitchFamily="34" charset="-122"/>
                <a:cs typeface="Calibri" pitchFamily="34" charset="-120"/>
              </a:rPr>
              <a:t>Presented by Aman Gusain  |  Aspiring Data Analyst</a:t>
            </a:r>
            <a:endParaRPr lang="en-US" sz="1100" dirty="0"/>
          </a:p>
        </p:txBody>
      </p:sp>
    </p:spTree>
    <p:extLst>
      <p:ext uri="{BB962C8B-B14F-4D97-AF65-F5344CB8AC3E}">
        <p14:creationId xmlns:p14="http://schemas.microsoft.com/office/powerpoint/2010/main" val="2875079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0CE617B-E9D0-4C16-8F50-B9663DA3F9E2}"/>
              </a:ext>
            </a:extLst>
          </p:cNvPr>
          <p:cNvSpPr/>
          <p:nvPr/>
        </p:nvSpPr>
        <p:spPr>
          <a:xfrm>
            <a:off x="0" y="-13335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p>
        </p:txBody>
      </p:sp>
      <p:sp>
        <p:nvSpPr>
          <p:cNvPr id="59" name="Rectangle 58">
            <a:extLst>
              <a:ext uri="{FF2B5EF4-FFF2-40B4-BE49-F238E27FC236}">
                <a16:creationId xmlns:a16="http://schemas.microsoft.com/office/drawing/2014/main" id="{5849468F-9C81-44A7-BC0A-1AB754A3762C}"/>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0" name="TextBox 59">
            <a:extLst>
              <a:ext uri="{FF2B5EF4-FFF2-40B4-BE49-F238E27FC236}">
                <a16:creationId xmlns:a16="http://schemas.microsoft.com/office/drawing/2014/main" id="{25994DE1-23D4-4C1D-85D1-D256AF966F5C}"/>
              </a:ext>
            </a:extLst>
          </p:cNvPr>
          <p:cNvSpPr txBox="1"/>
          <p:nvPr/>
        </p:nvSpPr>
        <p:spPr>
          <a:xfrm>
            <a:off x="441324" y="292100"/>
            <a:ext cx="4356101" cy="800100"/>
          </a:xfrm>
          <a:prstGeom prst="rect">
            <a:avLst/>
          </a:prstGeom>
          <a:noFill/>
        </p:spPr>
        <p:txBody>
          <a:bodyPr vertOverflow="overflow" vert="horz" wrap="square" rtlCol="0" anchor="t">
            <a:noAutofit/>
          </a:bodyPr>
          <a:lstStyle/>
          <a:p>
            <a:pPr algn="l"/>
            <a:r>
              <a:rPr lang="en-IN" sz="2400" b="1" dirty="0">
                <a:solidFill>
                  <a:srgbClr val="F8C43A"/>
                </a:solidFill>
                <a:latin typeface="Arial"/>
                <a:cs typeface="Arial"/>
              </a:rPr>
              <a:t>PROJECT INTRODUCTION</a:t>
            </a:r>
          </a:p>
        </p:txBody>
      </p:sp>
      <p:sp>
        <p:nvSpPr>
          <p:cNvPr id="61" name="TextBox 60">
            <a:extLst>
              <a:ext uri="{FF2B5EF4-FFF2-40B4-BE49-F238E27FC236}">
                <a16:creationId xmlns:a16="http://schemas.microsoft.com/office/drawing/2014/main" id="{1477C6CA-3F6D-452D-9E94-E512B893C700}"/>
              </a:ext>
            </a:extLst>
          </p:cNvPr>
          <p:cNvSpPr txBox="1"/>
          <p:nvPr/>
        </p:nvSpPr>
        <p:spPr>
          <a:xfrm>
            <a:off x="441324" y="792616"/>
            <a:ext cx="8567964" cy="1422400"/>
          </a:xfrm>
          <a:prstGeom prst="rect">
            <a:avLst/>
          </a:prstGeom>
          <a:noFill/>
        </p:spPr>
        <p:txBody>
          <a:bodyPr vertOverflow="overflow" vert="horz" wrap="square" rtlCol="0" anchor="t">
            <a:noAutofit/>
          </a:bodyPr>
          <a:lstStyle/>
          <a:p>
            <a:r>
              <a:rPr lang="en-IN" dirty="0">
                <a:solidFill>
                  <a:schemeClr val="bg1"/>
                </a:solidFill>
              </a:rPr>
              <a:t>In the competitive food and beverage industry, data-driven decision-making is essential for improving profitability, optimizing inventory, and understanding customer preferences. This project analyses the sales data of a pizza restaurant using </a:t>
            </a:r>
            <a:r>
              <a:rPr lang="en-IN" b="1" dirty="0">
                <a:solidFill>
                  <a:schemeClr val="bg1"/>
                </a:solidFill>
              </a:rPr>
              <a:t>Microsoft SQL Server (SSMS)</a:t>
            </a:r>
            <a:r>
              <a:rPr lang="en-IN" dirty="0">
                <a:solidFill>
                  <a:schemeClr val="bg1"/>
                </a:solidFill>
              </a:rPr>
              <a:t> to uncover meaningful business insights.                 </a:t>
            </a:r>
            <a:endParaRPr lang="en-IN" b="1" dirty="0">
              <a:solidFill>
                <a:schemeClr val="bg1"/>
              </a:solidFill>
              <a:latin typeface="Georgia"/>
            </a:endParaRPr>
          </a:p>
        </p:txBody>
      </p:sp>
      <p:sp>
        <p:nvSpPr>
          <p:cNvPr id="63" name="Rectangle: Rounded Corners 62">
            <a:extLst>
              <a:ext uri="{FF2B5EF4-FFF2-40B4-BE49-F238E27FC236}">
                <a16:creationId xmlns:a16="http://schemas.microsoft.com/office/drawing/2014/main" id="{8DC911B5-4530-44B9-8BB3-3A4294B4D29A}"/>
              </a:ext>
            </a:extLst>
          </p:cNvPr>
          <p:cNvSpPr/>
          <p:nvPr/>
        </p:nvSpPr>
        <p:spPr>
          <a:xfrm>
            <a:off x="355600" y="2291261"/>
            <a:ext cx="2286000" cy="18415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4" name="TextBox 63">
            <a:extLst>
              <a:ext uri="{FF2B5EF4-FFF2-40B4-BE49-F238E27FC236}">
                <a16:creationId xmlns:a16="http://schemas.microsoft.com/office/drawing/2014/main" id="{62DC11B8-467F-4F2C-8902-783BB8B5F429}"/>
              </a:ext>
            </a:extLst>
          </p:cNvPr>
          <p:cNvSpPr txBox="1"/>
          <p:nvPr/>
        </p:nvSpPr>
        <p:spPr>
          <a:xfrm>
            <a:off x="476932" y="2309132"/>
            <a:ext cx="2076903" cy="1782536"/>
          </a:xfrm>
          <a:prstGeom prst="rect">
            <a:avLst/>
          </a:prstGeom>
          <a:noFill/>
        </p:spPr>
        <p:txBody>
          <a:bodyPr vertOverflow="overflow" vert="horz" wrap="square" rtlCol="0" anchor="t">
            <a:noAutofit/>
          </a:bodyPr>
          <a:lstStyle/>
          <a:p>
            <a:r>
              <a:rPr lang="en-IN" sz="1100" dirty="0">
                <a:solidFill>
                  <a:schemeClr val="bg1"/>
                </a:solidFill>
              </a:rPr>
              <a:t>By joining these tables and applying SQL techniques such as aggregations, joins, subqueries, Common Table Expressions (CTEs), and window functions, this project transforms raw transactional data into actionable insights on revenue, demand patterns, and product performance.</a:t>
            </a:r>
            <a:endParaRPr lang="en-IN" sz="1100" b="1" dirty="0">
              <a:solidFill>
                <a:schemeClr val="bg1"/>
              </a:solidFill>
              <a:latin typeface="Arial"/>
              <a:cs typeface="Arial"/>
            </a:endParaRPr>
          </a:p>
        </p:txBody>
      </p:sp>
      <p:sp>
        <p:nvSpPr>
          <p:cNvPr id="72" name="TextBox 71">
            <a:extLst>
              <a:ext uri="{FF2B5EF4-FFF2-40B4-BE49-F238E27FC236}">
                <a16:creationId xmlns:a16="http://schemas.microsoft.com/office/drawing/2014/main" id="{AF2F7C47-A39A-44D6-920B-E190B5CB6F93}"/>
              </a:ext>
            </a:extLst>
          </p:cNvPr>
          <p:cNvSpPr txBox="1"/>
          <p:nvPr/>
        </p:nvSpPr>
        <p:spPr>
          <a:xfrm>
            <a:off x="2997200" y="2149021"/>
            <a:ext cx="4741636" cy="4318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r>
              <a:rPr lang="en-IN" sz="1200" b="1" dirty="0">
                <a:ln/>
                <a:solidFill>
                  <a:schemeClr val="accent4"/>
                </a:solidFill>
              </a:rPr>
              <a:t>The dataset is organized as a relational database comprising four interlinked tables: </a:t>
            </a:r>
            <a:endParaRPr lang="en-IN" sz="1200" b="1" dirty="0">
              <a:ln/>
              <a:solidFill>
                <a:schemeClr val="accent4"/>
              </a:solidFill>
              <a:latin typeface="Arial"/>
              <a:cs typeface="Arial"/>
            </a:endParaRPr>
          </a:p>
        </p:txBody>
      </p:sp>
      <p:sp>
        <p:nvSpPr>
          <p:cNvPr id="73" name="Rectangle: Rounded Corners 72">
            <a:extLst>
              <a:ext uri="{FF2B5EF4-FFF2-40B4-BE49-F238E27FC236}">
                <a16:creationId xmlns:a16="http://schemas.microsoft.com/office/drawing/2014/main" id="{CF96A9B2-7FA0-4D8D-BBCE-1F693475790B}"/>
              </a:ext>
            </a:extLst>
          </p:cNvPr>
          <p:cNvSpPr/>
          <p:nvPr/>
        </p:nvSpPr>
        <p:spPr>
          <a:xfrm>
            <a:off x="3022600" y="2743200"/>
            <a:ext cx="1168400" cy="9652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74" name="Oval 73">
            <a:extLst>
              <a:ext uri="{FF2B5EF4-FFF2-40B4-BE49-F238E27FC236}">
                <a16:creationId xmlns:a16="http://schemas.microsoft.com/office/drawing/2014/main" id="{70B203F0-9FC5-448E-AB72-B43E7765F0E9}"/>
              </a:ext>
            </a:extLst>
          </p:cNvPr>
          <p:cNvSpPr/>
          <p:nvPr/>
        </p:nvSpPr>
        <p:spPr>
          <a:xfrm>
            <a:off x="3060700" y="2841171"/>
            <a:ext cx="279400" cy="279400"/>
          </a:xfrm>
          <a:prstGeom prst="ellipse">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IN" sz="900" b="1">
                <a:solidFill>
                  <a:srgbClr val="211C1A"/>
                </a:solidFill>
              </a:rPr>
              <a:t>1</a:t>
            </a:r>
          </a:p>
        </p:txBody>
      </p:sp>
      <p:sp>
        <p:nvSpPr>
          <p:cNvPr id="75" name="TextBox 74">
            <a:extLst>
              <a:ext uri="{FF2B5EF4-FFF2-40B4-BE49-F238E27FC236}">
                <a16:creationId xmlns:a16="http://schemas.microsoft.com/office/drawing/2014/main" id="{5FE3538C-4EE0-4B7A-AD49-FAD46E7F8AFD}"/>
              </a:ext>
            </a:extLst>
          </p:cNvPr>
          <p:cNvSpPr txBox="1"/>
          <p:nvPr/>
        </p:nvSpPr>
        <p:spPr>
          <a:xfrm>
            <a:off x="3306082" y="2851150"/>
            <a:ext cx="914400" cy="177800"/>
          </a:xfrm>
          <a:prstGeom prst="rect">
            <a:avLst/>
          </a:prstGeom>
          <a:noFill/>
        </p:spPr>
        <p:txBody>
          <a:bodyPr vertOverflow="overflow" vert="horz" wrap="square" rtlCol="0" anchor="t">
            <a:noAutofit/>
          </a:bodyPr>
          <a:lstStyle/>
          <a:p>
            <a:pPr algn="l"/>
            <a:r>
              <a:rPr lang="en-US" sz="1100" b="1" dirty="0">
                <a:solidFill>
                  <a:srgbClr val="FFF4E8"/>
                </a:solidFill>
                <a:latin typeface="Arial"/>
                <a:cs typeface="Arial"/>
              </a:rPr>
              <a:t>Orders</a:t>
            </a:r>
          </a:p>
          <a:p>
            <a:pPr algn="l"/>
            <a:endParaRPr lang="en-IN" sz="1100" b="1" dirty="0">
              <a:solidFill>
                <a:srgbClr val="FFF4E8"/>
              </a:solidFill>
              <a:latin typeface="Arial"/>
              <a:cs typeface="Arial"/>
            </a:endParaRPr>
          </a:p>
        </p:txBody>
      </p:sp>
      <p:sp>
        <p:nvSpPr>
          <p:cNvPr id="76" name="TextBox 75">
            <a:extLst>
              <a:ext uri="{FF2B5EF4-FFF2-40B4-BE49-F238E27FC236}">
                <a16:creationId xmlns:a16="http://schemas.microsoft.com/office/drawing/2014/main" id="{C4231302-A6D6-40C5-BAF7-887F40F6F7BF}"/>
              </a:ext>
            </a:extLst>
          </p:cNvPr>
          <p:cNvSpPr txBox="1"/>
          <p:nvPr/>
        </p:nvSpPr>
        <p:spPr>
          <a:xfrm>
            <a:off x="3310164" y="3079750"/>
            <a:ext cx="914400" cy="440871"/>
          </a:xfrm>
          <a:prstGeom prst="rect">
            <a:avLst/>
          </a:prstGeom>
          <a:noFill/>
        </p:spPr>
        <p:txBody>
          <a:bodyPr vertOverflow="overflow" vert="horz" wrap="square" rtlCol="0" anchor="t">
            <a:noAutofit/>
          </a:bodyPr>
          <a:lstStyle/>
          <a:p>
            <a:pPr algn="l"/>
            <a:r>
              <a:rPr lang="en-US" sz="800" dirty="0">
                <a:solidFill>
                  <a:srgbClr val="D5C9C1"/>
                </a:solidFill>
                <a:latin typeface="Arial"/>
                <a:cs typeface="Arial"/>
              </a:rPr>
              <a:t>O</a:t>
            </a:r>
            <a:r>
              <a:rPr lang="en-IN" sz="800" dirty="0" err="1">
                <a:solidFill>
                  <a:srgbClr val="D5C9C1"/>
                </a:solidFill>
                <a:latin typeface="Arial"/>
                <a:cs typeface="Arial"/>
              </a:rPr>
              <a:t>rder_Id</a:t>
            </a:r>
            <a:endParaRPr lang="en-IN" sz="800" dirty="0">
              <a:solidFill>
                <a:srgbClr val="D5C9C1"/>
              </a:solidFill>
              <a:latin typeface="Arial"/>
              <a:cs typeface="Arial"/>
            </a:endParaRPr>
          </a:p>
          <a:p>
            <a:pPr algn="l"/>
            <a:r>
              <a:rPr lang="en-IN" sz="800" dirty="0">
                <a:solidFill>
                  <a:srgbClr val="D5C9C1"/>
                </a:solidFill>
                <a:latin typeface="Arial"/>
                <a:cs typeface="Arial"/>
              </a:rPr>
              <a:t>Date</a:t>
            </a:r>
          </a:p>
          <a:p>
            <a:pPr algn="l"/>
            <a:r>
              <a:rPr lang="en-IN" sz="800" dirty="0">
                <a:solidFill>
                  <a:srgbClr val="D5C9C1"/>
                </a:solidFill>
                <a:latin typeface="Arial"/>
                <a:cs typeface="Arial"/>
              </a:rPr>
              <a:t>Time</a:t>
            </a:r>
          </a:p>
        </p:txBody>
      </p:sp>
      <p:sp>
        <p:nvSpPr>
          <p:cNvPr id="77" name="Rectangle 76">
            <a:extLst>
              <a:ext uri="{FF2B5EF4-FFF2-40B4-BE49-F238E27FC236}">
                <a16:creationId xmlns:a16="http://schemas.microsoft.com/office/drawing/2014/main" id="{161EB672-165E-4AB5-8A8A-96869FE8D0F6}"/>
              </a:ext>
            </a:extLst>
          </p:cNvPr>
          <p:cNvSpPr/>
          <p:nvPr/>
        </p:nvSpPr>
        <p:spPr>
          <a:xfrm>
            <a:off x="4191000" y="3187700"/>
            <a:ext cx="228600" cy="25400"/>
          </a:xfrm>
          <a:prstGeom prst="rect">
            <a:avLst/>
          </a:prstGeom>
          <a:solidFill>
            <a:srgbClr val="6F625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78" name="Rectangle: Rounded Corners 77">
            <a:extLst>
              <a:ext uri="{FF2B5EF4-FFF2-40B4-BE49-F238E27FC236}">
                <a16:creationId xmlns:a16="http://schemas.microsoft.com/office/drawing/2014/main" id="{4C221AB4-DB6C-408C-85ED-7ED87FC87184}"/>
              </a:ext>
            </a:extLst>
          </p:cNvPr>
          <p:cNvSpPr/>
          <p:nvPr/>
        </p:nvSpPr>
        <p:spPr>
          <a:xfrm>
            <a:off x="4419600" y="2743200"/>
            <a:ext cx="1168400" cy="9652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79" name="Oval 78">
            <a:extLst>
              <a:ext uri="{FF2B5EF4-FFF2-40B4-BE49-F238E27FC236}">
                <a16:creationId xmlns:a16="http://schemas.microsoft.com/office/drawing/2014/main" id="{60E257A7-06C6-400B-9439-D5189B4D8351}"/>
              </a:ext>
            </a:extLst>
          </p:cNvPr>
          <p:cNvSpPr/>
          <p:nvPr/>
        </p:nvSpPr>
        <p:spPr>
          <a:xfrm>
            <a:off x="4482193" y="2806700"/>
            <a:ext cx="279400" cy="279400"/>
          </a:xfrm>
          <a:prstGeom prst="ellipse">
            <a:avLst/>
          </a:prstGeom>
          <a:solidFill>
            <a:srgbClr val="E39A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IN" sz="900" b="1" dirty="0">
                <a:solidFill>
                  <a:srgbClr val="211C1A"/>
                </a:solidFill>
              </a:rPr>
              <a:t>2</a:t>
            </a:r>
          </a:p>
        </p:txBody>
      </p:sp>
      <p:sp>
        <p:nvSpPr>
          <p:cNvPr id="80" name="TextBox 79">
            <a:extLst>
              <a:ext uri="{FF2B5EF4-FFF2-40B4-BE49-F238E27FC236}">
                <a16:creationId xmlns:a16="http://schemas.microsoft.com/office/drawing/2014/main" id="{68E10C30-EF2A-40B9-84C8-962ADEBE1239}"/>
              </a:ext>
            </a:extLst>
          </p:cNvPr>
          <p:cNvSpPr txBox="1"/>
          <p:nvPr/>
        </p:nvSpPr>
        <p:spPr>
          <a:xfrm>
            <a:off x="4775200" y="2821668"/>
            <a:ext cx="914400" cy="177800"/>
          </a:xfrm>
          <a:prstGeom prst="rect">
            <a:avLst/>
          </a:prstGeom>
          <a:noFill/>
        </p:spPr>
        <p:txBody>
          <a:bodyPr vertOverflow="overflow" vert="horz" wrap="square" rtlCol="0" anchor="t">
            <a:noAutofit/>
          </a:bodyPr>
          <a:lstStyle/>
          <a:p>
            <a:pPr algn="l"/>
            <a:r>
              <a:rPr lang="en-US" sz="1100" b="1" dirty="0">
                <a:solidFill>
                  <a:srgbClr val="FFF4E8"/>
                </a:solidFill>
                <a:latin typeface="Arial"/>
                <a:cs typeface="Arial"/>
              </a:rPr>
              <a:t>P</a:t>
            </a:r>
            <a:r>
              <a:rPr lang="en-IN" sz="1100" b="1" dirty="0" err="1">
                <a:solidFill>
                  <a:srgbClr val="FFF4E8"/>
                </a:solidFill>
                <a:latin typeface="Arial"/>
                <a:cs typeface="Arial"/>
              </a:rPr>
              <a:t>izza</a:t>
            </a:r>
            <a:endParaRPr lang="en-IN" sz="1100" b="1" dirty="0">
              <a:solidFill>
                <a:srgbClr val="FFF4E8"/>
              </a:solidFill>
              <a:latin typeface="Arial"/>
              <a:cs typeface="Arial"/>
            </a:endParaRPr>
          </a:p>
          <a:p>
            <a:pPr algn="l"/>
            <a:endParaRPr lang="en-IN" sz="1100" b="1" dirty="0">
              <a:solidFill>
                <a:srgbClr val="FFF4E8"/>
              </a:solidFill>
              <a:latin typeface="Arial"/>
              <a:cs typeface="Arial"/>
            </a:endParaRPr>
          </a:p>
        </p:txBody>
      </p:sp>
      <p:sp>
        <p:nvSpPr>
          <p:cNvPr id="81" name="TextBox 80">
            <a:extLst>
              <a:ext uri="{FF2B5EF4-FFF2-40B4-BE49-F238E27FC236}">
                <a16:creationId xmlns:a16="http://schemas.microsoft.com/office/drawing/2014/main" id="{4E65D92B-B2AD-4305-8F36-56B1D3619E85}"/>
              </a:ext>
            </a:extLst>
          </p:cNvPr>
          <p:cNvSpPr txBox="1"/>
          <p:nvPr/>
        </p:nvSpPr>
        <p:spPr>
          <a:xfrm>
            <a:off x="4734832" y="3037568"/>
            <a:ext cx="914400" cy="635000"/>
          </a:xfrm>
          <a:prstGeom prst="rect">
            <a:avLst/>
          </a:prstGeom>
          <a:noFill/>
        </p:spPr>
        <p:txBody>
          <a:bodyPr vertOverflow="overflow" vert="horz" wrap="square" rtlCol="0" anchor="t">
            <a:noAutofit/>
          </a:bodyPr>
          <a:lstStyle/>
          <a:p>
            <a:pPr algn="l"/>
            <a:r>
              <a:rPr lang="en-US" sz="800" dirty="0">
                <a:solidFill>
                  <a:srgbClr val="D5C9C1"/>
                </a:solidFill>
                <a:latin typeface="Arial"/>
                <a:cs typeface="Arial"/>
              </a:rPr>
              <a:t>P</a:t>
            </a:r>
            <a:r>
              <a:rPr lang="en-IN" sz="800" dirty="0" err="1">
                <a:solidFill>
                  <a:srgbClr val="D5C9C1"/>
                </a:solidFill>
                <a:latin typeface="Arial"/>
                <a:cs typeface="Arial"/>
              </a:rPr>
              <a:t>izza</a:t>
            </a:r>
            <a:r>
              <a:rPr lang="en-IN" sz="800" dirty="0">
                <a:solidFill>
                  <a:srgbClr val="D5C9C1"/>
                </a:solidFill>
                <a:latin typeface="Arial"/>
                <a:cs typeface="Arial"/>
              </a:rPr>
              <a:t> ID</a:t>
            </a:r>
          </a:p>
          <a:p>
            <a:pPr algn="l"/>
            <a:r>
              <a:rPr lang="en-IN" sz="800" dirty="0">
                <a:solidFill>
                  <a:srgbClr val="D5C9C1"/>
                </a:solidFill>
                <a:latin typeface="Arial"/>
                <a:cs typeface="Arial"/>
              </a:rPr>
              <a:t>Size</a:t>
            </a:r>
          </a:p>
          <a:p>
            <a:pPr algn="l"/>
            <a:r>
              <a:rPr lang="en-IN" sz="800" dirty="0">
                <a:solidFill>
                  <a:srgbClr val="D5C9C1"/>
                </a:solidFill>
                <a:latin typeface="Arial"/>
                <a:cs typeface="Arial"/>
              </a:rPr>
              <a:t>Price</a:t>
            </a:r>
          </a:p>
          <a:p>
            <a:pPr algn="l"/>
            <a:r>
              <a:rPr lang="en-IN" sz="800" dirty="0">
                <a:solidFill>
                  <a:srgbClr val="D5C9C1"/>
                </a:solidFill>
                <a:latin typeface="Arial"/>
                <a:cs typeface="Arial"/>
              </a:rPr>
              <a:t>Pizza type ID </a:t>
            </a:r>
          </a:p>
        </p:txBody>
      </p:sp>
      <p:sp>
        <p:nvSpPr>
          <p:cNvPr id="82" name="Rectangle 81">
            <a:extLst>
              <a:ext uri="{FF2B5EF4-FFF2-40B4-BE49-F238E27FC236}">
                <a16:creationId xmlns:a16="http://schemas.microsoft.com/office/drawing/2014/main" id="{1509D856-3FFE-4B0D-A17A-906CF2A085E5}"/>
              </a:ext>
            </a:extLst>
          </p:cNvPr>
          <p:cNvSpPr/>
          <p:nvPr/>
        </p:nvSpPr>
        <p:spPr>
          <a:xfrm>
            <a:off x="5588000" y="3187700"/>
            <a:ext cx="228600" cy="25400"/>
          </a:xfrm>
          <a:prstGeom prst="rect">
            <a:avLst/>
          </a:prstGeom>
          <a:solidFill>
            <a:srgbClr val="6F625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83" name="Rectangle: Rounded Corners 82">
            <a:extLst>
              <a:ext uri="{FF2B5EF4-FFF2-40B4-BE49-F238E27FC236}">
                <a16:creationId xmlns:a16="http://schemas.microsoft.com/office/drawing/2014/main" id="{4ED92F21-C9F3-4AC2-8004-354403DE7E01}"/>
              </a:ext>
            </a:extLst>
          </p:cNvPr>
          <p:cNvSpPr/>
          <p:nvPr/>
        </p:nvSpPr>
        <p:spPr>
          <a:xfrm>
            <a:off x="5783036" y="2750457"/>
            <a:ext cx="1409700" cy="9652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p>
        </p:txBody>
      </p:sp>
      <p:sp>
        <p:nvSpPr>
          <p:cNvPr id="84" name="Oval 83">
            <a:extLst>
              <a:ext uri="{FF2B5EF4-FFF2-40B4-BE49-F238E27FC236}">
                <a16:creationId xmlns:a16="http://schemas.microsoft.com/office/drawing/2014/main" id="{D1A82511-DDD9-4ED2-A543-2858B061A5FF}"/>
              </a:ext>
            </a:extLst>
          </p:cNvPr>
          <p:cNvSpPr/>
          <p:nvPr/>
        </p:nvSpPr>
        <p:spPr>
          <a:xfrm>
            <a:off x="5829300" y="2806700"/>
            <a:ext cx="279400" cy="279400"/>
          </a:xfrm>
          <a:prstGeom prst="ellipse">
            <a:avLst/>
          </a:prstGeom>
          <a:solidFill>
            <a:srgbClr val="3A8E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IN" sz="900" b="1" dirty="0">
                <a:solidFill>
                  <a:srgbClr val="211C1A"/>
                </a:solidFill>
              </a:rPr>
              <a:t>3</a:t>
            </a:r>
          </a:p>
        </p:txBody>
      </p:sp>
      <p:sp>
        <p:nvSpPr>
          <p:cNvPr id="85" name="TextBox 84">
            <a:extLst>
              <a:ext uri="{FF2B5EF4-FFF2-40B4-BE49-F238E27FC236}">
                <a16:creationId xmlns:a16="http://schemas.microsoft.com/office/drawing/2014/main" id="{99FA5342-6332-4117-B86A-906826390646}"/>
              </a:ext>
            </a:extLst>
          </p:cNvPr>
          <p:cNvSpPr txBox="1"/>
          <p:nvPr/>
        </p:nvSpPr>
        <p:spPr>
          <a:xfrm>
            <a:off x="6057900" y="2832100"/>
            <a:ext cx="1168400" cy="247650"/>
          </a:xfrm>
          <a:prstGeom prst="rect">
            <a:avLst/>
          </a:prstGeom>
          <a:noFill/>
        </p:spPr>
        <p:txBody>
          <a:bodyPr vertOverflow="overflow" vert="horz" wrap="square" rtlCol="0" anchor="t">
            <a:noAutofit/>
          </a:bodyPr>
          <a:lstStyle/>
          <a:p>
            <a:pPr algn="l"/>
            <a:r>
              <a:rPr lang="en-US" sz="1100" b="1" dirty="0">
                <a:solidFill>
                  <a:srgbClr val="FFF4E8"/>
                </a:solidFill>
                <a:latin typeface="Arial"/>
                <a:cs typeface="Arial"/>
              </a:rPr>
              <a:t>O</a:t>
            </a:r>
            <a:r>
              <a:rPr lang="en-IN" sz="1100" b="1" dirty="0" err="1">
                <a:solidFill>
                  <a:srgbClr val="FFF4E8"/>
                </a:solidFill>
                <a:latin typeface="Arial"/>
                <a:cs typeface="Arial"/>
              </a:rPr>
              <a:t>rders</a:t>
            </a:r>
            <a:r>
              <a:rPr lang="en-IN" sz="1100" b="1" dirty="0">
                <a:solidFill>
                  <a:srgbClr val="FFF4E8"/>
                </a:solidFill>
                <a:latin typeface="Arial"/>
                <a:cs typeface="Arial"/>
              </a:rPr>
              <a:t> details</a:t>
            </a:r>
          </a:p>
          <a:p>
            <a:pPr algn="l"/>
            <a:endParaRPr lang="en-IN" sz="1100" b="1" dirty="0">
              <a:solidFill>
                <a:srgbClr val="FFF4E8"/>
              </a:solidFill>
              <a:latin typeface="Arial"/>
              <a:cs typeface="Arial"/>
            </a:endParaRPr>
          </a:p>
        </p:txBody>
      </p:sp>
      <p:sp>
        <p:nvSpPr>
          <p:cNvPr id="86" name="TextBox 85">
            <a:extLst>
              <a:ext uri="{FF2B5EF4-FFF2-40B4-BE49-F238E27FC236}">
                <a16:creationId xmlns:a16="http://schemas.microsoft.com/office/drawing/2014/main" id="{2CABB2FB-DD2C-4019-A08A-93E87FA8D00C}"/>
              </a:ext>
            </a:extLst>
          </p:cNvPr>
          <p:cNvSpPr txBox="1"/>
          <p:nvPr/>
        </p:nvSpPr>
        <p:spPr>
          <a:xfrm>
            <a:off x="6090557" y="3067504"/>
            <a:ext cx="914400" cy="605064"/>
          </a:xfrm>
          <a:prstGeom prst="rect">
            <a:avLst/>
          </a:prstGeom>
          <a:noFill/>
        </p:spPr>
        <p:txBody>
          <a:bodyPr vertOverflow="overflow" vert="horz" wrap="square" rtlCol="0" anchor="t">
            <a:noAutofit/>
          </a:bodyPr>
          <a:lstStyle/>
          <a:p>
            <a:pPr algn="l"/>
            <a:r>
              <a:rPr lang="en-US" sz="800" dirty="0">
                <a:solidFill>
                  <a:srgbClr val="D5C9C1"/>
                </a:solidFill>
                <a:latin typeface="Arial"/>
                <a:cs typeface="Arial"/>
              </a:rPr>
              <a:t>O</a:t>
            </a:r>
            <a:r>
              <a:rPr lang="en-IN" sz="800" dirty="0" err="1">
                <a:solidFill>
                  <a:srgbClr val="D5C9C1"/>
                </a:solidFill>
                <a:latin typeface="Arial"/>
                <a:cs typeface="Arial"/>
              </a:rPr>
              <a:t>rder</a:t>
            </a:r>
            <a:r>
              <a:rPr lang="en-IN" sz="800" dirty="0">
                <a:solidFill>
                  <a:srgbClr val="D5C9C1"/>
                </a:solidFill>
                <a:latin typeface="Arial"/>
                <a:cs typeface="Arial"/>
              </a:rPr>
              <a:t> Details ID</a:t>
            </a:r>
          </a:p>
          <a:p>
            <a:pPr algn="l"/>
            <a:r>
              <a:rPr lang="en-IN" sz="800" dirty="0">
                <a:solidFill>
                  <a:srgbClr val="D5C9C1"/>
                </a:solidFill>
                <a:latin typeface="Arial"/>
                <a:cs typeface="Arial"/>
              </a:rPr>
              <a:t>Order ID</a:t>
            </a:r>
          </a:p>
          <a:p>
            <a:pPr algn="l"/>
            <a:r>
              <a:rPr lang="en-IN" sz="800" dirty="0">
                <a:solidFill>
                  <a:srgbClr val="D5C9C1"/>
                </a:solidFill>
                <a:latin typeface="Arial"/>
                <a:cs typeface="Arial"/>
              </a:rPr>
              <a:t>Pizza ID</a:t>
            </a:r>
          </a:p>
          <a:p>
            <a:pPr algn="l"/>
            <a:r>
              <a:rPr lang="en-IN" sz="800" dirty="0" err="1">
                <a:solidFill>
                  <a:srgbClr val="D5C9C1"/>
                </a:solidFill>
                <a:latin typeface="Arial"/>
                <a:cs typeface="Arial"/>
              </a:rPr>
              <a:t>Quanitity</a:t>
            </a:r>
            <a:endParaRPr lang="en-IN" sz="800" dirty="0">
              <a:solidFill>
                <a:srgbClr val="D5C9C1"/>
              </a:solidFill>
              <a:latin typeface="Arial"/>
              <a:cs typeface="Arial"/>
            </a:endParaRPr>
          </a:p>
        </p:txBody>
      </p:sp>
      <p:sp>
        <p:nvSpPr>
          <p:cNvPr id="87" name="Rectangle 86">
            <a:extLst>
              <a:ext uri="{FF2B5EF4-FFF2-40B4-BE49-F238E27FC236}">
                <a16:creationId xmlns:a16="http://schemas.microsoft.com/office/drawing/2014/main" id="{3B6E4220-7884-4319-AD29-75C0AB36AC3A}"/>
              </a:ext>
            </a:extLst>
          </p:cNvPr>
          <p:cNvSpPr/>
          <p:nvPr/>
        </p:nvSpPr>
        <p:spPr>
          <a:xfrm>
            <a:off x="7192055" y="3187699"/>
            <a:ext cx="228600" cy="45719"/>
          </a:xfrm>
          <a:prstGeom prst="rect">
            <a:avLst/>
          </a:prstGeom>
          <a:solidFill>
            <a:srgbClr val="6F625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88" name="Rectangle: Rounded Corners 87">
            <a:extLst>
              <a:ext uri="{FF2B5EF4-FFF2-40B4-BE49-F238E27FC236}">
                <a16:creationId xmlns:a16="http://schemas.microsoft.com/office/drawing/2014/main" id="{527F9F7C-8157-4B48-818A-93ED0C246FFE}"/>
              </a:ext>
            </a:extLst>
          </p:cNvPr>
          <p:cNvSpPr/>
          <p:nvPr/>
        </p:nvSpPr>
        <p:spPr>
          <a:xfrm>
            <a:off x="7422016" y="2750457"/>
            <a:ext cx="1168400" cy="9652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p>
        </p:txBody>
      </p:sp>
      <p:sp>
        <p:nvSpPr>
          <p:cNvPr id="89" name="Oval 88">
            <a:extLst>
              <a:ext uri="{FF2B5EF4-FFF2-40B4-BE49-F238E27FC236}">
                <a16:creationId xmlns:a16="http://schemas.microsoft.com/office/drawing/2014/main" id="{422AD046-B614-4622-B427-322EF38A2D52}"/>
              </a:ext>
            </a:extLst>
          </p:cNvPr>
          <p:cNvSpPr/>
          <p:nvPr/>
        </p:nvSpPr>
        <p:spPr>
          <a:xfrm>
            <a:off x="7459436" y="2788104"/>
            <a:ext cx="279400" cy="279400"/>
          </a:xfrm>
          <a:prstGeom prst="ellipse">
            <a:avLst/>
          </a:prstGeom>
          <a:solidFill>
            <a:srgbClr val="D4A4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IN" sz="900" b="1" dirty="0">
                <a:solidFill>
                  <a:srgbClr val="211C1A"/>
                </a:solidFill>
              </a:rPr>
              <a:t>4</a:t>
            </a:r>
          </a:p>
        </p:txBody>
      </p:sp>
      <p:sp>
        <p:nvSpPr>
          <p:cNvPr id="90" name="TextBox 89">
            <a:extLst>
              <a:ext uri="{FF2B5EF4-FFF2-40B4-BE49-F238E27FC236}">
                <a16:creationId xmlns:a16="http://schemas.microsoft.com/office/drawing/2014/main" id="{FC8D85E4-65D8-440D-8959-29D49C370981}"/>
              </a:ext>
            </a:extLst>
          </p:cNvPr>
          <p:cNvSpPr txBox="1"/>
          <p:nvPr/>
        </p:nvSpPr>
        <p:spPr>
          <a:xfrm>
            <a:off x="7675449" y="2785836"/>
            <a:ext cx="1041400" cy="330200"/>
          </a:xfrm>
          <a:prstGeom prst="rect">
            <a:avLst/>
          </a:prstGeom>
          <a:noFill/>
        </p:spPr>
        <p:txBody>
          <a:bodyPr vertOverflow="overflow" vert="horz" wrap="square" rtlCol="0" anchor="t">
            <a:noAutofit/>
          </a:bodyPr>
          <a:lstStyle/>
          <a:p>
            <a:pPr algn="l"/>
            <a:r>
              <a:rPr lang="en-US" sz="1100" b="1" dirty="0">
                <a:solidFill>
                  <a:srgbClr val="FFF4E8"/>
                </a:solidFill>
                <a:latin typeface="Arial"/>
                <a:cs typeface="Arial"/>
              </a:rPr>
              <a:t>Pizza types</a:t>
            </a:r>
            <a:endParaRPr lang="en-IN" sz="1100" b="1" dirty="0">
              <a:solidFill>
                <a:srgbClr val="FFF4E8"/>
              </a:solidFill>
              <a:latin typeface="Arial"/>
              <a:cs typeface="Arial"/>
            </a:endParaRPr>
          </a:p>
        </p:txBody>
      </p:sp>
      <p:sp>
        <p:nvSpPr>
          <p:cNvPr id="91" name="TextBox 90">
            <a:extLst>
              <a:ext uri="{FF2B5EF4-FFF2-40B4-BE49-F238E27FC236}">
                <a16:creationId xmlns:a16="http://schemas.microsoft.com/office/drawing/2014/main" id="{AD9724B0-A911-4B98-83EF-EE35D335E3CA}"/>
              </a:ext>
            </a:extLst>
          </p:cNvPr>
          <p:cNvSpPr txBox="1"/>
          <p:nvPr/>
        </p:nvSpPr>
        <p:spPr>
          <a:xfrm>
            <a:off x="7644606" y="3045279"/>
            <a:ext cx="914400" cy="554264"/>
          </a:xfrm>
          <a:prstGeom prst="rect">
            <a:avLst/>
          </a:prstGeom>
          <a:noFill/>
        </p:spPr>
        <p:txBody>
          <a:bodyPr vertOverflow="overflow" vert="horz" wrap="square" rtlCol="0" anchor="t">
            <a:noAutofit/>
          </a:bodyPr>
          <a:lstStyle/>
          <a:p>
            <a:pPr algn="l"/>
            <a:r>
              <a:rPr lang="en-US" sz="800" dirty="0">
                <a:solidFill>
                  <a:srgbClr val="D5C9C1"/>
                </a:solidFill>
                <a:latin typeface="Arial"/>
                <a:cs typeface="Arial"/>
              </a:rPr>
              <a:t>P</a:t>
            </a:r>
            <a:r>
              <a:rPr lang="en-IN" sz="800" dirty="0" err="1">
                <a:solidFill>
                  <a:srgbClr val="D5C9C1"/>
                </a:solidFill>
                <a:latin typeface="Arial"/>
                <a:cs typeface="Arial"/>
              </a:rPr>
              <a:t>izza</a:t>
            </a:r>
            <a:r>
              <a:rPr lang="en-IN" sz="800" dirty="0">
                <a:solidFill>
                  <a:srgbClr val="D5C9C1"/>
                </a:solidFill>
                <a:latin typeface="Arial"/>
                <a:cs typeface="Arial"/>
              </a:rPr>
              <a:t> type ID</a:t>
            </a:r>
          </a:p>
          <a:p>
            <a:pPr algn="l"/>
            <a:r>
              <a:rPr lang="en-IN" sz="800" dirty="0">
                <a:solidFill>
                  <a:srgbClr val="D5C9C1"/>
                </a:solidFill>
                <a:latin typeface="Arial"/>
                <a:cs typeface="Arial"/>
              </a:rPr>
              <a:t>Name</a:t>
            </a:r>
          </a:p>
          <a:p>
            <a:pPr algn="l"/>
            <a:r>
              <a:rPr lang="en-IN" sz="800" dirty="0">
                <a:solidFill>
                  <a:srgbClr val="D5C9C1"/>
                </a:solidFill>
                <a:latin typeface="Arial"/>
                <a:cs typeface="Arial"/>
              </a:rPr>
              <a:t>Category </a:t>
            </a:r>
          </a:p>
          <a:p>
            <a:pPr algn="l"/>
            <a:r>
              <a:rPr lang="en-IN" sz="800" dirty="0">
                <a:solidFill>
                  <a:srgbClr val="D5C9C1"/>
                </a:solidFill>
                <a:latin typeface="Arial"/>
                <a:cs typeface="Arial"/>
              </a:rPr>
              <a:t>Ingredients  </a:t>
            </a:r>
          </a:p>
        </p:txBody>
      </p:sp>
      <p:sp>
        <p:nvSpPr>
          <p:cNvPr id="92" name="Rectangle: Rounded Corners 91">
            <a:extLst>
              <a:ext uri="{FF2B5EF4-FFF2-40B4-BE49-F238E27FC236}">
                <a16:creationId xmlns:a16="http://schemas.microsoft.com/office/drawing/2014/main" id="{EF1D5A49-F983-4D94-9423-426D432B1139}"/>
              </a:ext>
            </a:extLst>
          </p:cNvPr>
          <p:cNvSpPr/>
          <p:nvPr/>
        </p:nvSpPr>
        <p:spPr>
          <a:xfrm>
            <a:off x="3053443" y="4144736"/>
            <a:ext cx="5359400" cy="355600"/>
          </a:xfrm>
          <a:prstGeom prst="round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r>
              <a:rPr lang="en-US" dirty="0"/>
              <a:t> </a:t>
            </a:r>
            <a:endParaRPr lang="en-IN" dirty="0"/>
          </a:p>
        </p:txBody>
      </p:sp>
      <p:sp>
        <p:nvSpPr>
          <p:cNvPr id="93" name="TextBox 92">
            <a:extLst>
              <a:ext uri="{FF2B5EF4-FFF2-40B4-BE49-F238E27FC236}">
                <a16:creationId xmlns:a16="http://schemas.microsoft.com/office/drawing/2014/main" id="{0E7D52EA-895D-4874-AD9C-7E62F0BABD2E}"/>
              </a:ext>
            </a:extLst>
          </p:cNvPr>
          <p:cNvSpPr txBox="1"/>
          <p:nvPr/>
        </p:nvSpPr>
        <p:spPr>
          <a:xfrm>
            <a:off x="3175000" y="4191000"/>
            <a:ext cx="5054600" cy="152400"/>
          </a:xfrm>
          <a:prstGeom prst="rect">
            <a:avLst/>
          </a:prstGeom>
          <a:noFill/>
        </p:spPr>
        <p:txBody>
          <a:bodyPr vertOverflow="overflow" vert="horz" wrap="square" rtlCol="0" anchor="t">
            <a:noAutofit/>
          </a:bodyPr>
          <a:lstStyle/>
          <a:p>
            <a:pPr algn="l"/>
            <a:r>
              <a:rPr lang="en-US" sz="800" b="1">
                <a:solidFill>
                  <a:srgbClr val="FFF4E8"/>
                </a:solidFill>
                <a:latin typeface="Arial"/>
                <a:cs typeface="Arial"/>
              </a:rPr>
              <a:t>INTERACTIVE PROMPT  →  Click through each stop to see the SQL story</a:t>
            </a:r>
            <a:endParaRPr lang="en-IN" sz="800" b="1">
              <a:solidFill>
                <a:srgbClr val="FFF4E8"/>
              </a:solidFill>
              <a:latin typeface="Arial"/>
              <a:cs typeface="Arial"/>
            </a:endParaRPr>
          </a:p>
        </p:txBody>
      </p:sp>
      <p:sp>
        <p:nvSpPr>
          <p:cNvPr id="94" name="TextBox 93">
            <a:extLst>
              <a:ext uri="{FF2B5EF4-FFF2-40B4-BE49-F238E27FC236}">
                <a16:creationId xmlns:a16="http://schemas.microsoft.com/office/drawing/2014/main" id="{0CA397FC-9FEB-4529-AD05-DFE2665062D7}"/>
              </a:ext>
            </a:extLst>
          </p:cNvPr>
          <p:cNvSpPr txBox="1"/>
          <p:nvPr/>
        </p:nvSpPr>
        <p:spPr>
          <a:xfrm>
            <a:off x="355600" y="4749800"/>
            <a:ext cx="3048000" cy="152400"/>
          </a:xfrm>
          <a:prstGeom prst="rect">
            <a:avLst/>
          </a:prstGeom>
          <a:noFill/>
        </p:spPr>
        <p:txBody>
          <a:bodyPr vertOverflow="overflow" vert="horz" wrap="square" rtlCol="0" anchor="t">
            <a:noAutofit/>
          </a:bodyPr>
          <a:lstStyle/>
          <a:p>
            <a:pPr algn="l"/>
            <a:r>
              <a:rPr lang="en-US" sz="800">
                <a:solidFill>
                  <a:srgbClr val="AFA39B"/>
                </a:solidFill>
                <a:latin typeface="Arial"/>
                <a:cs typeface="Arial"/>
              </a:rPr>
              <a:t>Presented by Aman Gusain  |  Aspiring Data Analyst</a:t>
            </a:r>
            <a:endParaRPr lang="en-IN" sz="800">
              <a:solidFill>
                <a:srgbClr val="AFA39B"/>
              </a:solidFill>
              <a:latin typeface="Arial"/>
              <a:cs typeface="Arial"/>
            </a:endParaRPr>
          </a:p>
        </p:txBody>
      </p:sp>
    </p:spTree>
    <p:extLst>
      <p:ext uri="{BB962C8B-B14F-4D97-AF65-F5344CB8AC3E}">
        <p14:creationId xmlns:p14="http://schemas.microsoft.com/office/powerpoint/2010/main" val="180876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493914-D5DB-4E05-BA55-71A487176659}"/>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ectangle 2">
            <a:extLst>
              <a:ext uri="{FF2B5EF4-FFF2-40B4-BE49-F238E27FC236}">
                <a16:creationId xmlns:a16="http://schemas.microsoft.com/office/drawing/2014/main" id="{396C8EFE-C275-4142-AD16-51AA2109F6A5}"/>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TextBox 3">
            <a:extLst>
              <a:ext uri="{FF2B5EF4-FFF2-40B4-BE49-F238E27FC236}">
                <a16:creationId xmlns:a16="http://schemas.microsoft.com/office/drawing/2014/main" id="{D084EFC3-CE29-4747-BE7C-FEBA936F5B81}"/>
              </a:ext>
            </a:extLst>
          </p:cNvPr>
          <p:cNvSpPr txBox="1"/>
          <p:nvPr/>
        </p:nvSpPr>
        <p:spPr>
          <a:xfrm>
            <a:off x="419100" y="266700"/>
            <a:ext cx="4637314" cy="1016000"/>
          </a:xfrm>
          <a:prstGeom prst="rect">
            <a:avLst/>
          </a:prstGeom>
          <a:noFill/>
        </p:spPr>
        <p:txBody>
          <a:bodyPr vertOverflow="overflow" vert="horz" wrap="square" rtlCol="0" anchor="t">
            <a:noAutofit/>
          </a:bodyPr>
          <a:lstStyle/>
          <a:p>
            <a:pPr algn="l"/>
            <a:r>
              <a:rPr lang="en-IN" sz="2400" b="1" dirty="0">
                <a:solidFill>
                  <a:srgbClr val="F8C43A"/>
                </a:solidFill>
                <a:latin typeface="Arial"/>
                <a:cs typeface="Arial"/>
              </a:rPr>
              <a:t>PROJECT OBJECTIVES</a:t>
            </a:r>
          </a:p>
        </p:txBody>
      </p:sp>
      <p:sp>
        <p:nvSpPr>
          <p:cNvPr id="5" name="TextBox 4">
            <a:extLst>
              <a:ext uri="{FF2B5EF4-FFF2-40B4-BE49-F238E27FC236}">
                <a16:creationId xmlns:a16="http://schemas.microsoft.com/office/drawing/2014/main" id="{DC696709-DE4E-4214-9049-B3FAB0A1F9BA}"/>
              </a:ext>
            </a:extLst>
          </p:cNvPr>
          <p:cNvSpPr txBox="1"/>
          <p:nvPr/>
        </p:nvSpPr>
        <p:spPr>
          <a:xfrm>
            <a:off x="355600" y="736600"/>
            <a:ext cx="6350000" cy="381000"/>
          </a:xfrm>
          <a:prstGeom prst="rect">
            <a:avLst/>
          </a:prstGeom>
          <a:noFill/>
        </p:spPr>
        <p:txBody>
          <a:bodyPr vertOverflow="overflow" vert="horz" wrap="square" rtlCol="0" anchor="t">
            <a:noAutofit/>
          </a:bodyPr>
          <a:lstStyle/>
          <a:p>
            <a:pPr algn="l"/>
            <a:r>
              <a:rPr lang="en-US" b="1">
                <a:solidFill>
                  <a:srgbClr val="FFF4E8"/>
                </a:solidFill>
                <a:latin typeface="Georgia"/>
              </a:rPr>
              <a:t>What this SQL project is built to answer</a:t>
            </a:r>
            <a:endParaRPr lang="en-IN" b="1">
              <a:solidFill>
                <a:srgbClr val="FFF4E8"/>
              </a:solidFill>
              <a:latin typeface="Georgia"/>
            </a:endParaRPr>
          </a:p>
        </p:txBody>
      </p:sp>
      <p:sp>
        <p:nvSpPr>
          <p:cNvPr id="6" name="TextBox 5">
            <a:extLst>
              <a:ext uri="{FF2B5EF4-FFF2-40B4-BE49-F238E27FC236}">
                <a16:creationId xmlns:a16="http://schemas.microsoft.com/office/drawing/2014/main" id="{4B1896AF-AE13-43BF-80C3-2E954A74B878}"/>
              </a:ext>
            </a:extLst>
          </p:cNvPr>
          <p:cNvSpPr txBox="1"/>
          <p:nvPr/>
        </p:nvSpPr>
        <p:spPr>
          <a:xfrm>
            <a:off x="355600" y="1193800"/>
            <a:ext cx="6604000" cy="228600"/>
          </a:xfrm>
          <a:prstGeom prst="rect">
            <a:avLst/>
          </a:prstGeom>
          <a:noFill/>
        </p:spPr>
        <p:txBody>
          <a:bodyPr vertOverflow="overflow" vert="horz" wrap="square" rtlCol="0" anchor="t">
            <a:noAutofit/>
          </a:bodyPr>
          <a:lstStyle/>
          <a:p>
            <a:pPr algn="l"/>
            <a:r>
              <a:rPr lang="en-US" sz="850">
                <a:solidFill>
                  <a:srgbClr val="D5C9C1"/>
                </a:solidFill>
                <a:latin typeface="Arial"/>
                <a:cs typeface="Arial"/>
              </a:rPr>
              <a:t>From performance measurement to menu optimization — each objective turns raw orders into a practical business decision.</a:t>
            </a:r>
            <a:endParaRPr lang="en-IN" sz="850">
              <a:solidFill>
                <a:srgbClr val="D5C9C1"/>
              </a:solidFill>
              <a:latin typeface="Arial"/>
              <a:cs typeface="Arial"/>
            </a:endParaRPr>
          </a:p>
        </p:txBody>
      </p:sp>
      <p:sp>
        <p:nvSpPr>
          <p:cNvPr id="7" name="Rectangle: Rounded Corners 6">
            <a:extLst>
              <a:ext uri="{FF2B5EF4-FFF2-40B4-BE49-F238E27FC236}">
                <a16:creationId xmlns:a16="http://schemas.microsoft.com/office/drawing/2014/main" id="{A9B79E00-0716-4237-BE3E-8D0A1A005417}"/>
              </a:ext>
            </a:extLst>
          </p:cNvPr>
          <p:cNvSpPr/>
          <p:nvPr/>
        </p:nvSpPr>
        <p:spPr>
          <a:xfrm>
            <a:off x="355600" y="1574800"/>
            <a:ext cx="2514600" cy="22860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8" name="Rectangle 7">
            <a:extLst>
              <a:ext uri="{FF2B5EF4-FFF2-40B4-BE49-F238E27FC236}">
                <a16:creationId xmlns:a16="http://schemas.microsoft.com/office/drawing/2014/main" id="{25B205FD-0D05-4C74-95E6-3E8DEA917926}"/>
              </a:ext>
            </a:extLst>
          </p:cNvPr>
          <p:cNvSpPr/>
          <p:nvPr/>
        </p:nvSpPr>
        <p:spPr>
          <a:xfrm>
            <a:off x="355600" y="1574800"/>
            <a:ext cx="2514600" cy="508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TextBox 8">
            <a:extLst>
              <a:ext uri="{FF2B5EF4-FFF2-40B4-BE49-F238E27FC236}">
                <a16:creationId xmlns:a16="http://schemas.microsoft.com/office/drawing/2014/main" id="{C882EF77-6016-4941-B68D-7CE9F7A14084}"/>
              </a:ext>
            </a:extLst>
          </p:cNvPr>
          <p:cNvSpPr txBox="1"/>
          <p:nvPr/>
        </p:nvSpPr>
        <p:spPr>
          <a:xfrm>
            <a:off x="508000" y="1752600"/>
            <a:ext cx="2209800" cy="165100"/>
          </a:xfrm>
          <a:prstGeom prst="rect">
            <a:avLst/>
          </a:prstGeom>
          <a:noFill/>
        </p:spPr>
        <p:txBody>
          <a:bodyPr vertOverflow="overflow" vert="horz" wrap="square" rtlCol="0" anchor="t">
            <a:noAutofit/>
          </a:bodyPr>
          <a:lstStyle/>
          <a:p>
            <a:pPr algn="l"/>
            <a:r>
              <a:rPr lang="en-IN" sz="800" b="1">
                <a:solidFill>
                  <a:srgbClr val="F0442F"/>
                </a:solidFill>
                <a:latin typeface="Arial"/>
                <a:cs typeface="Arial"/>
              </a:rPr>
              <a:t>01  PERFORMANCE</a:t>
            </a:r>
          </a:p>
        </p:txBody>
      </p:sp>
      <p:sp>
        <p:nvSpPr>
          <p:cNvPr id="10" name="TextBox 9">
            <a:extLst>
              <a:ext uri="{FF2B5EF4-FFF2-40B4-BE49-F238E27FC236}">
                <a16:creationId xmlns:a16="http://schemas.microsoft.com/office/drawing/2014/main" id="{BA3307F4-F841-4088-9234-0A424CFB2A4A}"/>
              </a:ext>
            </a:extLst>
          </p:cNvPr>
          <p:cNvSpPr txBox="1"/>
          <p:nvPr/>
        </p:nvSpPr>
        <p:spPr>
          <a:xfrm>
            <a:off x="508000" y="2006600"/>
            <a:ext cx="2209800" cy="1676400"/>
          </a:xfrm>
          <a:prstGeom prst="rect">
            <a:avLst/>
          </a:prstGeom>
          <a:noFill/>
        </p:spPr>
        <p:txBody>
          <a:bodyPr vertOverflow="overflow" vert="horz" wrap="square" rtlCol="0" anchor="t">
            <a:noAutofit/>
          </a:bodyPr>
          <a:lstStyle/>
          <a:p>
            <a:pPr algn="l"/>
            <a:r>
              <a:rPr lang="en-US" sz="900" dirty="0">
                <a:solidFill>
                  <a:srgbClr val="FFF4E8"/>
                </a:solidFill>
                <a:latin typeface="Arial"/>
                <a:cs typeface="Arial"/>
              </a:rPr>
              <a:t>1. Measure overall business performance: total orders, total revenue, and total pizzas sold.
2. Identify best-selling products: most ordered pizza types and highest-quantity items.
3. Analyze revenue contribution across pizzas, sizes, and categories.</a:t>
            </a:r>
            <a:endParaRPr lang="en-IN" sz="900" dirty="0">
              <a:solidFill>
                <a:srgbClr val="FFF4E8"/>
              </a:solidFill>
              <a:latin typeface="Arial"/>
              <a:cs typeface="Arial"/>
            </a:endParaRPr>
          </a:p>
        </p:txBody>
      </p:sp>
      <p:sp>
        <p:nvSpPr>
          <p:cNvPr id="11" name="Rectangle: Rounded Corners 10">
            <a:extLst>
              <a:ext uri="{FF2B5EF4-FFF2-40B4-BE49-F238E27FC236}">
                <a16:creationId xmlns:a16="http://schemas.microsoft.com/office/drawing/2014/main" id="{F8490CEB-D049-4937-933C-322BAD1A1D85}"/>
              </a:ext>
            </a:extLst>
          </p:cNvPr>
          <p:cNvSpPr/>
          <p:nvPr/>
        </p:nvSpPr>
        <p:spPr>
          <a:xfrm>
            <a:off x="3175000" y="1574800"/>
            <a:ext cx="2514600" cy="22860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2" name="Rectangle 11">
            <a:extLst>
              <a:ext uri="{FF2B5EF4-FFF2-40B4-BE49-F238E27FC236}">
                <a16:creationId xmlns:a16="http://schemas.microsoft.com/office/drawing/2014/main" id="{794D2D64-CFD4-4DC4-BB18-EB7B51761A69}"/>
              </a:ext>
            </a:extLst>
          </p:cNvPr>
          <p:cNvSpPr/>
          <p:nvPr/>
        </p:nvSpPr>
        <p:spPr>
          <a:xfrm>
            <a:off x="3175000" y="1574800"/>
            <a:ext cx="2514600" cy="50800"/>
          </a:xfrm>
          <a:prstGeom prst="rect">
            <a:avLst/>
          </a:prstGeom>
          <a:solidFill>
            <a:srgbClr val="E39A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TextBox 12">
            <a:extLst>
              <a:ext uri="{FF2B5EF4-FFF2-40B4-BE49-F238E27FC236}">
                <a16:creationId xmlns:a16="http://schemas.microsoft.com/office/drawing/2014/main" id="{1892267E-8066-4293-A12D-E8CD2624891D}"/>
              </a:ext>
            </a:extLst>
          </p:cNvPr>
          <p:cNvSpPr txBox="1"/>
          <p:nvPr/>
        </p:nvSpPr>
        <p:spPr>
          <a:xfrm>
            <a:off x="3327400" y="1752600"/>
            <a:ext cx="2209800" cy="165100"/>
          </a:xfrm>
          <a:prstGeom prst="rect">
            <a:avLst/>
          </a:prstGeom>
          <a:noFill/>
        </p:spPr>
        <p:txBody>
          <a:bodyPr vertOverflow="overflow" vert="horz" wrap="square" rtlCol="0" anchor="t">
            <a:noAutofit/>
          </a:bodyPr>
          <a:lstStyle/>
          <a:p>
            <a:pPr algn="l"/>
            <a:r>
              <a:rPr lang="en-IN" sz="800" b="1">
                <a:solidFill>
                  <a:srgbClr val="E39A38"/>
                </a:solidFill>
                <a:latin typeface="Arial"/>
                <a:cs typeface="Arial"/>
              </a:rPr>
              <a:t>02  CUSTOMER + TIME</a:t>
            </a:r>
          </a:p>
        </p:txBody>
      </p:sp>
      <p:sp>
        <p:nvSpPr>
          <p:cNvPr id="14" name="TextBox 13">
            <a:extLst>
              <a:ext uri="{FF2B5EF4-FFF2-40B4-BE49-F238E27FC236}">
                <a16:creationId xmlns:a16="http://schemas.microsoft.com/office/drawing/2014/main" id="{0E82B3F3-B548-441D-ADCF-82B6A8BFE57E}"/>
              </a:ext>
            </a:extLst>
          </p:cNvPr>
          <p:cNvSpPr txBox="1"/>
          <p:nvPr/>
        </p:nvSpPr>
        <p:spPr>
          <a:xfrm>
            <a:off x="3327400" y="2006600"/>
            <a:ext cx="2209800" cy="1676400"/>
          </a:xfrm>
          <a:prstGeom prst="rect">
            <a:avLst/>
          </a:prstGeom>
          <a:noFill/>
        </p:spPr>
        <p:txBody>
          <a:bodyPr vertOverflow="overflow" vert="horz" wrap="square" rtlCol="0" anchor="t">
            <a:noAutofit/>
          </a:bodyPr>
          <a:lstStyle/>
          <a:p>
            <a:pPr algn="l"/>
            <a:r>
              <a:rPr lang="en-US" sz="900" dirty="0">
                <a:solidFill>
                  <a:srgbClr val="FFF4E8"/>
                </a:solidFill>
                <a:latin typeface="Arial"/>
                <a:cs typeface="Arial"/>
              </a:rPr>
              <a:t>4. Evaluate customer preferences through popular sizes and category-wise order distribution.
5. Determine peak business hours and days using hourly, daily, and monthly order trends.
6. Calculate average order value and average pizzas per order to understand spending behavior.</a:t>
            </a:r>
            <a:endParaRPr lang="en-IN" sz="900" dirty="0">
              <a:solidFill>
                <a:srgbClr val="FFF4E8"/>
              </a:solidFill>
              <a:latin typeface="Arial"/>
              <a:cs typeface="Arial"/>
            </a:endParaRPr>
          </a:p>
        </p:txBody>
      </p:sp>
      <p:sp>
        <p:nvSpPr>
          <p:cNvPr id="15" name="Rectangle: Rounded Corners 14">
            <a:extLst>
              <a:ext uri="{FF2B5EF4-FFF2-40B4-BE49-F238E27FC236}">
                <a16:creationId xmlns:a16="http://schemas.microsoft.com/office/drawing/2014/main" id="{9DDB9723-5DF7-446E-BAE0-4E54CADD8154}"/>
              </a:ext>
            </a:extLst>
          </p:cNvPr>
          <p:cNvSpPr/>
          <p:nvPr/>
        </p:nvSpPr>
        <p:spPr>
          <a:xfrm>
            <a:off x="5994400" y="1574800"/>
            <a:ext cx="2514600" cy="22860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6" name="Rectangle 15">
            <a:extLst>
              <a:ext uri="{FF2B5EF4-FFF2-40B4-BE49-F238E27FC236}">
                <a16:creationId xmlns:a16="http://schemas.microsoft.com/office/drawing/2014/main" id="{D3C0D32B-01B9-4EE9-96D2-84FA01789D8C}"/>
              </a:ext>
            </a:extLst>
          </p:cNvPr>
          <p:cNvSpPr/>
          <p:nvPr/>
        </p:nvSpPr>
        <p:spPr>
          <a:xfrm>
            <a:off x="5994400" y="1574800"/>
            <a:ext cx="2514600" cy="50800"/>
          </a:xfrm>
          <a:prstGeom prst="rect">
            <a:avLst/>
          </a:prstGeom>
          <a:solidFill>
            <a:srgbClr val="3A8E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TextBox 16">
            <a:extLst>
              <a:ext uri="{FF2B5EF4-FFF2-40B4-BE49-F238E27FC236}">
                <a16:creationId xmlns:a16="http://schemas.microsoft.com/office/drawing/2014/main" id="{74A050F9-15F9-4C22-AEE0-A3D05CA18F2D}"/>
              </a:ext>
            </a:extLst>
          </p:cNvPr>
          <p:cNvSpPr txBox="1"/>
          <p:nvPr/>
        </p:nvSpPr>
        <p:spPr>
          <a:xfrm>
            <a:off x="6146800" y="1752600"/>
            <a:ext cx="2209800" cy="165100"/>
          </a:xfrm>
          <a:prstGeom prst="rect">
            <a:avLst/>
          </a:prstGeom>
          <a:noFill/>
        </p:spPr>
        <p:txBody>
          <a:bodyPr vertOverflow="overflow" vert="horz" wrap="square" rtlCol="0" anchor="t">
            <a:noAutofit/>
          </a:bodyPr>
          <a:lstStyle/>
          <a:p>
            <a:pPr algn="l"/>
            <a:r>
              <a:rPr lang="en-IN" sz="800" b="1">
                <a:solidFill>
                  <a:srgbClr val="3A8E43"/>
                </a:solidFill>
                <a:latin typeface="Arial"/>
                <a:cs typeface="Arial"/>
              </a:rPr>
              <a:t>03  GROWTH + ACTION</a:t>
            </a:r>
          </a:p>
        </p:txBody>
      </p:sp>
      <p:sp>
        <p:nvSpPr>
          <p:cNvPr id="18" name="TextBox 17">
            <a:extLst>
              <a:ext uri="{FF2B5EF4-FFF2-40B4-BE49-F238E27FC236}">
                <a16:creationId xmlns:a16="http://schemas.microsoft.com/office/drawing/2014/main" id="{2FE141A2-6506-42F5-A8C6-D3AEF19161EA}"/>
              </a:ext>
            </a:extLst>
          </p:cNvPr>
          <p:cNvSpPr txBox="1"/>
          <p:nvPr/>
        </p:nvSpPr>
        <p:spPr>
          <a:xfrm>
            <a:off x="6146800" y="1949450"/>
            <a:ext cx="2209800" cy="1854200"/>
          </a:xfrm>
          <a:prstGeom prst="rect">
            <a:avLst/>
          </a:prstGeom>
          <a:noFill/>
        </p:spPr>
        <p:txBody>
          <a:bodyPr vertOverflow="overflow" vert="horz" wrap="square" rtlCol="0" anchor="t">
            <a:noAutofit/>
          </a:bodyPr>
          <a:lstStyle/>
          <a:p>
            <a:pPr algn="l"/>
            <a:r>
              <a:rPr lang="en-US" sz="900" dirty="0">
                <a:solidFill>
                  <a:srgbClr val="FFF4E8"/>
                </a:solidFill>
                <a:latin typeface="Arial"/>
                <a:cs typeface="Arial"/>
              </a:rPr>
              <a:t>7. Track cumulative revenue over time with window functions.
8. Find top and bottom pizzas within each category for menu optimization.
9. Analyze ingredient popularity for inventory planning and new menu development.
10. Deliver data-backed recommendations for sales, staffing, promotions, and inventory.</a:t>
            </a:r>
            <a:endParaRPr lang="en-IN" sz="900" dirty="0">
              <a:solidFill>
                <a:srgbClr val="FFF4E8"/>
              </a:solidFill>
              <a:latin typeface="Arial"/>
              <a:cs typeface="Arial"/>
            </a:endParaRPr>
          </a:p>
        </p:txBody>
      </p:sp>
      <p:sp>
        <p:nvSpPr>
          <p:cNvPr id="19" name="Rectangle: Rounded Corners 18">
            <a:extLst>
              <a:ext uri="{FF2B5EF4-FFF2-40B4-BE49-F238E27FC236}">
                <a16:creationId xmlns:a16="http://schemas.microsoft.com/office/drawing/2014/main" id="{A676A499-29FA-47BF-A2AB-2FE50BCC7320}"/>
              </a:ext>
            </a:extLst>
          </p:cNvPr>
          <p:cNvSpPr/>
          <p:nvPr/>
        </p:nvSpPr>
        <p:spPr>
          <a:xfrm>
            <a:off x="355600" y="4127500"/>
            <a:ext cx="8153400" cy="5842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p>
        </p:txBody>
      </p:sp>
      <p:sp>
        <p:nvSpPr>
          <p:cNvPr id="20" name="TextBox 19">
            <a:extLst>
              <a:ext uri="{FF2B5EF4-FFF2-40B4-BE49-F238E27FC236}">
                <a16:creationId xmlns:a16="http://schemas.microsoft.com/office/drawing/2014/main" id="{BFF890D5-960E-43F0-BEC4-E2F7BB2CA9EB}"/>
              </a:ext>
            </a:extLst>
          </p:cNvPr>
          <p:cNvSpPr txBox="1"/>
          <p:nvPr/>
        </p:nvSpPr>
        <p:spPr>
          <a:xfrm>
            <a:off x="533400" y="4216400"/>
            <a:ext cx="1841500" cy="152400"/>
          </a:xfrm>
          <a:prstGeom prst="rect">
            <a:avLst/>
          </a:prstGeom>
          <a:noFill/>
        </p:spPr>
        <p:txBody>
          <a:bodyPr vertOverflow="overflow" vert="horz" wrap="square" rtlCol="0" anchor="t">
            <a:noAutofit/>
          </a:bodyPr>
          <a:lstStyle/>
          <a:p>
            <a:pPr algn="l"/>
            <a:r>
              <a:rPr lang="en-IN" sz="800" b="1">
                <a:solidFill>
                  <a:srgbClr val="F8C43A"/>
                </a:solidFill>
                <a:latin typeface="Arial"/>
                <a:cs typeface="Arial"/>
              </a:rPr>
              <a:t>TOOLS + TECHNOLOGIES</a:t>
            </a:r>
          </a:p>
        </p:txBody>
      </p:sp>
      <p:sp>
        <p:nvSpPr>
          <p:cNvPr id="21" name="TextBox 20">
            <a:extLst>
              <a:ext uri="{FF2B5EF4-FFF2-40B4-BE49-F238E27FC236}">
                <a16:creationId xmlns:a16="http://schemas.microsoft.com/office/drawing/2014/main" id="{4F9A01F3-C77A-4A04-A0F4-BCD20740919A}"/>
              </a:ext>
            </a:extLst>
          </p:cNvPr>
          <p:cNvSpPr txBox="1"/>
          <p:nvPr/>
        </p:nvSpPr>
        <p:spPr>
          <a:xfrm>
            <a:off x="533400" y="4406900"/>
            <a:ext cx="3175000" cy="139700"/>
          </a:xfrm>
          <a:prstGeom prst="rect">
            <a:avLst/>
          </a:prstGeom>
          <a:noFill/>
        </p:spPr>
        <p:txBody>
          <a:bodyPr vertOverflow="overflow" vert="horz" wrap="square" rtlCol="0" anchor="t">
            <a:noAutofit/>
          </a:bodyPr>
          <a:lstStyle/>
          <a:p>
            <a:pPr algn="l"/>
            <a:r>
              <a:rPr lang="nn-NO" sz="850" b="1">
                <a:solidFill>
                  <a:srgbClr val="FFF4E8"/>
                </a:solidFill>
                <a:latin typeface="Arial"/>
                <a:cs typeface="Arial"/>
              </a:rPr>
              <a:t>Database  •  Microsoft SQL Server (SSMS)</a:t>
            </a:r>
            <a:endParaRPr lang="en-IN" sz="850" b="1">
              <a:solidFill>
                <a:srgbClr val="FFF4E8"/>
              </a:solidFill>
              <a:latin typeface="Arial"/>
              <a:cs typeface="Arial"/>
            </a:endParaRPr>
          </a:p>
        </p:txBody>
      </p:sp>
      <p:sp>
        <p:nvSpPr>
          <p:cNvPr id="22" name="TextBox 21">
            <a:extLst>
              <a:ext uri="{FF2B5EF4-FFF2-40B4-BE49-F238E27FC236}">
                <a16:creationId xmlns:a16="http://schemas.microsoft.com/office/drawing/2014/main" id="{2004B830-6C49-44BE-B177-378AA184BB8E}"/>
              </a:ext>
            </a:extLst>
          </p:cNvPr>
          <p:cNvSpPr txBox="1"/>
          <p:nvPr/>
        </p:nvSpPr>
        <p:spPr>
          <a:xfrm>
            <a:off x="3491593" y="4406900"/>
            <a:ext cx="1498600" cy="139700"/>
          </a:xfrm>
          <a:prstGeom prst="rect">
            <a:avLst/>
          </a:prstGeom>
          <a:noFill/>
        </p:spPr>
        <p:txBody>
          <a:bodyPr vertOverflow="overflow" vert="horz" wrap="square" rtlCol="0" anchor="t">
            <a:noAutofit/>
          </a:bodyPr>
          <a:lstStyle/>
          <a:p>
            <a:pPr algn="l"/>
            <a:r>
              <a:rPr lang="en-IN" sz="850" b="1" dirty="0">
                <a:solidFill>
                  <a:srgbClr val="FFF4E8"/>
                </a:solidFill>
                <a:latin typeface="Arial"/>
                <a:cs typeface="Arial"/>
              </a:rPr>
              <a:t>Language  •  SQL</a:t>
            </a:r>
          </a:p>
        </p:txBody>
      </p:sp>
      <p:sp>
        <p:nvSpPr>
          <p:cNvPr id="23" name="TextBox 22">
            <a:extLst>
              <a:ext uri="{FF2B5EF4-FFF2-40B4-BE49-F238E27FC236}">
                <a16:creationId xmlns:a16="http://schemas.microsoft.com/office/drawing/2014/main" id="{6CE2D848-935D-4FB3-985F-0174FC4ACEE7}"/>
              </a:ext>
            </a:extLst>
          </p:cNvPr>
          <p:cNvSpPr txBox="1"/>
          <p:nvPr/>
        </p:nvSpPr>
        <p:spPr>
          <a:xfrm>
            <a:off x="5334000" y="4343400"/>
            <a:ext cx="2984500" cy="203200"/>
          </a:xfrm>
          <a:prstGeom prst="rect">
            <a:avLst/>
          </a:prstGeom>
          <a:noFill/>
        </p:spPr>
        <p:txBody>
          <a:bodyPr vertOverflow="overflow" vert="horz" wrap="square" rtlCol="0" anchor="t">
            <a:noAutofit/>
          </a:bodyPr>
          <a:lstStyle/>
          <a:p>
            <a:pPr algn="l"/>
            <a:r>
              <a:rPr lang="en-US" sz="720" dirty="0">
                <a:solidFill>
                  <a:srgbClr val="D5C9C1"/>
                </a:solidFill>
                <a:latin typeface="Arial"/>
                <a:cs typeface="Arial"/>
              </a:rPr>
              <a:t>Joins  •  Aggregates  •  CTEs  •  Subqueries  •  Window Functions  •  Date/Time Functions</a:t>
            </a:r>
            <a:endParaRPr lang="en-IN" sz="720" dirty="0">
              <a:solidFill>
                <a:srgbClr val="D5C9C1"/>
              </a:solidFill>
              <a:latin typeface="Arial"/>
              <a:cs typeface="Arial"/>
            </a:endParaRPr>
          </a:p>
        </p:txBody>
      </p:sp>
      <p:sp>
        <p:nvSpPr>
          <p:cNvPr id="24" name="TextBox 23">
            <a:extLst>
              <a:ext uri="{FF2B5EF4-FFF2-40B4-BE49-F238E27FC236}">
                <a16:creationId xmlns:a16="http://schemas.microsoft.com/office/drawing/2014/main" id="{3A9DE032-F0FE-4092-8C52-DD00058170D8}"/>
              </a:ext>
            </a:extLst>
          </p:cNvPr>
          <p:cNvSpPr txBox="1"/>
          <p:nvPr/>
        </p:nvSpPr>
        <p:spPr>
          <a:xfrm>
            <a:off x="355600" y="4851400"/>
            <a:ext cx="7874000" cy="152400"/>
          </a:xfrm>
          <a:prstGeom prst="rect">
            <a:avLst/>
          </a:prstGeom>
          <a:noFill/>
        </p:spPr>
        <p:txBody>
          <a:bodyPr vertOverflow="overflow" vert="horz" wrap="square" rtlCol="0" anchor="t">
            <a:noAutofit/>
          </a:bodyPr>
          <a:lstStyle/>
          <a:p>
            <a:pPr algn="l"/>
            <a:r>
              <a:rPr lang="en-US" sz="750">
                <a:solidFill>
                  <a:srgbClr val="AFA39B"/>
                </a:solidFill>
                <a:latin typeface="Arial"/>
                <a:cs typeface="Arial"/>
              </a:rPr>
              <a:t>Objective map  |  Click through each lane to connect the SQL technique to the business question</a:t>
            </a:r>
            <a:endParaRPr lang="en-IN" sz="750">
              <a:solidFill>
                <a:srgbClr val="AFA39B"/>
              </a:solidFill>
              <a:latin typeface="Arial"/>
              <a:cs typeface="Arial"/>
            </a:endParaRPr>
          </a:p>
        </p:txBody>
      </p:sp>
    </p:spTree>
    <p:extLst>
      <p:ext uri="{BB962C8B-B14F-4D97-AF65-F5344CB8AC3E}">
        <p14:creationId xmlns:p14="http://schemas.microsoft.com/office/powerpoint/2010/main" val="602046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3CF149A-3369-4F6B-A3ED-B9C35F16D739}"/>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6" name="Rectangle 25">
            <a:extLst>
              <a:ext uri="{FF2B5EF4-FFF2-40B4-BE49-F238E27FC236}">
                <a16:creationId xmlns:a16="http://schemas.microsoft.com/office/drawing/2014/main" id="{A60D352A-5148-4217-B6DC-15C017EDBFB6}"/>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7" name="TextBox 26">
            <a:extLst>
              <a:ext uri="{FF2B5EF4-FFF2-40B4-BE49-F238E27FC236}">
                <a16:creationId xmlns:a16="http://schemas.microsoft.com/office/drawing/2014/main" id="{F9613308-A19E-4F69-8141-F469E03045DA}"/>
              </a:ext>
            </a:extLst>
          </p:cNvPr>
          <p:cNvSpPr txBox="1"/>
          <p:nvPr/>
        </p:nvSpPr>
        <p:spPr>
          <a:xfrm>
            <a:off x="419100" y="256721"/>
            <a:ext cx="4808764" cy="431800"/>
          </a:xfrm>
          <a:prstGeom prst="rect">
            <a:avLst/>
          </a:prstGeom>
          <a:noFill/>
        </p:spPr>
        <p:txBody>
          <a:bodyPr vertOverflow="overflow" vert="horz" wrap="square" rtlCol="0" anchor="t">
            <a:noAutofit/>
          </a:bodyPr>
          <a:lstStyle/>
          <a:p>
            <a:pPr algn="l"/>
            <a:r>
              <a:rPr lang="en-IN" sz="2400" b="1" dirty="0">
                <a:solidFill>
                  <a:srgbClr val="F8C43A"/>
                </a:solidFill>
                <a:latin typeface="Arial"/>
                <a:cs typeface="Arial"/>
              </a:rPr>
              <a:t>CASE STUDY QUESTIONS</a:t>
            </a:r>
          </a:p>
        </p:txBody>
      </p:sp>
      <p:sp>
        <p:nvSpPr>
          <p:cNvPr id="28" name="TextBox 27">
            <a:extLst>
              <a:ext uri="{FF2B5EF4-FFF2-40B4-BE49-F238E27FC236}">
                <a16:creationId xmlns:a16="http://schemas.microsoft.com/office/drawing/2014/main" id="{A1934723-741E-447A-9AD5-295A69DC15C0}"/>
              </a:ext>
            </a:extLst>
          </p:cNvPr>
          <p:cNvSpPr txBox="1"/>
          <p:nvPr/>
        </p:nvSpPr>
        <p:spPr>
          <a:xfrm>
            <a:off x="355600" y="762000"/>
            <a:ext cx="5461000" cy="330200"/>
          </a:xfrm>
          <a:prstGeom prst="rect">
            <a:avLst/>
          </a:prstGeom>
          <a:noFill/>
        </p:spPr>
        <p:txBody>
          <a:bodyPr vertOverflow="overflow" vert="horz" wrap="square" rtlCol="0" anchor="t">
            <a:noAutofit/>
          </a:bodyPr>
          <a:lstStyle/>
          <a:p>
            <a:pPr algn="l"/>
            <a:r>
              <a:rPr lang="en-US" b="1">
                <a:solidFill>
                  <a:srgbClr val="FFF4E8"/>
                </a:solidFill>
                <a:latin typeface="Georgia"/>
              </a:rPr>
              <a:t>What should the SQL analysis answer?</a:t>
            </a:r>
            <a:endParaRPr lang="en-IN" b="1">
              <a:solidFill>
                <a:srgbClr val="FFF4E8"/>
              </a:solidFill>
              <a:latin typeface="Georgia"/>
            </a:endParaRPr>
          </a:p>
        </p:txBody>
      </p:sp>
      <p:sp>
        <p:nvSpPr>
          <p:cNvPr id="29" name="TextBox 28">
            <a:extLst>
              <a:ext uri="{FF2B5EF4-FFF2-40B4-BE49-F238E27FC236}">
                <a16:creationId xmlns:a16="http://schemas.microsoft.com/office/drawing/2014/main" id="{7DD4C9DF-C362-4D13-B6A9-EC7532AE811A}"/>
              </a:ext>
            </a:extLst>
          </p:cNvPr>
          <p:cNvSpPr txBox="1"/>
          <p:nvPr/>
        </p:nvSpPr>
        <p:spPr>
          <a:xfrm>
            <a:off x="355600" y="1143000"/>
            <a:ext cx="6350000" cy="228600"/>
          </a:xfrm>
          <a:prstGeom prst="rect">
            <a:avLst/>
          </a:prstGeom>
          <a:noFill/>
        </p:spPr>
        <p:txBody>
          <a:bodyPr vertOverflow="overflow" vert="horz" wrap="square" rtlCol="0" anchor="t">
            <a:noAutofit/>
          </a:bodyPr>
          <a:lstStyle/>
          <a:p>
            <a:pPr algn="l"/>
            <a:r>
              <a:rPr lang="en-US" sz="850">
                <a:solidFill>
                  <a:srgbClr val="D5C9C1"/>
                </a:solidFill>
                <a:latin typeface="Arial"/>
                <a:cs typeface="Arial"/>
              </a:rPr>
              <a:t>A guided question set moving from order-level retrieval to revenue, timing, and trend analysis.</a:t>
            </a:r>
            <a:endParaRPr lang="en-IN" sz="850">
              <a:solidFill>
                <a:srgbClr val="D5C9C1"/>
              </a:solidFill>
              <a:latin typeface="Arial"/>
              <a:cs typeface="Arial"/>
            </a:endParaRPr>
          </a:p>
        </p:txBody>
      </p:sp>
      <p:sp>
        <p:nvSpPr>
          <p:cNvPr id="30" name="Rectangle: Rounded Corners 29">
            <a:extLst>
              <a:ext uri="{FF2B5EF4-FFF2-40B4-BE49-F238E27FC236}">
                <a16:creationId xmlns:a16="http://schemas.microsoft.com/office/drawing/2014/main" id="{79729624-3DAF-4B21-A9B5-1FBA2AD3A6FF}"/>
              </a:ext>
            </a:extLst>
          </p:cNvPr>
          <p:cNvSpPr/>
          <p:nvPr/>
        </p:nvSpPr>
        <p:spPr>
          <a:xfrm>
            <a:off x="355600" y="1574800"/>
            <a:ext cx="2514600" cy="25654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1" name="Rectangle 30">
            <a:extLst>
              <a:ext uri="{FF2B5EF4-FFF2-40B4-BE49-F238E27FC236}">
                <a16:creationId xmlns:a16="http://schemas.microsoft.com/office/drawing/2014/main" id="{2488B529-17A3-47D4-B4DD-407C527A96B4}"/>
              </a:ext>
            </a:extLst>
          </p:cNvPr>
          <p:cNvSpPr/>
          <p:nvPr/>
        </p:nvSpPr>
        <p:spPr>
          <a:xfrm>
            <a:off x="355600" y="1574800"/>
            <a:ext cx="2514600" cy="508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TextBox 31">
            <a:extLst>
              <a:ext uri="{FF2B5EF4-FFF2-40B4-BE49-F238E27FC236}">
                <a16:creationId xmlns:a16="http://schemas.microsoft.com/office/drawing/2014/main" id="{9F0CC301-A1EE-4FD6-AC4E-5E60A60DFFBF}"/>
              </a:ext>
            </a:extLst>
          </p:cNvPr>
          <p:cNvSpPr txBox="1"/>
          <p:nvPr/>
        </p:nvSpPr>
        <p:spPr>
          <a:xfrm>
            <a:off x="508000" y="1752600"/>
            <a:ext cx="2209800" cy="165100"/>
          </a:xfrm>
          <a:prstGeom prst="rect">
            <a:avLst/>
          </a:prstGeom>
          <a:noFill/>
        </p:spPr>
        <p:txBody>
          <a:bodyPr vertOverflow="overflow" vert="horz" wrap="square" rtlCol="0" anchor="t">
            <a:noAutofit/>
          </a:bodyPr>
          <a:lstStyle/>
          <a:p>
            <a:pPr algn="l"/>
            <a:r>
              <a:rPr lang="en-IN" sz="750" b="1">
                <a:solidFill>
                  <a:srgbClr val="F0442F"/>
                </a:solidFill>
                <a:latin typeface="Arial"/>
                <a:cs typeface="Arial"/>
              </a:rPr>
              <a:t>01  ORDER EXPLORATION</a:t>
            </a:r>
          </a:p>
        </p:txBody>
      </p:sp>
      <p:sp>
        <p:nvSpPr>
          <p:cNvPr id="33" name="TextBox 32">
            <a:extLst>
              <a:ext uri="{FF2B5EF4-FFF2-40B4-BE49-F238E27FC236}">
                <a16:creationId xmlns:a16="http://schemas.microsoft.com/office/drawing/2014/main" id="{7D1F90AC-E4C8-4A82-A54C-92F4D5A69A59}"/>
              </a:ext>
            </a:extLst>
          </p:cNvPr>
          <p:cNvSpPr txBox="1"/>
          <p:nvPr/>
        </p:nvSpPr>
        <p:spPr>
          <a:xfrm>
            <a:off x="508000" y="2006600"/>
            <a:ext cx="2209800" cy="1981200"/>
          </a:xfrm>
          <a:prstGeom prst="rect">
            <a:avLst/>
          </a:prstGeom>
          <a:noFill/>
        </p:spPr>
        <p:txBody>
          <a:bodyPr vertOverflow="overflow" vert="horz" wrap="square" rtlCol="0" anchor="t">
            <a:noAutofit/>
          </a:bodyPr>
          <a:lstStyle/>
          <a:p>
            <a:pPr algn="l"/>
            <a:r>
              <a:rPr lang="en-US" sz="800" dirty="0">
                <a:solidFill>
                  <a:srgbClr val="FFF4E8"/>
                </a:solidFill>
                <a:latin typeface="Arial"/>
                <a:cs typeface="Arial"/>
              </a:rPr>
              <a:t>1. Retrieve all orders placed on 2015-01-01.
2. List all distinct pizza categories.
3. Find the total number of pizzas ordered.
4. Get the top 5 most frequently ordered pizza types.
5. Show </a:t>
            </a:r>
            <a:r>
              <a:rPr lang="en-US" sz="800" dirty="0" err="1">
                <a:solidFill>
                  <a:srgbClr val="FFF4E8"/>
                </a:solidFill>
                <a:latin typeface="Arial"/>
                <a:cs typeface="Arial"/>
              </a:rPr>
              <a:t>order_id</a:t>
            </a:r>
            <a:r>
              <a:rPr lang="en-US" sz="800" dirty="0">
                <a:solidFill>
                  <a:srgbClr val="FFF4E8"/>
                </a:solidFill>
                <a:latin typeface="Arial"/>
                <a:cs typeface="Arial"/>
              </a:rPr>
              <a:t> and total pizzas ordered in each order.
6. Find the number of orders placed in each hour of the day.</a:t>
            </a:r>
            <a:endParaRPr lang="en-IN" sz="800" dirty="0">
              <a:solidFill>
                <a:srgbClr val="FFF4E8"/>
              </a:solidFill>
              <a:latin typeface="Arial"/>
              <a:cs typeface="Arial"/>
            </a:endParaRPr>
          </a:p>
        </p:txBody>
      </p:sp>
      <p:sp>
        <p:nvSpPr>
          <p:cNvPr id="34" name="Rectangle: Rounded Corners 33">
            <a:extLst>
              <a:ext uri="{FF2B5EF4-FFF2-40B4-BE49-F238E27FC236}">
                <a16:creationId xmlns:a16="http://schemas.microsoft.com/office/drawing/2014/main" id="{2AA3BBE0-8A3F-4FC1-88AB-7106679ED352}"/>
              </a:ext>
            </a:extLst>
          </p:cNvPr>
          <p:cNvSpPr/>
          <p:nvPr/>
        </p:nvSpPr>
        <p:spPr>
          <a:xfrm>
            <a:off x="3175000" y="1574800"/>
            <a:ext cx="2514600" cy="25654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3B2D7782-A6AB-4D7D-88B9-AE03DDF66979}"/>
              </a:ext>
            </a:extLst>
          </p:cNvPr>
          <p:cNvSpPr/>
          <p:nvPr/>
        </p:nvSpPr>
        <p:spPr>
          <a:xfrm>
            <a:off x="3175000" y="1574800"/>
            <a:ext cx="2514600" cy="50800"/>
          </a:xfrm>
          <a:prstGeom prst="rect">
            <a:avLst/>
          </a:prstGeom>
          <a:solidFill>
            <a:srgbClr val="E39A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6" name="TextBox 35">
            <a:extLst>
              <a:ext uri="{FF2B5EF4-FFF2-40B4-BE49-F238E27FC236}">
                <a16:creationId xmlns:a16="http://schemas.microsoft.com/office/drawing/2014/main" id="{6ABB9E2D-BC6D-47DF-B1C2-2521B0FA1C74}"/>
              </a:ext>
            </a:extLst>
          </p:cNvPr>
          <p:cNvSpPr txBox="1"/>
          <p:nvPr/>
        </p:nvSpPr>
        <p:spPr>
          <a:xfrm>
            <a:off x="3327400" y="1752600"/>
            <a:ext cx="2209800" cy="165100"/>
          </a:xfrm>
          <a:prstGeom prst="rect">
            <a:avLst/>
          </a:prstGeom>
          <a:noFill/>
        </p:spPr>
        <p:txBody>
          <a:bodyPr vertOverflow="overflow" vert="horz" wrap="square" rtlCol="0" anchor="t">
            <a:noAutofit/>
          </a:bodyPr>
          <a:lstStyle/>
          <a:p>
            <a:pPr algn="l"/>
            <a:r>
              <a:rPr lang="en-IN" sz="750" b="1">
                <a:solidFill>
                  <a:srgbClr val="E39A38"/>
                </a:solidFill>
                <a:latin typeface="Arial"/>
                <a:cs typeface="Arial"/>
              </a:rPr>
              <a:t>02  REVENUE + CUSTOMER</a:t>
            </a:r>
          </a:p>
        </p:txBody>
      </p:sp>
      <p:sp>
        <p:nvSpPr>
          <p:cNvPr id="37" name="TextBox 36">
            <a:extLst>
              <a:ext uri="{FF2B5EF4-FFF2-40B4-BE49-F238E27FC236}">
                <a16:creationId xmlns:a16="http://schemas.microsoft.com/office/drawing/2014/main" id="{A1C84425-6A5D-4D6A-9FD6-7458EA470E8B}"/>
              </a:ext>
            </a:extLst>
          </p:cNvPr>
          <p:cNvSpPr txBox="1"/>
          <p:nvPr/>
        </p:nvSpPr>
        <p:spPr>
          <a:xfrm>
            <a:off x="3327400" y="2006600"/>
            <a:ext cx="2209800" cy="1981200"/>
          </a:xfrm>
          <a:prstGeom prst="rect">
            <a:avLst/>
          </a:prstGeom>
          <a:noFill/>
        </p:spPr>
        <p:txBody>
          <a:bodyPr vertOverflow="overflow" vert="horz" wrap="square" rtlCol="0" anchor="t">
            <a:noAutofit/>
          </a:bodyPr>
          <a:lstStyle/>
          <a:p>
            <a:pPr algn="l"/>
            <a:r>
              <a:rPr lang="en-US" sz="800" dirty="0">
                <a:solidFill>
                  <a:srgbClr val="FFF4E8"/>
                </a:solidFill>
                <a:latin typeface="Arial"/>
                <a:cs typeface="Arial"/>
              </a:rPr>
              <a:t>7. Find the day of the week with the maximum number of orders.
8. Find the earliest and latest order time for each day.
9. Find total revenue from each pizza type and identify the top revenue category.
10. Find the average number of pizzas ordered per order.
11. List the top 3 orders by spend.
12. Calculate cumulative revenue throughout the day.</a:t>
            </a:r>
            <a:endParaRPr lang="en-IN" sz="800" dirty="0">
              <a:solidFill>
                <a:srgbClr val="FFF4E8"/>
              </a:solidFill>
              <a:latin typeface="Arial"/>
              <a:cs typeface="Arial"/>
            </a:endParaRPr>
          </a:p>
        </p:txBody>
      </p:sp>
      <p:sp>
        <p:nvSpPr>
          <p:cNvPr id="38" name="Rectangle: Rounded Corners 37">
            <a:extLst>
              <a:ext uri="{FF2B5EF4-FFF2-40B4-BE49-F238E27FC236}">
                <a16:creationId xmlns:a16="http://schemas.microsoft.com/office/drawing/2014/main" id="{7075B26B-619A-4BCF-A1F1-9E833172AE08}"/>
              </a:ext>
            </a:extLst>
          </p:cNvPr>
          <p:cNvSpPr/>
          <p:nvPr/>
        </p:nvSpPr>
        <p:spPr>
          <a:xfrm>
            <a:off x="5994400" y="1574800"/>
            <a:ext cx="2514600" cy="25654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Rectangle 38">
            <a:extLst>
              <a:ext uri="{FF2B5EF4-FFF2-40B4-BE49-F238E27FC236}">
                <a16:creationId xmlns:a16="http://schemas.microsoft.com/office/drawing/2014/main" id="{FA92B821-0AED-4440-B1C5-3332BC1B6752}"/>
              </a:ext>
            </a:extLst>
          </p:cNvPr>
          <p:cNvSpPr/>
          <p:nvPr/>
        </p:nvSpPr>
        <p:spPr>
          <a:xfrm>
            <a:off x="5994400" y="1574800"/>
            <a:ext cx="2514600" cy="50800"/>
          </a:xfrm>
          <a:prstGeom prst="rect">
            <a:avLst/>
          </a:prstGeom>
          <a:solidFill>
            <a:srgbClr val="3A8E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0" name="TextBox 39">
            <a:extLst>
              <a:ext uri="{FF2B5EF4-FFF2-40B4-BE49-F238E27FC236}">
                <a16:creationId xmlns:a16="http://schemas.microsoft.com/office/drawing/2014/main" id="{597425C6-B527-4F71-8A8F-BF77DD6E4BC8}"/>
              </a:ext>
            </a:extLst>
          </p:cNvPr>
          <p:cNvSpPr txBox="1"/>
          <p:nvPr/>
        </p:nvSpPr>
        <p:spPr>
          <a:xfrm>
            <a:off x="6146800" y="1752600"/>
            <a:ext cx="2209800" cy="165100"/>
          </a:xfrm>
          <a:prstGeom prst="rect">
            <a:avLst/>
          </a:prstGeom>
          <a:noFill/>
        </p:spPr>
        <p:txBody>
          <a:bodyPr vertOverflow="overflow" vert="horz" wrap="square" rtlCol="0" anchor="t">
            <a:noAutofit/>
          </a:bodyPr>
          <a:lstStyle/>
          <a:p>
            <a:pPr algn="l"/>
            <a:r>
              <a:rPr lang="en-IN" sz="750" b="1">
                <a:solidFill>
                  <a:srgbClr val="3A8E43"/>
                </a:solidFill>
                <a:latin typeface="Arial"/>
                <a:cs typeface="Arial"/>
              </a:rPr>
              <a:t>03  TRENDS + DIAGNOSTICS</a:t>
            </a:r>
          </a:p>
        </p:txBody>
      </p:sp>
      <p:sp>
        <p:nvSpPr>
          <p:cNvPr id="41" name="TextBox 40">
            <a:extLst>
              <a:ext uri="{FF2B5EF4-FFF2-40B4-BE49-F238E27FC236}">
                <a16:creationId xmlns:a16="http://schemas.microsoft.com/office/drawing/2014/main" id="{D30A3BF7-A65A-489C-9369-3C190BD4967E}"/>
              </a:ext>
            </a:extLst>
          </p:cNvPr>
          <p:cNvSpPr txBox="1"/>
          <p:nvPr/>
        </p:nvSpPr>
        <p:spPr>
          <a:xfrm>
            <a:off x="6146800" y="2006600"/>
            <a:ext cx="2209800" cy="1981200"/>
          </a:xfrm>
          <a:prstGeom prst="rect">
            <a:avLst/>
          </a:prstGeom>
          <a:noFill/>
        </p:spPr>
        <p:txBody>
          <a:bodyPr vertOverflow="overflow" vert="horz" wrap="square" rtlCol="0" anchor="t">
            <a:noAutofit/>
          </a:bodyPr>
          <a:lstStyle/>
          <a:p>
            <a:pPr algn="l"/>
            <a:r>
              <a:rPr lang="en-US" sz="800" dirty="0">
                <a:solidFill>
                  <a:srgbClr val="FFF4E8"/>
                </a:solidFill>
                <a:latin typeface="Arial"/>
                <a:cs typeface="Arial"/>
              </a:rPr>
              <a:t>13. Identify the least-ordered pizza.
14. Find each category's percentage contribution to total revenue.
15. Find the maximum order-time difference for each day.
16. Calculate the rolling sales average for the last 3 months.
17. Compare current vs. previous month sales and show only declines.</a:t>
            </a:r>
            <a:endParaRPr lang="en-IN" sz="800" dirty="0">
              <a:solidFill>
                <a:srgbClr val="FFF4E8"/>
              </a:solidFill>
              <a:latin typeface="Arial"/>
              <a:cs typeface="Arial"/>
            </a:endParaRPr>
          </a:p>
        </p:txBody>
      </p:sp>
      <p:sp>
        <p:nvSpPr>
          <p:cNvPr id="42" name="Rectangle: Rounded Corners 41">
            <a:extLst>
              <a:ext uri="{FF2B5EF4-FFF2-40B4-BE49-F238E27FC236}">
                <a16:creationId xmlns:a16="http://schemas.microsoft.com/office/drawing/2014/main" id="{5EAAFB99-7DBB-446A-BAB8-7ACC5A38E811}"/>
              </a:ext>
            </a:extLst>
          </p:cNvPr>
          <p:cNvSpPr/>
          <p:nvPr/>
        </p:nvSpPr>
        <p:spPr>
          <a:xfrm>
            <a:off x="355600" y="4343400"/>
            <a:ext cx="8153400" cy="381000"/>
          </a:xfrm>
          <a:prstGeom prst="roundRect">
            <a:avLst/>
          </a:prstGeom>
          <a:solidFill>
            <a:srgbClr val="2A23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3" name="TextBox 42">
            <a:extLst>
              <a:ext uri="{FF2B5EF4-FFF2-40B4-BE49-F238E27FC236}">
                <a16:creationId xmlns:a16="http://schemas.microsoft.com/office/drawing/2014/main" id="{3FC0FDCF-4746-4789-87C8-55A11F824559}"/>
              </a:ext>
            </a:extLst>
          </p:cNvPr>
          <p:cNvSpPr txBox="1"/>
          <p:nvPr/>
        </p:nvSpPr>
        <p:spPr>
          <a:xfrm>
            <a:off x="533400" y="4457700"/>
            <a:ext cx="7797800" cy="152400"/>
          </a:xfrm>
          <a:prstGeom prst="rect">
            <a:avLst/>
          </a:prstGeom>
          <a:noFill/>
        </p:spPr>
        <p:txBody>
          <a:bodyPr vertOverflow="overflow" vert="horz" wrap="square" rtlCol="0" anchor="t">
            <a:noAutofit/>
          </a:bodyPr>
          <a:lstStyle/>
          <a:p>
            <a:pPr algn="l"/>
            <a:r>
              <a:rPr lang="en-US" sz="740" b="1">
                <a:solidFill>
                  <a:srgbClr val="F8C43A"/>
                </a:solidFill>
                <a:latin typeface="Arial"/>
                <a:cs typeface="Arial"/>
              </a:rPr>
              <a:t>SQL TOOLKIT  •  SELECT  •  GROUP BY  •  DATEPART  •  CTEs  •  WINDOW FUNCTIONS  •  LAG  •  ROLLING AVERAGES</a:t>
            </a:r>
            <a:endParaRPr lang="en-IN" sz="740" b="1">
              <a:solidFill>
                <a:srgbClr val="F8C43A"/>
              </a:solidFill>
              <a:latin typeface="Arial"/>
              <a:cs typeface="Arial"/>
            </a:endParaRPr>
          </a:p>
        </p:txBody>
      </p:sp>
      <p:sp>
        <p:nvSpPr>
          <p:cNvPr id="44" name="TextBox 43">
            <a:extLst>
              <a:ext uri="{FF2B5EF4-FFF2-40B4-BE49-F238E27FC236}">
                <a16:creationId xmlns:a16="http://schemas.microsoft.com/office/drawing/2014/main" id="{F4F4CFA1-5988-402F-91DB-CFFD26DE367C}"/>
              </a:ext>
            </a:extLst>
          </p:cNvPr>
          <p:cNvSpPr txBox="1"/>
          <p:nvPr/>
        </p:nvSpPr>
        <p:spPr>
          <a:xfrm>
            <a:off x="355600" y="4851400"/>
            <a:ext cx="7874000" cy="152400"/>
          </a:xfrm>
          <a:prstGeom prst="rect">
            <a:avLst/>
          </a:prstGeom>
          <a:noFill/>
        </p:spPr>
        <p:txBody>
          <a:bodyPr vertOverflow="overflow" vert="horz" wrap="square" rtlCol="0" anchor="t">
            <a:noAutofit/>
          </a:bodyPr>
          <a:lstStyle/>
          <a:p>
            <a:pPr algn="l"/>
            <a:r>
              <a:rPr lang="en-US" sz="750">
                <a:solidFill>
                  <a:srgbClr val="AFA39B"/>
                </a:solidFill>
                <a:latin typeface="Arial"/>
                <a:cs typeface="Arial"/>
              </a:rPr>
              <a:t>Case study map  |  Follow the questions from raw orders to management insight</a:t>
            </a:r>
            <a:endParaRPr lang="en-IN" sz="750">
              <a:solidFill>
                <a:srgbClr val="AFA39B"/>
              </a:solidFill>
              <a:latin typeface="Arial"/>
              <a:cs typeface="Arial"/>
            </a:endParaRPr>
          </a:p>
        </p:txBody>
      </p:sp>
    </p:spTree>
    <p:extLst>
      <p:ext uri="{BB962C8B-B14F-4D97-AF65-F5344CB8AC3E}">
        <p14:creationId xmlns:p14="http://schemas.microsoft.com/office/powerpoint/2010/main" val="15948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2A098A-45FE-4B5E-A80B-C83F62CF8C95}"/>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p>
        </p:txBody>
      </p:sp>
      <p:sp>
        <p:nvSpPr>
          <p:cNvPr id="3" name="Rectangle 2">
            <a:extLst>
              <a:ext uri="{FF2B5EF4-FFF2-40B4-BE49-F238E27FC236}">
                <a16:creationId xmlns:a16="http://schemas.microsoft.com/office/drawing/2014/main" id="{591BF1DE-DA03-46ED-A973-7B7F7FB910FB}"/>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TextBox 3">
            <a:extLst>
              <a:ext uri="{FF2B5EF4-FFF2-40B4-BE49-F238E27FC236}">
                <a16:creationId xmlns:a16="http://schemas.microsoft.com/office/drawing/2014/main" id="{53D9F323-38BF-4643-AFF5-09B02FDE4C03}"/>
              </a:ext>
            </a:extLst>
          </p:cNvPr>
          <p:cNvSpPr txBox="1"/>
          <p:nvPr/>
        </p:nvSpPr>
        <p:spPr>
          <a:xfrm>
            <a:off x="419100" y="304800"/>
            <a:ext cx="4572000" cy="355600"/>
          </a:xfrm>
          <a:prstGeom prst="rect">
            <a:avLst/>
          </a:prstGeom>
          <a:noFill/>
        </p:spPr>
        <p:txBody>
          <a:bodyPr vertOverflow="overflow" vert="horz" wrap="square" rtlCol="0" anchor="t">
            <a:noAutofit/>
          </a:bodyPr>
          <a:lstStyle/>
          <a:p>
            <a:pPr algn="l"/>
            <a:r>
              <a:rPr lang="en-IN" b="1" u="sng" dirty="0">
                <a:solidFill>
                  <a:srgbClr val="FFF4E8"/>
                </a:solidFill>
                <a:latin typeface="Georgia"/>
              </a:rPr>
              <a:t>Pizza Sales Report</a:t>
            </a:r>
          </a:p>
        </p:txBody>
      </p:sp>
      <p:sp>
        <p:nvSpPr>
          <p:cNvPr id="5" name="TextBox 4">
            <a:extLst>
              <a:ext uri="{FF2B5EF4-FFF2-40B4-BE49-F238E27FC236}">
                <a16:creationId xmlns:a16="http://schemas.microsoft.com/office/drawing/2014/main" id="{22AB6239-46F6-0729-9BC8-EB50AD692489}"/>
              </a:ext>
            </a:extLst>
          </p:cNvPr>
          <p:cNvSpPr txBox="1"/>
          <p:nvPr/>
        </p:nvSpPr>
        <p:spPr>
          <a:xfrm>
            <a:off x="355600" y="736937"/>
            <a:ext cx="6131378" cy="369332"/>
          </a:xfrm>
          <a:prstGeom prst="rect">
            <a:avLst/>
          </a:prstGeom>
          <a:noFill/>
        </p:spPr>
        <p:txBody>
          <a:bodyPr wrap="square" rtlCol="0">
            <a:spAutoFit/>
          </a:bodyPr>
          <a:lstStyle/>
          <a:p>
            <a:r>
              <a:rPr lang="en-IN" b="1" dirty="0">
                <a:solidFill>
                  <a:schemeClr val="bg1"/>
                </a:solidFill>
              </a:rPr>
              <a:t>1. Retrieve all orders placed on 2015-01-01.</a:t>
            </a:r>
          </a:p>
        </p:txBody>
      </p:sp>
      <p:sp>
        <p:nvSpPr>
          <p:cNvPr id="6" name="TextBox 5">
            <a:extLst>
              <a:ext uri="{FF2B5EF4-FFF2-40B4-BE49-F238E27FC236}">
                <a16:creationId xmlns:a16="http://schemas.microsoft.com/office/drawing/2014/main" id="{2B39F755-5E9F-2415-B10C-298733873E9E}"/>
              </a:ext>
            </a:extLst>
          </p:cNvPr>
          <p:cNvSpPr txBox="1"/>
          <p:nvPr/>
        </p:nvSpPr>
        <p:spPr>
          <a:xfrm>
            <a:off x="620486" y="1060271"/>
            <a:ext cx="6359978" cy="646331"/>
          </a:xfrm>
          <a:prstGeom prst="rect">
            <a:avLst/>
          </a:prstGeom>
          <a:noFill/>
        </p:spPr>
        <p:txBody>
          <a:bodyPr wrap="square" rtlCol="0">
            <a:spAutoFit/>
          </a:bodyPr>
          <a:lstStyle/>
          <a:p>
            <a:r>
              <a:rPr lang="en-IN" dirty="0">
                <a:solidFill>
                  <a:schemeClr val="bg1"/>
                </a:solidFill>
              </a:rPr>
              <a:t>Query –</a:t>
            </a:r>
          </a:p>
          <a:p>
            <a:r>
              <a:rPr lang="en-IN" dirty="0">
                <a:solidFill>
                  <a:schemeClr val="accent1">
                    <a:lumMod val="40000"/>
                    <a:lumOff val="60000"/>
                  </a:schemeClr>
                </a:solidFill>
              </a:rPr>
              <a:t>select order_id, date from orders where date = '2015-01-01' </a:t>
            </a:r>
          </a:p>
        </p:txBody>
      </p:sp>
      <p:pic>
        <p:nvPicPr>
          <p:cNvPr id="8" name="Picture 7">
            <a:extLst>
              <a:ext uri="{FF2B5EF4-FFF2-40B4-BE49-F238E27FC236}">
                <a16:creationId xmlns:a16="http://schemas.microsoft.com/office/drawing/2014/main" id="{69A90CCE-B335-2AFB-785D-AFA91EAF4553}"/>
              </a:ext>
            </a:extLst>
          </p:cNvPr>
          <p:cNvPicPr>
            <a:picLocks noChangeAspect="1"/>
          </p:cNvPicPr>
          <p:nvPr/>
        </p:nvPicPr>
        <p:blipFill>
          <a:blip r:embed="rId2"/>
          <a:stretch>
            <a:fillRect/>
          </a:stretch>
        </p:blipFill>
        <p:spPr>
          <a:xfrm>
            <a:off x="718982" y="2260600"/>
            <a:ext cx="2219635" cy="2591162"/>
          </a:xfrm>
          <a:prstGeom prst="rect">
            <a:avLst/>
          </a:prstGeom>
        </p:spPr>
      </p:pic>
      <p:sp>
        <p:nvSpPr>
          <p:cNvPr id="9" name="TextBox 8">
            <a:extLst>
              <a:ext uri="{FF2B5EF4-FFF2-40B4-BE49-F238E27FC236}">
                <a16:creationId xmlns:a16="http://schemas.microsoft.com/office/drawing/2014/main" id="{4FDB5E29-5533-F582-6093-070F9584837A}"/>
              </a:ext>
            </a:extLst>
          </p:cNvPr>
          <p:cNvSpPr txBox="1"/>
          <p:nvPr/>
        </p:nvSpPr>
        <p:spPr>
          <a:xfrm>
            <a:off x="620486" y="1891268"/>
            <a:ext cx="2219635" cy="369332"/>
          </a:xfrm>
          <a:prstGeom prst="rect">
            <a:avLst/>
          </a:prstGeom>
          <a:noFill/>
        </p:spPr>
        <p:txBody>
          <a:bodyPr wrap="square" rtlCol="0">
            <a:spAutoFit/>
          </a:bodyPr>
          <a:lstStyle/>
          <a:p>
            <a:r>
              <a:rPr lang="en-US" dirty="0">
                <a:solidFill>
                  <a:schemeClr val="bg1"/>
                </a:solidFill>
              </a:rPr>
              <a:t>Result -</a:t>
            </a:r>
            <a:endParaRPr lang="en-IN" dirty="0">
              <a:solidFill>
                <a:schemeClr val="bg1"/>
              </a:solidFill>
            </a:endParaRPr>
          </a:p>
        </p:txBody>
      </p:sp>
    </p:spTree>
    <p:extLst>
      <p:ext uri="{BB962C8B-B14F-4D97-AF65-F5344CB8AC3E}">
        <p14:creationId xmlns:p14="http://schemas.microsoft.com/office/powerpoint/2010/main" val="365740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A1F2-DA9D-5987-2ABA-FAB0870D6A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64DC73-929E-DE2B-7736-7CA7FC555A6C}"/>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p>
        </p:txBody>
      </p:sp>
      <p:sp>
        <p:nvSpPr>
          <p:cNvPr id="3" name="Rectangle 2">
            <a:extLst>
              <a:ext uri="{FF2B5EF4-FFF2-40B4-BE49-F238E27FC236}">
                <a16:creationId xmlns:a16="http://schemas.microsoft.com/office/drawing/2014/main" id="{B792EA4A-9217-BE4D-D263-20A972EA57FA}"/>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TextBox 3">
            <a:extLst>
              <a:ext uri="{FF2B5EF4-FFF2-40B4-BE49-F238E27FC236}">
                <a16:creationId xmlns:a16="http://schemas.microsoft.com/office/drawing/2014/main" id="{AE8473A9-4092-8048-DA00-F7EDDD022CCC}"/>
              </a:ext>
            </a:extLst>
          </p:cNvPr>
          <p:cNvSpPr txBox="1"/>
          <p:nvPr/>
        </p:nvSpPr>
        <p:spPr>
          <a:xfrm>
            <a:off x="419100" y="304800"/>
            <a:ext cx="4572000" cy="355600"/>
          </a:xfrm>
          <a:prstGeom prst="rect">
            <a:avLst/>
          </a:prstGeom>
          <a:noFill/>
        </p:spPr>
        <p:txBody>
          <a:bodyPr vertOverflow="overflow" vert="horz" wrap="square" rtlCol="0" anchor="t">
            <a:noAutofit/>
          </a:bodyPr>
          <a:lstStyle/>
          <a:p>
            <a:pPr algn="l"/>
            <a:r>
              <a:rPr lang="en-IN" b="1" u="sng" dirty="0">
                <a:solidFill>
                  <a:srgbClr val="FFF4E8"/>
                </a:solidFill>
                <a:latin typeface="Georgia"/>
              </a:rPr>
              <a:t>Pizza Sales Report</a:t>
            </a:r>
          </a:p>
        </p:txBody>
      </p:sp>
      <p:sp>
        <p:nvSpPr>
          <p:cNvPr id="5" name="TextBox 4">
            <a:extLst>
              <a:ext uri="{FF2B5EF4-FFF2-40B4-BE49-F238E27FC236}">
                <a16:creationId xmlns:a16="http://schemas.microsoft.com/office/drawing/2014/main" id="{654AF2EC-C6E5-FF15-8344-8CB02B36288E}"/>
              </a:ext>
            </a:extLst>
          </p:cNvPr>
          <p:cNvSpPr txBox="1"/>
          <p:nvPr/>
        </p:nvSpPr>
        <p:spPr>
          <a:xfrm>
            <a:off x="419100" y="736937"/>
            <a:ext cx="6131378" cy="369332"/>
          </a:xfrm>
          <a:prstGeom prst="rect">
            <a:avLst/>
          </a:prstGeom>
          <a:noFill/>
        </p:spPr>
        <p:txBody>
          <a:bodyPr wrap="square" rtlCol="0">
            <a:spAutoFit/>
          </a:bodyPr>
          <a:lstStyle/>
          <a:p>
            <a:r>
              <a:rPr lang="en-IN" b="1" dirty="0">
                <a:solidFill>
                  <a:schemeClr val="bg1"/>
                </a:solidFill>
              </a:rPr>
              <a:t>2. List all distinct pizza categories available.</a:t>
            </a:r>
          </a:p>
        </p:txBody>
      </p:sp>
      <p:sp>
        <p:nvSpPr>
          <p:cNvPr id="6" name="TextBox 5">
            <a:extLst>
              <a:ext uri="{FF2B5EF4-FFF2-40B4-BE49-F238E27FC236}">
                <a16:creationId xmlns:a16="http://schemas.microsoft.com/office/drawing/2014/main" id="{DA517608-0B78-AE49-FA38-B8729A136908}"/>
              </a:ext>
            </a:extLst>
          </p:cNvPr>
          <p:cNvSpPr txBox="1"/>
          <p:nvPr/>
        </p:nvSpPr>
        <p:spPr>
          <a:xfrm>
            <a:off x="609600" y="1027265"/>
            <a:ext cx="6359978" cy="646331"/>
          </a:xfrm>
          <a:prstGeom prst="rect">
            <a:avLst/>
          </a:prstGeom>
          <a:noFill/>
        </p:spPr>
        <p:txBody>
          <a:bodyPr wrap="square" rtlCol="0">
            <a:spAutoFit/>
          </a:bodyPr>
          <a:lstStyle/>
          <a:p>
            <a:r>
              <a:rPr lang="en-IN" dirty="0">
                <a:solidFill>
                  <a:schemeClr val="bg1"/>
                </a:solidFill>
              </a:rPr>
              <a:t>Query –</a:t>
            </a:r>
          </a:p>
          <a:p>
            <a:r>
              <a:rPr lang="en-IN" dirty="0">
                <a:solidFill>
                  <a:schemeClr val="accent1">
                    <a:lumMod val="40000"/>
                    <a:lumOff val="60000"/>
                  </a:schemeClr>
                </a:solidFill>
              </a:rPr>
              <a:t>select distinct(category) Distinct_pizza from pizza_types</a:t>
            </a:r>
          </a:p>
        </p:txBody>
      </p:sp>
      <p:pic>
        <p:nvPicPr>
          <p:cNvPr id="8" name="Picture 7">
            <a:extLst>
              <a:ext uri="{FF2B5EF4-FFF2-40B4-BE49-F238E27FC236}">
                <a16:creationId xmlns:a16="http://schemas.microsoft.com/office/drawing/2014/main" id="{C3A1A084-51F3-A6CF-316D-356DDD242790}"/>
              </a:ext>
            </a:extLst>
          </p:cNvPr>
          <p:cNvPicPr>
            <a:picLocks noChangeAspect="1"/>
          </p:cNvPicPr>
          <p:nvPr/>
        </p:nvPicPr>
        <p:blipFill>
          <a:blip r:embed="rId2"/>
          <a:srcRect/>
          <a:stretch/>
        </p:blipFill>
        <p:spPr>
          <a:xfrm>
            <a:off x="718982" y="2387534"/>
            <a:ext cx="2219635" cy="1718863"/>
          </a:xfrm>
          <a:prstGeom prst="rect">
            <a:avLst/>
          </a:prstGeom>
        </p:spPr>
      </p:pic>
      <p:sp>
        <p:nvSpPr>
          <p:cNvPr id="9" name="TextBox 8">
            <a:extLst>
              <a:ext uri="{FF2B5EF4-FFF2-40B4-BE49-F238E27FC236}">
                <a16:creationId xmlns:a16="http://schemas.microsoft.com/office/drawing/2014/main" id="{E24BD411-2B4D-B182-7FC9-983A28CA03C9}"/>
              </a:ext>
            </a:extLst>
          </p:cNvPr>
          <p:cNvSpPr txBox="1"/>
          <p:nvPr/>
        </p:nvSpPr>
        <p:spPr>
          <a:xfrm>
            <a:off x="620486" y="1891268"/>
            <a:ext cx="2219635" cy="369332"/>
          </a:xfrm>
          <a:prstGeom prst="rect">
            <a:avLst/>
          </a:prstGeom>
          <a:noFill/>
        </p:spPr>
        <p:txBody>
          <a:bodyPr wrap="square" rtlCol="0">
            <a:spAutoFit/>
          </a:bodyPr>
          <a:lstStyle/>
          <a:p>
            <a:r>
              <a:rPr lang="en-US" dirty="0">
                <a:solidFill>
                  <a:schemeClr val="bg1"/>
                </a:solidFill>
              </a:rPr>
              <a:t>Result -</a:t>
            </a:r>
            <a:endParaRPr lang="en-IN" dirty="0">
              <a:solidFill>
                <a:schemeClr val="bg1"/>
              </a:solidFill>
            </a:endParaRPr>
          </a:p>
        </p:txBody>
      </p:sp>
    </p:spTree>
    <p:extLst>
      <p:ext uri="{BB962C8B-B14F-4D97-AF65-F5344CB8AC3E}">
        <p14:creationId xmlns:p14="http://schemas.microsoft.com/office/powerpoint/2010/main" val="1035579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47DD6-0FDC-40A5-7A12-B1427CB8EC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40D5BE-487B-5D34-DE6F-4B0553E9C635}"/>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0A293B24-1D0C-2132-7625-59F171D66B1A}"/>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5252D0FA-5BBC-84F2-CB50-95B68A273A23}"/>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E801113F-690B-C344-FDFB-729C9282B01A}"/>
              </a:ext>
            </a:extLst>
          </p:cNvPr>
          <p:cNvSpPr txBox="1"/>
          <p:nvPr/>
        </p:nvSpPr>
        <p:spPr>
          <a:xfrm>
            <a:off x="355600" y="715665"/>
            <a:ext cx="6131378" cy="369332"/>
          </a:xfrm>
          <a:prstGeom prst="rect">
            <a:avLst/>
          </a:prstGeom>
          <a:noFill/>
        </p:spPr>
        <p:txBody>
          <a:bodyPr wrap="square" rtlCol="0">
            <a:spAutoFit/>
          </a:bodyPr>
          <a:lstStyle/>
          <a:p>
            <a:r>
              <a:rPr lang="en-IN" b="1" dirty="0">
                <a:solidFill>
                  <a:schemeClr val="bg1"/>
                </a:solidFill>
              </a:rPr>
              <a:t>3. Find total number of pizzas ordered.</a:t>
            </a:r>
          </a:p>
        </p:txBody>
      </p:sp>
      <p:sp>
        <p:nvSpPr>
          <p:cNvPr id="6" name="TextBox 5">
            <a:extLst>
              <a:ext uri="{FF2B5EF4-FFF2-40B4-BE49-F238E27FC236}">
                <a16:creationId xmlns:a16="http://schemas.microsoft.com/office/drawing/2014/main" id="{01930F4B-219F-5C91-23A2-2F18BF47E2F8}"/>
              </a:ext>
            </a:extLst>
          </p:cNvPr>
          <p:cNvSpPr txBox="1"/>
          <p:nvPr/>
        </p:nvSpPr>
        <p:spPr>
          <a:xfrm>
            <a:off x="609600" y="1027265"/>
            <a:ext cx="635997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rPr>
              <a:t>Query –</a:t>
            </a:r>
          </a:p>
          <a:p>
            <a:r>
              <a:rPr lang="en-IN" dirty="0">
                <a:solidFill>
                  <a:schemeClr val="accent1">
                    <a:lumMod val="40000"/>
                    <a:lumOff val="60000"/>
                  </a:schemeClr>
                </a:solidFill>
              </a:rPr>
              <a:t>select sum(quantity) Total_Pizzas from orders_details </a:t>
            </a:r>
          </a:p>
        </p:txBody>
      </p:sp>
      <p:pic>
        <p:nvPicPr>
          <p:cNvPr id="8" name="Picture 7">
            <a:extLst>
              <a:ext uri="{FF2B5EF4-FFF2-40B4-BE49-F238E27FC236}">
                <a16:creationId xmlns:a16="http://schemas.microsoft.com/office/drawing/2014/main" id="{97989646-9B99-1384-BD28-0489CA36BFE7}"/>
              </a:ext>
            </a:extLst>
          </p:cNvPr>
          <p:cNvPicPr>
            <a:picLocks noChangeAspect="1"/>
          </p:cNvPicPr>
          <p:nvPr/>
        </p:nvPicPr>
        <p:blipFill>
          <a:blip r:embed="rId2"/>
          <a:srcRect/>
          <a:stretch/>
        </p:blipFill>
        <p:spPr>
          <a:xfrm>
            <a:off x="718982" y="2399459"/>
            <a:ext cx="2219635" cy="840979"/>
          </a:xfrm>
          <a:prstGeom prst="rect">
            <a:avLst/>
          </a:prstGeom>
        </p:spPr>
      </p:pic>
      <p:sp>
        <p:nvSpPr>
          <p:cNvPr id="9" name="TextBox 8">
            <a:extLst>
              <a:ext uri="{FF2B5EF4-FFF2-40B4-BE49-F238E27FC236}">
                <a16:creationId xmlns:a16="http://schemas.microsoft.com/office/drawing/2014/main" id="{2729137B-3401-6F63-3C60-8E2AD7E71DE4}"/>
              </a:ext>
            </a:extLst>
          </p:cNvPr>
          <p:cNvSpPr txBox="1"/>
          <p:nvPr/>
        </p:nvSpPr>
        <p:spPr>
          <a:xfrm>
            <a:off x="620486" y="1891268"/>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613308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C029C-387D-9E37-06E6-13AF7E1EAF9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A1C207-C426-0FC4-EB7C-2EC74DC75847}"/>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934E4A7F-86A7-86FE-615E-4378E60E70DF}"/>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DD326D54-CCBD-2CCE-FC4A-2C6F955413C4}"/>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5DE5608C-6365-A7AC-D93D-2FA1E5C893C1}"/>
              </a:ext>
            </a:extLst>
          </p:cNvPr>
          <p:cNvSpPr txBox="1"/>
          <p:nvPr/>
        </p:nvSpPr>
        <p:spPr>
          <a:xfrm>
            <a:off x="419100" y="715665"/>
            <a:ext cx="6131378" cy="369332"/>
          </a:xfrm>
          <a:prstGeom prst="rect">
            <a:avLst/>
          </a:prstGeom>
          <a:noFill/>
        </p:spPr>
        <p:txBody>
          <a:bodyPr wrap="square" rtlCol="0">
            <a:spAutoFit/>
          </a:bodyPr>
          <a:lstStyle/>
          <a:p>
            <a:r>
              <a:rPr lang="en-IN" b="1" dirty="0">
                <a:solidFill>
                  <a:schemeClr val="bg1"/>
                </a:solidFill>
              </a:rPr>
              <a:t>4. Get the top 5 most frequently ordered pizza types.</a:t>
            </a:r>
          </a:p>
        </p:txBody>
      </p:sp>
      <p:sp>
        <p:nvSpPr>
          <p:cNvPr id="6" name="TextBox 5">
            <a:extLst>
              <a:ext uri="{FF2B5EF4-FFF2-40B4-BE49-F238E27FC236}">
                <a16:creationId xmlns:a16="http://schemas.microsoft.com/office/drawing/2014/main" id="{5809A908-134B-D06F-4936-E50F474A2348}"/>
              </a:ext>
            </a:extLst>
          </p:cNvPr>
          <p:cNvSpPr txBox="1"/>
          <p:nvPr/>
        </p:nvSpPr>
        <p:spPr>
          <a:xfrm>
            <a:off x="651782" y="1024981"/>
            <a:ext cx="7195457"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top 5 pt.pizza_type_id, sum(od.quantity) Total_Quantity </a:t>
            </a:r>
          </a:p>
          <a:p>
            <a:r>
              <a:rPr lang="en-IN" sz="1600" dirty="0">
                <a:solidFill>
                  <a:schemeClr val="accent1">
                    <a:lumMod val="40000"/>
                    <a:lumOff val="60000"/>
                  </a:schemeClr>
                </a:solidFill>
              </a:rPr>
              <a:t>from pizza_types pt join pizzas p on pt.pizza_type_id = p.pizza_type_id</a:t>
            </a:r>
          </a:p>
          <a:p>
            <a:r>
              <a:rPr lang="en-IN" sz="1600" dirty="0">
                <a:solidFill>
                  <a:schemeClr val="accent1">
                    <a:lumMod val="40000"/>
                    <a:lumOff val="60000"/>
                  </a:schemeClr>
                </a:solidFill>
              </a:rPr>
              <a:t>join orders_details od on od.pizza_id = p.pizza_id</a:t>
            </a:r>
          </a:p>
          <a:p>
            <a:r>
              <a:rPr lang="en-IN" sz="1600" dirty="0">
                <a:solidFill>
                  <a:schemeClr val="accent1">
                    <a:lumMod val="40000"/>
                    <a:lumOff val="60000"/>
                  </a:schemeClr>
                </a:solidFill>
              </a:rPr>
              <a:t>group by pt.pizza_type_id order by Total_Quantity desc </a:t>
            </a:r>
          </a:p>
        </p:txBody>
      </p:sp>
      <p:pic>
        <p:nvPicPr>
          <p:cNvPr id="8" name="Picture 7">
            <a:extLst>
              <a:ext uri="{FF2B5EF4-FFF2-40B4-BE49-F238E27FC236}">
                <a16:creationId xmlns:a16="http://schemas.microsoft.com/office/drawing/2014/main" id="{5AA414DE-FA52-336B-3E23-197B38F14FF2}"/>
              </a:ext>
            </a:extLst>
          </p:cNvPr>
          <p:cNvPicPr>
            <a:picLocks noChangeAspect="1"/>
          </p:cNvPicPr>
          <p:nvPr/>
        </p:nvPicPr>
        <p:blipFill>
          <a:blip r:embed="rId2"/>
          <a:srcRect/>
          <a:stretch/>
        </p:blipFill>
        <p:spPr>
          <a:xfrm>
            <a:off x="715739" y="2952911"/>
            <a:ext cx="2769050" cy="1474924"/>
          </a:xfrm>
          <a:prstGeom prst="rect">
            <a:avLst/>
          </a:prstGeom>
        </p:spPr>
      </p:pic>
      <p:sp>
        <p:nvSpPr>
          <p:cNvPr id="9" name="TextBox 8">
            <a:extLst>
              <a:ext uri="{FF2B5EF4-FFF2-40B4-BE49-F238E27FC236}">
                <a16:creationId xmlns:a16="http://schemas.microsoft.com/office/drawing/2014/main" id="{5E61049C-BD04-48BA-2066-202B03B78448}"/>
              </a:ext>
            </a:extLst>
          </p:cNvPr>
          <p:cNvSpPr txBox="1"/>
          <p:nvPr/>
        </p:nvSpPr>
        <p:spPr>
          <a:xfrm>
            <a:off x="651782" y="2504985"/>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835891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6110A-5FEC-83AA-FD32-3FC6CAAC2C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3CFD8C-57C2-F663-A6F5-19C4E7296ECC}"/>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C3E8AB30-68C5-DF49-EA1C-88F81A1D863E}"/>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5ACF3E3B-8530-9C19-9464-04C5F77D7CE8}"/>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AAD647CF-097E-F322-5733-4C3E333E1C29}"/>
              </a:ext>
            </a:extLst>
          </p:cNvPr>
          <p:cNvSpPr txBox="1"/>
          <p:nvPr/>
        </p:nvSpPr>
        <p:spPr>
          <a:xfrm>
            <a:off x="419100" y="715665"/>
            <a:ext cx="6131378" cy="369332"/>
          </a:xfrm>
          <a:prstGeom prst="rect">
            <a:avLst/>
          </a:prstGeom>
          <a:noFill/>
        </p:spPr>
        <p:txBody>
          <a:bodyPr wrap="square" rtlCol="0">
            <a:spAutoFit/>
          </a:bodyPr>
          <a:lstStyle/>
          <a:p>
            <a:r>
              <a:rPr lang="en-IN" b="1" dirty="0">
                <a:solidFill>
                  <a:schemeClr val="bg1"/>
                </a:solidFill>
              </a:rPr>
              <a:t>5. Show order_id and total pizzas ordered in each order.</a:t>
            </a:r>
          </a:p>
        </p:txBody>
      </p:sp>
      <p:sp>
        <p:nvSpPr>
          <p:cNvPr id="6" name="TextBox 5">
            <a:extLst>
              <a:ext uri="{FF2B5EF4-FFF2-40B4-BE49-F238E27FC236}">
                <a16:creationId xmlns:a16="http://schemas.microsoft.com/office/drawing/2014/main" id="{AC69B9B5-B027-B97E-0280-9ED047FB96E8}"/>
              </a:ext>
            </a:extLst>
          </p:cNvPr>
          <p:cNvSpPr txBox="1"/>
          <p:nvPr/>
        </p:nvSpPr>
        <p:spPr>
          <a:xfrm>
            <a:off x="651782" y="1024981"/>
            <a:ext cx="719545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order_id, sum(quantity) Total_Pizzas from orders_details</a:t>
            </a:r>
          </a:p>
          <a:p>
            <a:r>
              <a:rPr lang="en-IN" sz="1600" dirty="0">
                <a:solidFill>
                  <a:schemeClr val="accent1">
                    <a:lumMod val="40000"/>
                    <a:lumOff val="60000"/>
                  </a:schemeClr>
                </a:solidFill>
              </a:rPr>
              <a:t>group by order_id order by order_id </a:t>
            </a:r>
          </a:p>
        </p:txBody>
      </p:sp>
      <p:pic>
        <p:nvPicPr>
          <p:cNvPr id="8" name="Picture 7">
            <a:extLst>
              <a:ext uri="{FF2B5EF4-FFF2-40B4-BE49-F238E27FC236}">
                <a16:creationId xmlns:a16="http://schemas.microsoft.com/office/drawing/2014/main" id="{5A02CC7C-74AE-CED0-4C22-A1120117308A}"/>
              </a:ext>
            </a:extLst>
          </p:cNvPr>
          <p:cNvPicPr>
            <a:picLocks noChangeAspect="1"/>
          </p:cNvPicPr>
          <p:nvPr/>
        </p:nvPicPr>
        <p:blipFill>
          <a:blip r:embed="rId2"/>
          <a:srcRect/>
          <a:stretch/>
        </p:blipFill>
        <p:spPr>
          <a:xfrm>
            <a:off x="718004" y="2375255"/>
            <a:ext cx="2219634" cy="2463445"/>
          </a:xfrm>
          <a:prstGeom prst="rect">
            <a:avLst/>
          </a:prstGeom>
        </p:spPr>
      </p:pic>
      <p:sp>
        <p:nvSpPr>
          <p:cNvPr id="9" name="TextBox 8">
            <a:extLst>
              <a:ext uri="{FF2B5EF4-FFF2-40B4-BE49-F238E27FC236}">
                <a16:creationId xmlns:a16="http://schemas.microsoft.com/office/drawing/2014/main" id="{A31F9646-556C-1C9F-BAC7-B83A7681941E}"/>
              </a:ext>
            </a:extLst>
          </p:cNvPr>
          <p:cNvSpPr txBox="1"/>
          <p:nvPr/>
        </p:nvSpPr>
        <p:spPr>
          <a:xfrm>
            <a:off x="651782" y="2005923"/>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2937968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85073-A758-BE4F-3BD9-2DF32A2B64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16D5BF6-4D75-72AC-45CA-519BFC6921C8}"/>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2C3AD585-A78A-2989-7B0D-86B5AD403B42}"/>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186009D2-63B8-6CF7-C161-7DFF36295876}"/>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5F2CF42A-C35E-1367-EBBE-636833107D85}"/>
              </a:ext>
            </a:extLst>
          </p:cNvPr>
          <p:cNvSpPr txBox="1"/>
          <p:nvPr/>
        </p:nvSpPr>
        <p:spPr>
          <a:xfrm>
            <a:off x="419100" y="715665"/>
            <a:ext cx="6953250" cy="369332"/>
          </a:xfrm>
          <a:prstGeom prst="rect">
            <a:avLst/>
          </a:prstGeom>
          <a:noFill/>
        </p:spPr>
        <p:txBody>
          <a:bodyPr wrap="square" rtlCol="0">
            <a:spAutoFit/>
          </a:bodyPr>
          <a:lstStyle/>
          <a:p>
            <a:r>
              <a:rPr lang="en-IN" b="1" dirty="0">
                <a:solidFill>
                  <a:schemeClr val="bg1"/>
                </a:solidFill>
              </a:rPr>
              <a:t>6. Find the number of orders placed in each hour of the day.</a:t>
            </a:r>
          </a:p>
        </p:txBody>
      </p:sp>
      <p:sp>
        <p:nvSpPr>
          <p:cNvPr id="6" name="TextBox 5">
            <a:extLst>
              <a:ext uri="{FF2B5EF4-FFF2-40B4-BE49-F238E27FC236}">
                <a16:creationId xmlns:a16="http://schemas.microsoft.com/office/drawing/2014/main" id="{53488807-1817-AD94-4D39-1AD942AD6BF0}"/>
              </a:ext>
            </a:extLst>
          </p:cNvPr>
          <p:cNvSpPr txBox="1"/>
          <p:nvPr/>
        </p:nvSpPr>
        <p:spPr>
          <a:xfrm>
            <a:off x="651782" y="1024981"/>
            <a:ext cx="7414532"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DATENAME(HOUR, time) HRS, count(distinct order_id) </a:t>
            </a:r>
          </a:p>
          <a:p>
            <a:r>
              <a:rPr lang="en-IN" sz="1600" dirty="0">
                <a:solidFill>
                  <a:schemeClr val="accent1">
                    <a:lumMod val="40000"/>
                    <a:lumOff val="60000"/>
                  </a:schemeClr>
                </a:solidFill>
              </a:rPr>
              <a:t>Total_Orders from orders</a:t>
            </a:r>
          </a:p>
          <a:p>
            <a:r>
              <a:rPr lang="en-IN" sz="1600" dirty="0">
                <a:solidFill>
                  <a:schemeClr val="accent1">
                    <a:lumMod val="40000"/>
                    <a:lumOff val="60000"/>
                  </a:schemeClr>
                </a:solidFill>
              </a:rPr>
              <a:t>group by DATENAME(HOUR, time) order by HRS</a:t>
            </a:r>
          </a:p>
        </p:txBody>
      </p:sp>
      <p:pic>
        <p:nvPicPr>
          <p:cNvPr id="8" name="Picture 7">
            <a:extLst>
              <a:ext uri="{FF2B5EF4-FFF2-40B4-BE49-F238E27FC236}">
                <a16:creationId xmlns:a16="http://schemas.microsoft.com/office/drawing/2014/main" id="{CC607573-130B-B578-B6F1-5E49768040A5}"/>
              </a:ext>
            </a:extLst>
          </p:cNvPr>
          <p:cNvPicPr>
            <a:picLocks noChangeAspect="1"/>
          </p:cNvPicPr>
          <p:nvPr/>
        </p:nvPicPr>
        <p:blipFill>
          <a:blip r:embed="rId2"/>
          <a:srcRect/>
          <a:stretch/>
        </p:blipFill>
        <p:spPr>
          <a:xfrm>
            <a:off x="749752" y="2504985"/>
            <a:ext cx="2219635" cy="2463445"/>
          </a:xfrm>
          <a:prstGeom prst="rect">
            <a:avLst/>
          </a:prstGeom>
        </p:spPr>
      </p:pic>
      <p:sp>
        <p:nvSpPr>
          <p:cNvPr id="9" name="TextBox 8">
            <a:extLst>
              <a:ext uri="{FF2B5EF4-FFF2-40B4-BE49-F238E27FC236}">
                <a16:creationId xmlns:a16="http://schemas.microsoft.com/office/drawing/2014/main" id="{EEB67700-B853-C764-AE0F-7232CA172849}"/>
              </a:ext>
            </a:extLst>
          </p:cNvPr>
          <p:cNvSpPr txBox="1"/>
          <p:nvPr/>
        </p:nvSpPr>
        <p:spPr>
          <a:xfrm>
            <a:off x="651782" y="2135653"/>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2530676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4B7D-2342-C2A4-54E3-654F03BE2B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AF2BAF-6EDC-3AEF-9F6D-7B1F1DFF09BC}"/>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EF43330E-EA71-E4D1-CDCF-527B8B17A957}"/>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3F1FB352-C9F4-B9A9-F536-4C8913DE92E0}"/>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8D5E7196-0838-29AD-BC31-8CC8CCF757A2}"/>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7. Find the day of the week on which the maximum number of orders were placed.</a:t>
            </a:r>
          </a:p>
        </p:txBody>
      </p:sp>
      <p:sp>
        <p:nvSpPr>
          <p:cNvPr id="6" name="TextBox 5">
            <a:extLst>
              <a:ext uri="{FF2B5EF4-FFF2-40B4-BE49-F238E27FC236}">
                <a16:creationId xmlns:a16="http://schemas.microsoft.com/office/drawing/2014/main" id="{A46B71A8-C2C6-30C7-36E4-34874FFFC606}"/>
              </a:ext>
            </a:extLst>
          </p:cNvPr>
          <p:cNvSpPr txBox="1"/>
          <p:nvPr/>
        </p:nvSpPr>
        <p:spPr>
          <a:xfrm>
            <a:off x="651782" y="1024981"/>
            <a:ext cx="7414532"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top 1 DATENAME(WEEKDAY, date) </a:t>
            </a:r>
            <a:r>
              <a:rPr lang="en-IN" sz="1600" dirty="0" err="1">
                <a:solidFill>
                  <a:schemeClr val="accent1">
                    <a:lumMod val="40000"/>
                    <a:lumOff val="60000"/>
                  </a:schemeClr>
                </a:solidFill>
              </a:rPr>
              <a:t>Dayname</a:t>
            </a:r>
            <a:r>
              <a:rPr lang="en-IN" sz="1600" dirty="0">
                <a:solidFill>
                  <a:schemeClr val="accent1">
                    <a:lumMod val="40000"/>
                    <a:lumOff val="60000"/>
                  </a:schemeClr>
                </a:solidFill>
              </a:rPr>
              <a:t>, count(</a:t>
            </a:r>
            <a:r>
              <a:rPr lang="en-IN" sz="1600" dirty="0" err="1">
                <a:solidFill>
                  <a:schemeClr val="accent1">
                    <a:lumMod val="40000"/>
                    <a:lumOff val="60000"/>
                  </a:schemeClr>
                </a:solidFill>
              </a:rPr>
              <a:t>order_id</a:t>
            </a:r>
            <a:r>
              <a:rPr lang="en-IN" sz="1600" dirty="0">
                <a:solidFill>
                  <a:schemeClr val="accent1">
                    <a:lumMod val="40000"/>
                    <a:lumOff val="60000"/>
                  </a:schemeClr>
                </a:solidFill>
              </a:rPr>
              <a:t>) </a:t>
            </a:r>
          </a:p>
          <a:p>
            <a:r>
              <a:rPr lang="en-IN" sz="1600" dirty="0" err="1">
                <a:solidFill>
                  <a:schemeClr val="accent1">
                    <a:lumMod val="40000"/>
                    <a:lumOff val="60000"/>
                  </a:schemeClr>
                </a:solidFill>
              </a:rPr>
              <a:t>Total_Orders</a:t>
            </a:r>
            <a:r>
              <a:rPr lang="en-IN" sz="1600" dirty="0">
                <a:solidFill>
                  <a:schemeClr val="accent1">
                    <a:lumMod val="40000"/>
                    <a:lumOff val="60000"/>
                  </a:schemeClr>
                </a:solidFill>
              </a:rPr>
              <a:t> from orders </a:t>
            </a:r>
          </a:p>
          <a:p>
            <a:r>
              <a:rPr lang="en-IN" sz="1600" dirty="0">
                <a:solidFill>
                  <a:schemeClr val="accent1">
                    <a:lumMod val="40000"/>
                    <a:lumOff val="60000"/>
                  </a:schemeClr>
                </a:solidFill>
              </a:rPr>
              <a:t>group by DATENAME(WEEKDAY, date) order by </a:t>
            </a:r>
            <a:r>
              <a:rPr lang="en-IN" sz="1600" dirty="0" err="1">
                <a:solidFill>
                  <a:schemeClr val="accent1">
                    <a:lumMod val="40000"/>
                    <a:lumOff val="60000"/>
                  </a:schemeClr>
                </a:solidFill>
              </a:rPr>
              <a:t>Total_Orders</a:t>
            </a:r>
            <a:r>
              <a:rPr lang="en-IN" sz="1600" dirty="0">
                <a:solidFill>
                  <a:schemeClr val="accent1">
                    <a:lumMod val="40000"/>
                    <a:lumOff val="60000"/>
                  </a:schemeClr>
                </a:solidFill>
              </a:rPr>
              <a:t> </a:t>
            </a:r>
            <a:r>
              <a:rPr lang="en-IN" sz="1600" dirty="0" err="1">
                <a:solidFill>
                  <a:schemeClr val="accent1">
                    <a:lumMod val="40000"/>
                    <a:lumOff val="60000"/>
                  </a:schemeClr>
                </a:solidFill>
              </a:rPr>
              <a:t>desc</a:t>
            </a:r>
            <a:endParaRPr lang="en-IN" sz="1600" dirty="0">
              <a:solidFill>
                <a:schemeClr val="accent1">
                  <a:lumMod val="40000"/>
                  <a:lumOff val="60000"/>
                </a:schemeClr>
              </a:solidFill>
            </a:endParaRPr>
          </a:p>
        </p:txBody>
      </p:sp>
      <p:pic>
        <p:nvPicPr>
          <p:cNvPr id="8" name="Picture 7">
            <a:extLst>
              <a:ext uri="{FF2B5EF4-FFF2-40B4-BE49-F238E27FC236}">
                <a16:creationId xmlns:a16="http://schemas.microsoft.com/office/drawing/2014/main" id="{39E5C98A-CB8F-4AAF-363E-054EE8A73FF6}"/>
              </a:ext>
            </a:extLst>
          </p:cNvPr>
          <p:cNvPicPr>
            <a:picLocks noChangeAspect="1"/>
          </p:cNvPicPr>
          <p:nvPr/>
        </p:nvPicPr>
        <p:blipFill>
          <a:blip r:embed="rId2"/>
          <a:srcRect/>
          <a:stretch/>
        </p:blipFill>
        <p:spPr>
          <a:xfrm>
            <a:off x="743222" y="2835671"/>
            <a:ext cx="2940533" cy="738109"/>
          </a:xfrm>
          <a:prstGeom prst="rect">
            <a:avLst/>
          </a:prstGeom>
        </p:spPr>
      </p:pic>
      <p:sp>
        <p:nvSpPr>
          <p:cNvPr id="9" name="TextBox 8">
            <a:extLst>
              <a:ext uri="{FF2B5EF4-FFF2-40B4-BE49-F238E27FC236}">
                <a16:creationId xmlns:a16="http://schemas.microsoft.com/office/drawing/2014/main" id="{FEAF7882-9686-9B70-1742-780001C1D314}"/>
              </a:ext>
            </a:extLst>
          </p:cNvPr>
          <p:cNvSpPr txBox="1"/>
          <p:nvPr/>
        </p:nvSpPr>
        <p:spPr>
          <a:xfrm>
            <a:off x="651782" y="2322546"/>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4107278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C5C0-92A9-518B-160C-A35EC6BAE1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184E0A-AE16-792C-6A12-FC17D8E58FB0}"/>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6B7F971A-9BFF-6E9F-57B6-D6384A3D8839}"/>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D029FEE2-CCAC-20A1-4FA5-831227E1563E}"/>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D5060B31-EF7C-8AC8-E31C-B3AAD2C7ABC3}"/>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8. Find the earliest and latest order time for each day.</a:t>
            </a:r>
          </a:p>
        </p:txBody>
      </p:sp>
      <p:sp>
        <p:nvSpPr>
          <p:cNvPr id="6" name="TextBox 5">
            <a:extLst>
              <a:ext uri="{FF2B5EF4-FFF2-40B4-BE49-F238E27FC236}">
                <a16:creationId xmlns:a16="http://schemas.microsoft.com/office/drawing/2014/main" id="{3D6BBE9B-E33C-5840-8E0B-6C024637D9FC}"/>
              </a:ext>
            </a:extLst>
          </p:cNvPr>
          <p:cNvSpPr txBox="1"/>
          <p:nvPr/>
        </p:nvSpPr>
        <p:spPr>
          <a:xfrm>
            <a:off x="651782" y="1024981"/>
            <a:ext cx="7414532"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DATENAME(WEEKDAY, date) </a:t>
            </a:r>
            <a:r>
              <a:rPr lang="en-IN" sz="1600" dirty="0" err="1">
                <a:solidFill>
                  <a:schemeClr val="accent1">
                    <a:lumMod val="40000"/>
                    <a:lumOff val="60000"/>
                  </a:schemeClr>
                </a:solidFill>
              </a:rPr>
              <a:t>Day_name</a:t>
            </a:r>
            <a:r>
              <a:rPr lang="en-IN" sz="1600" dirty="0">
                <a:solidFill>
                  <a:schemeClr val="accent1">
                    <a:lumMod val="40000"/>
                    <a:lumOff val="60000"/>
                  </a:schemeClr>
                </a:solidFill>
              </a:rPr>
              <a:t>, MIN(time) Earliest, MAX(time) Latest </a:t>
            </a:r>
          </a:p>
          <a:p>
            <a:r>
              <a:rPr lang="en-IN" sz="1600" dirty="0">
                <a:solidFill>
                  <a:schemeClr val="accent1">
                    <a:lumMod val="40000"/>
                    <a:lumOff val="60000"/>
                  </a:schemeClr>
                </a:solidFill>
              </a:rPr>
              <a:t>from orders group by DATENAME(WEEKDAY, date) </a:t>
            </a:r>
          </a:p>
        </p:txBody>
      </p:sp>
      <p:pic>
        <p:nvPicPr>
          <p:cNvPr id="8" name="Picture 7">
            <a:extLst>
              <a:ext uri="{FF2B5EF4-FFF2-40B4-BE49-F238E27FC236}">
                <a16:creationId xmlns:a16="http://schemas.microsoft.com/office/drawing/2014/main" id="{6E9DFD6A-B3D0-BDE5-3DD2-6AD8D5B780E9}"/>
              </a:ext>
            </a:extLst>
          </p:cNvPr>
          <p:cNvPicPr>
            <a:picLocks noChangeAspect="1"/>
          </p:cNvPicPr>
          <p:nvPr/>
        </p:nvPicPr>
        <p:blipFill>
          <a:blip r:embed="rId2"/>
          <a:srcRect/>
          <a:stretch/>
        </p:blipFill>
        <p:spPr>
          <a:xfrm>
            <a:off x="775292" y="2745194"/>
            <a:ext cx="3699282" cy="1796326"/>
          </a:xfrm>
          <a:prstGeom prst="rect">
            <a:avLst/>
          </a:prstGeom>
        </p:spPr>
      </p:pic>
      <p:sp>
        <p:nvSpPr>
          <p:cNvPr id="9" name="TextBox 8">
            <a:extLst>
              <a:ext uri="{FF2B5EF4-FFF2-40B4-BE49-F238E27FC236}">
                <a16:creationId xmlns:a16="http://schemas.microsoft.com/office/drawing/2014/main" id="{C0339331-764B-3218-FCD8-31073CC83A99}"/>
              </a:ext>
            </a:extLst>
          </p:cNvPr>
          <p:cNvSpPr txBox="1"/>
          <p:nvPr/>
        </p:nvSpPr>
        <p:spPr>
          <a:xfrm>
            <a:off x="651782" y="2322546"/>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266485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EDBB-8418-4167-6093-78FB9BEB24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C52C940-3CC4-C2B9-5C9F-EE57E3C89DEF}"/>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09895CDD-7C51-3E32-2E32-FB7F433940FD}"/>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710D1DC1-58C2-C61E-11B0-FA125D693F6C}"/>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E5E66B88-AF3C-AFE3-A115-62C2C1A541DC}"/>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9.Find the total revenue generated from each pizza type.</a:t>
            </a:r>
          </a:p>
        </p:txBody>
      </p:sp>
      <p:sp>
        <p:nvSpPr>
          <p:cNvPr id="6" name="TextBox 5">
            <a:extLst>
              <a:ext uri="{FF2B5EF4-FFF2-40B4-BE49-F238E27FC236}">
                <a16:creationId xmlns:a16="http://schemas.microsoft.com/office/drawing/2014/main" id="{BF54DD05-2996-2BCA-0525-A84AC2BF19EB}"/>
              </a:ext>
            </a:extLst>
          </p:cNvPr>
          <p:cNvSpPr txBox="1"/>
          <p:nvPr/>
        </p:nvSpPr>
        <p:spPr>
          <a:xfrm>
            <a:off x="651782" y="1024981"/>
            <a:ext cx="74145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a:t>
            </a:r>
            <a:r>
              <a:rPr lang="en-IN" sz="1600" dirty="0" err="1">
                <a:solidFill>
                  <a:schemeClr val="accent1">
                    <a:lumMod val="40000"/>
                    <a:lumOff val="60000"/>
                  </a:schemeClr>
                </a:solidFill>
              </a:rPr>
              <a:t>pt.pizza_type_id</a:t>
            </a:r>
            <a:r>
              <a:rPr lang="en-IN" sz="1600" dirty="0">
                <a:solidFill>
                  <a:schemeClr val="accent1">
                    <a:lumMod val="40000"/>
                    <a:lumOff val="60000"/>
                  </a:schemeClr>
                </a:solidFill>
              </a:rPr>
              <a:t>, 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a:t>
            </a:r>
            <a:r>
              <a:rPr lang="en-IN" sz="1600" dirty="0" err="1">
                <a:solidFill>
                  <a:schemeClr val="accent1">
                    <a:lumMod val="40000"/>
                    <a:lumOff val="60000"/>
                  </a:schemeClr>
                </a:solidFill>
              </a:rPr>
              <a:t>p.price</a:t>
            </a:r>
            <a:r>
              <a:rPr lang="en-IN" sz="1600" dirty="0">
                <a:solidFill>
                  <a:schemeClr val="accent1">
                    <a:lumMod val="40000"/>
                    <a:lumOff val="60000"/>
                  </a:schemeClr>
                </a:solidFill>
              </a:rPr>
              <a:t>),2) </a:t>
            </a:r>
            <a:r>
              <a:rPr lang="en-IN" sz="1600" dirty="0" err="1">
                <a:solidFill>
                  <a:schemeClr val="accent1">
                    <a:lumMod val="40000"/>
                    <a:lumOff val="60000"/>
                  </a:schemeClr>
                </a:solidFill>
              </a:rPr>
              <a:t>Total_revenue</a:t>
            </a:r>
            <a:r>
              <a:rPr lang="en-IN" sz="1600" dirty="0">
                <a:solidFill>
                  <a:schemeClr val="accent1">
                    <a:lumMod val="40000"/>
                    <a:lumOff val="60000"/>
                  </a:schemeClr>
                </a:solidFill>
              </a:rPr>
              <a:t> </a:t>
            </a:r>
          </a:p>
          <a:p>
            <a:r>
              <a:rPr lang="en-IN" sz="1600" dirty="0">
                <a:solidFill>
                  <a:schemeClr val="accent1">
                    <a:lumMod val="40000"/>
                    <a:lumOff val="60000"/>
                  </a:schemeClr>
                </a:solidFill>
              </a:rPr>
              <a:t>from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od join pizzas p on</a:t>
            </a:r>
          </a:p>
          <a:p>
            <a:r>
              <a:rPr lang="en-IN" sz="1600" dirty="0" err="1">
                <a:solidFill>
                  <a:schemeClr val="accent1">
                    <a:lumMod val="40000"/>
                    <a:lumOff val="60000"/>
                  </a:schemeClr>
                </a:solidFill>
              </a:rPr>
              <a:t>od.pizza_id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p.pizza_id</a:t>
            </a:r>
            <a:r>
              <a:rPr lang="en-IN" sz="1600" dirty="0">
                <a:solidFill>
                  <a:schemeClr val="accent1">
                    <a:lumMod val="40000"/>
                    <a:lumOff val="60000"/>
                  </a:schemeClr>
                </a:solidFill>
              </a:rPr>
              <a:t> join </a:t>
            </a:r>
            <a:r>
              <a:rPr lang="en-IN" sz="1600" dirty="0" err="1">
                <a:solidFill>
                  <a:schemeClr val="accent1">
                    <a:lumMod val="40000"/>
                    <a:lumOff val="60000"/>
                  </a:schemeClr>
                </a:solidFill>
              </a:rPr>
              <a:t>pizza_types</a:t>
            </a:r>
            <a:r>
              <a:rPr lang="en-IN" sz="1600" dirty="0">
                <a:solidFill>
                  <a:schemeClr val="accent1">
                    <a:lumMod val="40000"/>
                    <a:lumOff val="60000"/>
                  </a:schemeClr>
                </a:solidFill>
              </a:rPr>
              <a:t> pt on</a:t>
            </a:r>
          </a:p>
          <a:p>
            <a:r>
              <a:rPr lang="en-IN" sz="1600" dirty="0" err="1">
                <a:solidFill>
                  <a:schemeClr val="accent1">
                    <a:lumMod val="40000"/>
                    <a:lumOff val="60000"/>
                  </a:schemeClr>
                </a:solidFill>
              </a:rPr>
              <a:t>pt.pizza_type_id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p.pizza_type_id</a:t>
            </a:r>
            <a:r>
              <a:rPr lang="en-IN" sz="1600" dirty="0">
                <a:solidFill>
                  <a:schemeClr val="accent1">
                    <a:lumMod val="40000"/>
                    <a:lumOff val="60000"/>
                  </a:schemeClr>
                </a:solidFill>
              </a:rPr>
              <a:t> group by </a:t>
            </a:r>
            <a:r>
              <a:rPr lang="en-IN" sz="1600" dirty="0" err="1">
                <a:solidFill>
                  <a:schemeClr val="accent1">
                    <a:lumMod val="40000"/>
                    <a:lumOff val="60000"/>
                  </a:schemeClr>
                </a:solidFill>
              </a:rPr>
              <a:t>pt.pizza_type_id</a:t>
            </a:r>
            <a:endParaRPr lang="en-IN" sz="1600" dirty="0">
              <a:solidFill>
                <a:schemeClr val="accent1">
                  <a:lumMod val="40000"/>
                  <a:lumOff val="60000"/>
                </a:schemeClr>
              </a:solidFill>
            </a:endParaRPr>
          </a:p>
        </p:txBody>
      </p:sp>
      <p:pic>
        <p:nvPicPr>
          <p:cNvPr id="8" name="Picture 7">
            <a:extLst>
              <a:ext uri="{FF2B5EF4-FFF2-40B4-BE49-F238E27FC236}">
                <a16:creationId xmlns:a16="http://schemas.microsoft.com/office/drawing/2014/main" id="{38F5585B-A34C-68AB-9272-3946A95DCDFE}"/>
              </a:ext>
            </a:extLst>
          </p:cNvPr>
          <p:cNvPicPr>
            <a:picLocks noChangeAspect="1"/>
          </p:cNvPicPr>
          <p:nvPr/>
        </p:nvPicPr>
        <p:blipFill>
          <a:blip r:embed="rId2"/>
          <a:srcRect/>
          <a:stretch/>
        </p:blipFill>
        <p:spPr>
          <a:xfrm>
            <a:off x="777647" y="2909352"/>
            <a:ext cx="2300833" cy="1978020"/>
          </a:xfrm>
          <a:prstGeom prst="rect">
            <a:avLst/>
          </a:prstGeom>
        </p:spPr>
      </p:pic>
      <p:sp>
        <p:nvSpPr>
          <p:cNvPr id="9" name="TextBox 8">
            <a:extLst>
              <a:ext uri="{FF2B5EF4-FFF2-40B4-BE49-F238E27FC236}">
                <a16:creationId xmlns:a16="http://schemas.microsoft.com/office/drawing/2014/main" id="{0CFA77CF-6657-28D4-56A1-9936C8BEE0D7}"/>
              </a:ext>
            </a:extLst>
          </p:cNvPr>
          <p:cNvSpPr txBox="1"/>
          <p:nvPr/>
        </p:nvSpPr>
        <p:spPr>
          <a:xfrm>
            <a:off x="651782" y="2507212"/>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441703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F0E82-E026-6019-C3F4-593F96CC69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61A6C5-2832-E6F3-F3A5-B513533522ED}"/>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C242C9B6-3CB5-890C-084F-B0F2199C794C}"/>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23C2E99D-8711-3A56-ADF2-091BD3AB4DBB}"/>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FF660E70-BE2E-EE97-239C-75775954F6F3}"/>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10. Which pizza category generated the maximum revenue?</a:t>
            </a:r>
          </a:p>
        </p:txBody>
      </p:sp>
      <p:sp>
        <p:nvSpPr>
          <p:cNvPr id="6" name="TextBox 5">
            <a:extLst>
              <a:ext uri="{FF2B5EF4-FFF2-40B4-BE49-F238E27FC236}">
                <a16:creationId xmlns:a16="http://schemas.microsoft.com/office/drawing/2014/main" id="{088918F7-6973-1021-2594-BD337887F661}"/>
              </a:ext>
            </a:extLst>
          </p:cNvPr>
          <p:cNvSpPr txBox="1"/>
          <p:nvPr/>
        </p:nvSpPr>
        <p:spPr>
          <a:xfrm>
            <a:off x="651782" y="1024981"/>
            <a:ext cx="7414532"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top 1 </a:t>
            </a:r>
            <a:r>
              <a:rPr lang="en-IN" sz="1600" dirty="0" err="1">
                <a:solidFill>
                  <a:schemeClr val="accent1">
                    <a:lumMod val="40000"/>
                    <a:lumOff val="60000"/>
                  </a:schemeClr>
                </a:solidFill>
              </a:rPr>
              <a:t>pt.category</a:t>
            </a:r>
            <a:r>
              <a:rPr lang="en-IN" sz="1600" dirty="0">
                <a:solidFill>
                  <a:schemeClr val="accent1">
                    <a:lumMod val="40000"/>
                    <a:lumOff val="60000"/>
                  </a:schemeClr>
                </a:solidFill>
              </a:rPr>
              <a:t>, 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a:t>
            </a:r>
            <a:r>
              <a:rPr lang="en-IN" sz="1600" dirty="0" err="1">
                <a:solidFill>
                  <a:schemeClr val="accent1">
                    <a:lumMod val="40000"/>
                    <a:lumOff val="60000"/>
                  </a:schemeClr>
                </a:solidFill>
              </a:rPr>
              <a:t>p.price</a:t>
            </a:r>
            <a:r>
              <a:rPr lang="en-IN" sz="1600" dirty="0">
                <a:solidFill>
                  <a:schemeClr val="accent1">
                    <a:lumMod val="40000"/>
                    <a:lumOff val="60000"/>
                  </a:schemeClr>
                </a:solidFill>
              </a:rPr>
              <a:t>),2) </a:t>
            </a:r>
            <a:r>
              <a:rPr lang="en-IN" sz="1600" dirty="0" err="1">
                <a:solidFill>
                  <a:schemeClr val="accent1">
                    <a:lumMod val="40000"/>
                    <a:lumOff val="60000"/>
                  </a:schemeClr>
                </a:solidFill>
              </a:rPr>
              <a:t>Total_revenue</a:t>
            </a:r>
            <a:r>
              <a:rPr lang="en-IN" sz="1600" dirty="0">
                <a:solidFill>
                  <a:schemeClr val="accent1">
                    <a:lumMod val="40000"/>
                    <a:lumOff val="60000"/>
                  </a:schemeClr>
                </a:solidFill>
              </a:rPr>
              <a:t> </a:t>
            </a:r>
          </a:p>
          <a:p>
            <a:r>
              <a:rPr lang="en-IN" sz="1600" dirty="0">
                <a:solidFill>
                  <a:schemeClr val="accent1">
                    <a:lumMod val="40000"/>
                    <a:lumOff val="60000"/>
                  </a:schemeClr>
                </a:solidFill>
              </a:rPr>
              <a:t>from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od join pizzas p on</a:t>
            </a:r>
          </a:p>
          <a:p>
            <a:r>
              <a:rPr lang="en-IN" sz="1600" dirty="0" err="1">
                <a:solidFill>
                  <a:schemeClr val="accent1">
                    <a:lumMod val="40000"/>
                    <a:lumOff val="60000"/>
                  </a:schemeClr>
                </a:solidFill>
              </a:rPr>
              <a:t>od.pizza_id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p.pizza_id</a:t>
            </a:r>
            <a:r>
              <a:rPr lang="en-IN" sz="1600" dirty="0">
                <a:solidFill>
                  <a:schemeClr val="accent1">
                    <a:lumMod val="40000"/>
                    <a:lumOff val="60000"/>
                  </a:schemeClr>
                </a:solidFill>
              </a:rPr>
              <a:t> join </a:t>
            </a:r>
            <a:r>
              <a:rPr lang="en-IN" sz="1600" dirty="0" err="1">
                <a:solidFill>
                  <a:schemeClr val="accent1">
                    <a:lumMod val="40000"/>
                    <a:lumOff val="60000"/>
                  </a:schemeClr>
                </a:solidFill>
              </a:rPr>
              <a:t>pizza_types</a:t>
            </a:r>
            <a:r>
              <a:rPr lang="en-IN" sz="1600" dirty="0">
                <a:solidFill>
                  <a:schemeClr val="accent1">
                    <a:lumMod val="40000"/>
                    <a:lumOff val="60000"/>
                  </a:schemeClr>
                </a:solidFill>
              </a:rPr>
              <a:t> pt on</a:t>
            </a:r>
          </a:p>
          <a:p>
            <a:r>
              <a:rPr lang="en-IN" sz="1600" dirty="0" err="1">
                <a:solidFill>
                  <a:schemeClr val="accent1">
                    <a:lumMod val="40000"/>
                    <a:lumOff val="60000"/>
                  </a:schemeClr>
                </a:solidFill>
              </a:rPr>
              <a:t>pt.pizza_type_id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p.pizza_type_id</a:t>
            </a:r>
            <a:r>
              <a:rPr lang="en-IN" sz="1600" dirty="0">
                <a:solidFill>
                  <a:schemeClr val="accent1">
                    <a:lumMod val="40000"/>
                    <a:lumOff val="60000"/>
                  </a:schemeClr>
                </a:solidFill>
              </a:rPr>
              <a:t> group by </a:t>
            </a:r>
            <a:r>
              <a:rPr lang="en-IN" sz="1600" dirty="0" err="1">
                <a:solidFill>
                  <a:schemeClr val="accent1">
                    <a:lumMod val="40000"/>
                    <a:lumOff val="60000"/>
                  </a:schemeClr>
                </a:solidFill>
              </a:rPr>
              <a:t>pt.category</a:t>
            </a:r>
            <a:r>
              <a:rPr lang="en-IN" sz="1600" dirty="0">
                <a:solidFill>
                  <a:schemeClr val="accent1">
                    <a:lumMod val="40000"/>
                    <a:lumOff val="60000"/>
                  </a:schemeClr>
                </a:solidFill>
              </a:rPr>
              <a:t> </a:t>
            </a:r>
          </a:p>
          <a:p>
            <a:r>
              <a:rPr lang="en-IN" sz="1600" dirty="0">
                <a:solidFill>
                  <a:schemeClr val="accent1">
                    <a:lumMod val="40000"/>
                    <a:lumOff val="60000"/>
                  </a:schemeClr>
                </a:solidFill>
              </a:rPr>
              <a:t>order by </a:t>
            </a:r>
            <a:r>
              <a:rPr lang="en-IN" sz="1600" dirty="0" err="1">
                <a:solidFill>
                  <a:schemeClr val="accent1">
                    <a:lumMod val="40000"/>
                    <a:lumOff val="60000"/>
                  </a:schemeClr>
                </a:solidFill>
              </a:rPr>
              <a:t>Total_revenue</a:t>
            </a:r>
            <a:r>
              <a:rPr lang="en-IN" sz="1600" dirty="0">
                <a:solidFill>
                  <a:schemeClr val="accent1">
                    <a:lumMod val="40000"/>
                    <a:lumOff val="60000"/>
                  </a:schemeClr>
                </a:solidFill>
              </a:rPr>
              <a:t> </a:t>
            </a:r>
            <a:r>
              <a:rPr lang="en-IN" sz="1600" dirty="0" err="1">
                <a:solidFill>
                  <a:schemeClr val="accent1">
                    <a:lumMod val="40000"/>
                    <a:lumOff val="60000"/>
                  </a:schemeClr>
                </a:solidFill>
              </a:rPr>
              <a:t>desc</a:t>
            </a:r>
            <a:r>
              <a:rPr lang="en-IN" sz="1600" dirty="0">
                <a:solidFill>
                  <a:schemeClr val="accent1">
                    <a:lumMod val="40000"/>
                    <a:lumOff val="60000"/>
                  </a:schemeClr>
                </a:solidFill>
              </a:rPr>
              <a:t> </a:t>
            </a:r>
          </a:p>
        </p:txBody>
      </p:sp>
      <p:pic>
        <p:nvPicPr>
          <p:cNvPr id="8" name="Picture 7">
            <a:extLst>
              <a:ext uri="{FF2B5EF4-FFF2-40B4-BE49-F238E27FC236}">
                <a16:creationId xmlns:a16="http://schemas.microsoft.com/office/drawing/2014/main" id="{A7918792-EAB4-8C37-FFD5-FF256E961AAA}"/>
              </a:ext>
            </a:extLst>
          </p:cNvPr>
          <p:cNvPicPr>
            <a:picLocks noChangeAspect="1"/>
          </p:cNvPicPr>
          <p:nvPr/>
        </p:nvPicPr>
        <p:blipFill>
          <a:blip r:embed="rId2"/>
          <a:srcRect/>
          <a:stretch/>
        </p:blipFill>
        <p:spPr>
          <a:xfrm>
            <a:off x="777647" y="3291642"/>
            <a:ext cx="2300833" cy="577428"/>
          </a:xfrm>
          <a:prstGeom prst="rect">
            <a:avLst/>
          </a:prstGeom>
        </p:spPr>
      </p:pic>
      <p:sp>
        <p:nvSpPr>
          <p:cNvPr id="9" name="TextBox 8">
            <a:extLst>
              <a:ext uri="{FF2B5EF4-FFF2-40B4-BE49-F238E27FC236}">
                <a16:creationId xmlns:a16="http://schemas.microsoft.com/office/drawing/2014/main" id="{152E2634-4637-C02F-3A84-5F9DE6CE8138}"/>
              </a:ext>
            </a:extLst>
          </p:cNvPr>
          <p:cNvSpPr txBox="1"/>
          <p:nvPr/>
        </p:nvSpPr>
        <p:spPr>
          <a:xfrm>
            <a:off x="651782" y="2876544"/>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2710194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918B-CF1F-81E6-5824-DC6337F1FF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B23B67F-245F-DD95-ABD5-E4096E9561AE}"/>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0307A791-D20C-B8B8-6398-557B49408554}"/>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CBDB017D-C1C3-CF63-BB5D-090C9D259684}"/>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2E84D4F4-C1C2-6D5D-B85F-92E2132F8F4F}"/>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11. Find the average number of pizzas ordered per order.</a:t>
            </a:r>
          </a:p>
        </p:txBody>
      </p:sp>
      <p:sp>
        <p:nvSpPr>
          <p:cNvPr id="6" name="TextBox 5">
            <a:extLst>
              <a:ext uri="{FF2B5EF4-FFF2-40B4-BE49-F238E27FC236}">
                <a16:creationId xmlns:a16="http://schemas.microsoft.com/office/drawing/2014/main" id="{31D687E5-FCFE-3801-50AF-00B62EB68A08}"/>
              </a:ext>
            </a:extLst>
          </p:cNvPr>
          <p:cNvSpPr txBox="1"/>
          <p:nvPr/>
        </p:nvSpPr>
        <p:spPr>
          <a:xfrm>
            <a:off x="651782" y="1024981"/>
            <a:ext cx="74145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with </a:t>
            </a:r>
            <a:r>
              <a:rPr lang="en-IN" sz="1600" dirty="0" err="1">
                <a:solidFill>
                  <a:schemeClr val="accent1">
                    <a:lumMod val="40000"/>
                    <a:lumOff val="60000"/>
                  </a:schemeClr>
                </a:solidFill>
              </a:rPr>
              <a:t>cte</a:t>
            </a:r>
            <a:r>
              <a:rPr lang="en-IN" sz="1600" dirty="0">
                <a:solidFill>
                  <a:schemeClr val="accent1">
                    <a:lumMod val="40000"/>
                    <a:lumOff val="60000"/>
                  </a:schemeClr>
                </a:solidFill>
              </a:rPr>
              <a:t> as (</a:t>
            </a:r>
          </a:p>
          <a:p>
            <a:r>
              <a:rPr lang="en-IN" sz="1600" dirty="0">
                <a:solidFill>
                  <a:schemeClr val="accent1">
                    <a:lumMod val="40000"/>
                    <a:lumOff val="60000"/>
                  </a:schemeClr>
                </a:solidFill>
              </a:rPr>
              <a:t>select </a:t>
            </a:r>
            <a:r>
              <a:rPr lang="en-IN" sz="1600" dirty="0" err="1">
                <a:solidFill>
                  <a:schemeClr val="accent1">
                    <a:lumMod val="40000"/>
                    <a:lumOff val="60000"/>
                  </a:schemeClr>
                </a:solidFill>
              </a:rPr>
              <a:t>order_id</a:t>
            </a:r>
            <a:r>
              <a:rPr lang="en-IN" sz="1600" dirty="0">
                <a:solidFill>
                  <a:schemeClr val="accent1">
                    <a:lumMod val="40000"/>
                    <a:lumOff val="60000"/>
                  </a:schemeClr>
                </a:solidFill>
              </a:rPr>
              <a:t>, sum(quantity) </a:t>
            </a:r>
            <a:r>
              <a:rPr lang="en-IN" sz="1600" dirty="0" err="1">
                <a:solidFill>
                  <a:schemeClr val="accent1">
                    <a:lumMod val="40000"/>
                    <a:lumOff val="60000"/>
                  </a:schemeClr>
                </a:solidFill>
              </a:rPr>
              <a:t>Total_Orders</a:t>
            </a:r>
            <a:r>
              <a:rPr lang="en-IN" sz="1600" dirty="0">
                <a:solidFill>
                  <a:schemeClr val="accent1">
                    <a:lumMod val="40000"/>
                    <a:lumOff val="60000"/>
                  </a:schemeClr>
                </a:solidFill>
              </a:rPr>
              <a:t> from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a:t>
            </a:r>
          </a:p>
          <a:p>
            <a:r>
              <a:rPr lang="en-IN" sz="1600" dirty="0">
                <a:solidFill>
                  <a:schemeClr val="accent1">
                    <a:lumMod val="40000"/>
                    <a:lumOff val="60000"/>
                  </a:schemeClr>
                </a:solidFill>
              </a:rPr>
              <a:t>group by </a:t>
            </a:r>
            <a:r>
              <a:rPr lang="en-IN" sz="1600" dirty="0" err="1">
                <a:solidFill>
                  <a:schemeClr val="accent1">
                    <a:lumMod val="40000"/>
                    <a:lumOff val="60000"/>
                  </a:schemeClr>
                </a:solidFill>
              </a:rPr>
              <a:t>order_id</a:t>
            </a:r>
            <a:r>
              <a:rPr lang="en-IN" sz="1600" dirty="0">
                <a:solidFill>
                  <a:schemeClr val="accent1">
                    <a:lumMod val="40000"/>
                    <a:lumOff val="60000"/>
                  </a:schemeClr>
                </a:solidFill>
              </a:rPr>
              <a:t>)</a:t>
            </a:r>
          </a:p>
          <a:p>
            <a:r>
              <a:rPr lang="en-IN" sz="1600" dirty="0">
                <a:solidFill>
                  <a:schemeClr val="accent1">
                    <a:lumMod val="40000"/>
                    <a:lumOff val="60000"/>
                  </a:schemeClr>
                </a:solidFill>
              </a:rPr>
              <a:t>select AVG(</a:t>
            </a:r>
            <a:r>
              <a:rPr lang="en-IN" sz="1600" dirty="0" err="1">
                <a:solidFill>
                  <a:schemeClr val="accent1">
                    <a:lumMod val="40000"/>
                    <a:lumOff val="60000"/>
                  </a:schemeClr>
                </a:solidFill>
              </a:rPr>
              <a:t>cte.Total_Orders</a:t>
            </a:r>
            <a:r>
              <a:rPr lang="en-IN" sz="1600" dirty="0">
                <a:solidFill>
                  <a:schemeClr val="accent1">
                    <a:lumMod val="40000"/>
                    <a:lumOff val="60000"/>
                  </a:schemeClr>
                </a:solidFill>
              </a:rPr>
              <a:t>) </a:t>
            </a:r>
            <a:r>
              <a:rPr lang="en-IN" sz="1600" dirty="0" err="1">
                <a:solidFill>
                  <a:schemeClr val="accent1">
                    <a:lumMod val="40000"/>
                    <a:lumOff val="60000"/>
                  </a:schemeClr>
                </a:solidFill>
              </a:rPr>
              <a:t>Avg_Pizza_ordered</a:t>
            </a:r>
            <a:r>
              <a:rPr lang="en-IN" sz="1600" dirty="0">
                <a:solidFill>
                  <a:schemeClr val="accent1">
                    <a:lumMod val="40000"/>
                    <a:lumOff val="60000"/>
                  </a:schemeClr>
                </a:solidFill>
              </a:rPr>
              <a:t> from </a:t>
            </a:r>
            <a:r>
              <a:rPr lang="en-IN" sz="1600" dirty="0" err="1">
                <a:solidFill>
                  <a:schemeClr val="accent1">
                    <a:lumMod val="40000"/>
                    <a:lumOff val="60000"/>
                  </a:schemeClr>
                </a:solidFill>
              </a:rPr>
              <a:t>cte</a:t>
            </a:r>
            <a:r>
              <a:rPr lang="en-IN" sz="1600" dirty="0">
                <a:solidFill>
                  <a:schemeClr val="accent1">
                    <a:lumMod val="40000"/>
                    <a:lumOff val="60000"/>
                  </a:schemeClr>
                </a:solidFill>
              </a:rPr>
              <a:t> </a:t>
            </a:r>
          </a:p>
        </p:txBody>
      </p:sp>
      <p:pic>
        <p:nvPicPr>
          <p:cNvPr id="8" name="Picture 7">
            <a:extLst>
              <a:ext uri="{FF2B5EF4-FFF2-40B4-BE49-F238E27FC236}">
                <a16:creationId xmlns:a16="http://schemas.microsoft.com/office/drawing/2014/main" id="{E1C520F6-4C0C-99A8-76D6-EEA1B2EC8325}"/>
              </a:ext>
            </a:extLst>
          </p:cNvPr>
          <p:cNvPicPr>
            <a:picLocks noChangeAspect="1"/>
          </p:cNvPicPr>
          <p:nvPr/>
        </p:nvPicPr>
        <p:blipFill>
          <a:blip r:embed="rId2"/>
          <a:srcRect/>
          <a:stretch/>
        </p:blipFill>
        <p:spPr>
          <a:xfrm>
            <a:off x="780341" y="3291642"/>
            <a:ext cx="1924759" cy="577428"/>
          </a:xfrm>
          <a:prstGeom prst="rect">
            <a:avLst/>
          </a:prstGeom>
        </p:spPr>
      </p:pic>
      <p:sp>
        <p:nvSpPr>
          <p:cNvPr id="9" name="TextBox 8">
            <a:extLst>
              <a:ext uri="{FF2B5EF4-FFF2-40B4-BE49-F238E27FC236}">
                <a16:creationId xmlns:a16="http://schemas.microsoft.com/office/drawing/2014/main" id="{0FCDE9C3-7B44-F96D-80B1-D6198554D04F}"/>
              </a:ext>
            </a:extLst>
          </p:cNvPr>
          <p:cNvSpPr txBox="1"/>
          <p:nvPr/>
        </p:nvSpPr>
        <p:spPr>
          <a:xfrm>
            <a:off x="651782" y="2876544"/>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1208344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956ED-3845-CE0D-3125-6D4142D255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FEE6EF-E62C-95B6-51FA-A24168B741C9}"/>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743E1378-47BC-15DD-6860-4D54BD85B1B2}"/>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9C457379-676B-DEF9-E278-B57695BD7FE9}"/>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71A6AA8A-D8DB-B928-938A-842BB901DF6E}"/>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13. Find the cumulative revenue generated throughout the day (running total).</a:t>
            </a:r>
          </a:p>
        </p:txBody>
      </p:sp>
      <p:sp>
        <p:nvSpPr>
          <p:cNvPr id="6" name="TextBox 5">
            <a:extLst>
              <a:ext uri="{FF2B5EF4-FFF2-40B4-BE49-F238E27FC236}">
                <a16:creationId xmlns:a16="http://schemas.microsoft.com/office/drawing/2014/main" id="{5BD294BD-47B6-2B85-992E-1EF4FC889B0D}"/>
              </a:ext>
            </a:extLst>
          </p:cNvPr>
          <p:cNvSpPr txBox="1"/>
          <p:nvPr/>
        </p:nvSpPr>
        <p:spPr>
          <a:xfrm>
            <a:off x="651782" y="1024981"/>
            <a:ext cx="7414532"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a:t>
            </a:r>
            <a:r>
              <a:rPr lang="en-IN" sz="1600" dirty="0" err="1">
                <a:solidFill>
                  <a:schemeClr val="accent1">
                    <a:lumMod val="40000"/>
                    <a:lumOff val="60000"/>
                  </a:schemeClr>
                </a:solidFill>
              </a:rPr>
              <a:t>o.date,o.time</a:t>
            </a:r>
            <a:r>
              <a:rPr lang="en-IN" sz="1600" dirty="0">
                <a:solidFill>
                  <a:schemeClr val="accent1">
                    <a:lumMod val="40000"/>
                    <a:lumOff val="60000"/>
                  </a:schemeClr>
                </a:solidFill>
              </a:rPr>
              <a:t>,</a:t>
            </a:r>
          </a:p>
          <a:p>
            <a:r>
              <a:rPr lang="en-IN" sz="1600" dirty="0">
                <a:solidFill>
                  <a:schemeClr val="accent1">
                    <a:lumMod val="40000"/>
                    <a:lumOff val="60000"/>
                  </a:schemeClr>
                </a:solidFill>
              </a:rPr>
              <a:t>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),2) revenue,</a:t>
            </a:r>
          </a:p>
          <a:p>
            <a:r>
              <a:rPr lang="en-IN" sz="1600" dirty="0">
                <a:solidFill>
                  <a:schemeClr val="accent1">
                    <a:lumMod val="40000"/>
                    <a:lumOff val="60000"/>
                  </a:schemeClr>
                </a:solidFill>
              </a:rPr>
              <a:t>sum((sum(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 over (partition by </a:t>
            </a:r>
            <a:r>
              <a:rPr lang="en-IN" sz="1600" dirty="0" err="1">
                <a:solidFill>
                  <a:schemeClr val="accent1">
                    <a:lumMod val="40000"/>
                    <a:lumOff val="60000"/>
                  </a:schemeClr>
                </a:solidFill>
              </a:rPr>
              <a:t>o.date</a:t>
            </a:r>
            <a:r>
              <a:rPr lang="en-IN" sz="1600" dirty="0">
                <a:solidFill>
                  <a:schemeClr val="accent1">
                    <a:lumMod val="40000"/>
                    <a:lumOff val="60000"/>
                  </a:schemeClr>
                </a:solidFill>
              </a:rPr>
              <a:t> order by </a:t>
            </a:r>
            <a:r>
              <a:rPr lang="en-IN" sz="1600" dirty="0" err="1">
                <a:solidFill>
                  <a:schemeClr val="accent1">
                    <a:lumMod val="40000"/>
                    <a:lumOff val="60000"/>
                  </a:schemeClr>
                </a:solidFill>
              </a:rPr>
              <a:t>o.time</a:t>
            </a:r>
            <a:r>
              <a:rPr lang="en-IN" sz="1600" dirty="0">
                <a:solidFill>
                  <a:schemeClr val="accent1">
                    <a:lumMod val="40000"/>
                    <a:lumOff val="60000"/>
                  </a:schemeClr>
                </a:solidFill>
              </a:rPr>
              <a:t>) </a:t>
            </a:r>
          </a:p>
          <a:p>
            <a:r>
              <a:rPr lang="en-IN" sz="1600" dirty="0" err="1">
                <a:solidFill>
                  <a:schemeClr val="accent1">
                    <a:lumMod val="40000"/>
                    <a:lumOff val="60000"/>
                  </a:schemeClr>
                </a:solidFill>
              </a:rPr>
              <a:t>Running_Total</a:t>
            </a:r>
            <a:endParaRPr lang="en-IN" sz="1600" dirty="0">
              <a:solidFill>
                <a:schemeClr val="accent1">
                  <a:lumMod val="40000"/>
                  <a:lumOff val="60000"/>
                </a:schemeClr>
              </a:solidFill>
            </a:endParaRPr>
          </a:p>
          <a:p>
            <a:r>
              <a:rPr lang="en-IN" sz="1600" dirty="0">
                <a:solidFill>
                  <a:schemeClr val="accent1">
                    <a:lumMod val="40000"/>
                    <a:lumOff val="60000"/>
                  </a:schemeClr>
                </a:solidFill>
              </a:rPr>
              <a:t>from orders o join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od on </a:t>
            </a:r>
            <a:r>
              <a:rPr lang="en-IN" sz="1600" dirty="0" err="1">
                <a:solidFill>
                  <a:schemeClr val="accent1">
                    <a:lumMod val="40000"/>
                    <a:lumOff val="60000"/>
                  </a:schemeClr>
                </a:solidFill>
              </a:rPr>
              <a:t>o.order_id</a:t>
            </a:r>
            <a:r>
              <a:rPr lang="en-IN" sz="1600" dirty="0">
                <a:solidFill>
                  <a:schemeClr val="accent1">
                    <a:lumMod val="40000"/>
                    <a:lumOff val="60000"/>
                  </a:schemeClr>
                </a:solidFill>
              </a:rPr>
              <a:t> = </a:t>
            </a:r>
            <a:r>
              <a:rPr lang="en-IN" sz="1600" dirty="0" err="1">
                <a:solidFill>
                  <a:schemeClr val="accent1">
                    <a:lumMod val="40000"/>
                    <a:lumOff val="60000"/>
                  </a:schemeClr>
                </a:solidFill>
              </a:rPr>
              <a:t>od.order_id</a:t>
            </a:r>
            <a:endParaRPr lang="en-IN" sz="1600" dirty="0">
              <a:solidFill>
                <a:schemeClr val="accent1">
                  <a:lumMod val="40000"/>
                  <a:lumOff val="60000"/>
                </a:schemeClr>
              </a:solidFill>
            </a:endParaRPr>
          </a:p>
          <a:p>
            <a:r>
              <a:rPr lang="en-IN" sz="1600" dirty="0">
                <a:solidFill>
                  <a:schemeClr val="accent1">
                    <a:lumMod val="40000"/>
                    <a:lumOff val="60000"/>
                  </a:schemeClr>
                </a:solidFill>
              </a:rPr>
              <a:t>join pizzas p on </a:t>
            </a:r>
            <a:r>
              <a:rPr lang="en-IN" sz="1600" dirty="0" err="1">
                <a:solidFill>
                  <a:schemeClr val="accent1">
                    <a:lumMod val="40000"/>
                    <a:lumOff val="60000"/>
                  </a:schemeClr>
                </a:solidFill>
              </a:rPr>
              <a:t>od.pizza_id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p.pizza_id</a:t>
            </a:r>
            <a:r>
              <a:rPr lang="en-IN" sz="1600" dirty="0">
                <a:solidFill>
                  <a:schemeClr val="accent1">
                    <a:lumMod val="40000"/>
                    <a:lumOff val="60000"/>
                  </a:schemeClr>
                </a:solidFill>
              </a:rPr>
              <a:t> group by </a:t>
            </a:r>
            <a:r>
              <a:rPr lang="en-IN" sz="1600" dirty="0" err="1">
                <a:solidFill>
                  <a:schemeClr val="accent1">
                    <a:lumMod val="40000"/>
                    <a:lumOff val="60000"/>
                  </a:schemeClr>
                </a:solidFill>
              </a:rPr>
              <a:t>o.date</a:t>
            </a:r>
            <a:r>
              <a:rPr lang="en-IN" sz="1600" dirty="0">
                <a:solidFill>
                  <a:schemeClr val="accent1">
                    <a:lumMod val="40000"/>
                    <a:lumOff val="60000"/>
                  </a:schemeClr>
                </a:solidFill>
              </a:rPr>
              <a:t>, </a:t>
            </a:r>
            <a:r>
              <a:rPr lang="en-IN" sz="1600" dirty="0" err="1">
                <a:solidFill>
                  <a:schemeClr val="accent1">
                    <a:lumMod val="40000"/>
                    <a:lumOff val="60000"/>
                  </a:schemeClr>
                </a:solidFill>
              </a:rPr>
              <a:t>o.time</a:t>
            </a:r>
            <a:endParaRPr lang="en-IN" sz="1600" dirty="0">
              <a:solidFill>
                <a:schemeClr val="accent1">
                  <a:lumMod val="40000"/>
                  <a:lumOff val="60000"/>
                </a:schemeClr>
              </a:solidFill>
            </a:endParaRPr>
          </a:p>
        </p:txBody>
      </p:sp>
      <p:pic>
        <p:nvPicPr>
          <p:cNvPr id="8" name="Picture 7">
            <a:extLst>
              <a:ext uri="{FF2B5EF4-FFF2-40B4-BE49-F238E27FC236}">
                <a16:creationId xmlns:a16="http://schemas.microsoft.com/office/drawing/2014/main" id="{093C8740-9E71-4711-07A3-36BBAD4CB7F1}"/>
              </a:ext>
            </a:extLst>
          </p:cNvPr>
          <p:cNvPicPr>
            <a:picLocks noChangeAspect="1"/>
          </p:cNvPicPr>
          <p:nvPr/>
        </p:nvPicPr>
        <p:blipFill>
          <a:blip r:embed="rId2"/>
          <a:srcRect/>
          <a:stretch/>
        </p:blipFill>
        <p:spPr>
          <a:xfrm>
            <a:off x="752314" y="3245876"/>
            <a:ext cx="3187225" cy="1722364"/>
          </a:xfrm>
          <a:prstGeom prst="rect">
            <a:avLst/>
          </a:prstGeom>
        </p:spPr>
      </p:pic>
      <p:sp>
        <p:nvSpPr>
          <p:cNvPr id="9" name="TextBox 8">
            <a:extLst>
              <a:ext uri="{FF2B5EF4-FFF2-40B4-BE49-F238E27FC236}">
                <a16:creationId xmlns:a16="http://schemas.microsoft.com/office/drawing/2014/main" id="{AA4E1C88-E31D-852D-5957-9E4D4876C3CD}"/>
              </a:ext>
            </a:extLst>
          </p:cNvPr>
          <p:cNvSpPr txBox="1"/>
          <p:nvPr/>
        </p:nvSpPr>
        <p:spPr>
          <a:xfrm>
            <a:off x="651782" y="2876544"/>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1350247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365E-8330-2F7D-9696-76596146CCB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E97418-E606-BB66-FD96-FFA2A8A71B94}"/>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97B1601D-64EE-210C-0F57-E55BDC511E8D}"/>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F4347C59-FAC2-D8DA-F810-4FB56763765C}"/>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E01FDFAF-FD90-7A4C-9E21-0DF89C9AFA86}"/>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14. Identify the pizza that has been ordered the least number of times.</a:t>
            </a:r>
          </a:p>
        </p:txBody>
      </p:sp>
      <p:sp>
        <p:nvSpPr>
          <p:cNvPr id="6" name="TextBox 5">
            <a:extLst>
              <a:ext uri="{FF2B5EF4-FFF2-40B4-BE49-F238E27FC236}">
                <a16:creationId xmlns:a16="http://schemas.microsoft.com/office/drawing/2014/main" id="{1F527A85-09BD-A52D-529F-BA8E06A36318}"/>
              </a:ext>
            </a:extLst>
          </p:cNvPr>
          <p:cNvSpPr txBox="1"/>
          <p:nvPr/>
        </p:nvSpPr>
        <p:spPr>
          <a:xfrm>
            <a:off x="651782" y="1024981"/>
            <a:ext cx="7414532"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top 1 pt.name,</a:t>
            </a:r>
          </a:p>
          <a:p>
            <a:r>
              <a:rPr lang="en-IN" sz="1600" dirty="0">
                <a:solidFill>
                  <a:schemeClr val="accent1">
                    <a:lumMod val="40000"/>
                    <a:lumOff val="60000"/>
                  </a:schemeClr>
                </a:solidFill>
              </a:rPr>
              <a:t>count(</a:t>
            </a:r>
            <a:r>
              <a:rPr lang="en-IN" sz="1600" dirty="0" err="1">
                <a:solidFill>
                  <a:schemeClr val="accent1">
                    <a:lumMod val="40000"/>
                    <a:lumOff val="60000"/>
                  </a:schemeClr>
                </a:solidFill>
              </a:rPr>
              <a:t>od.order_details_id</a:t>
            </a:r>
            <a:r>
              <a:rPr lang="en-IN" sz="1600" dirty="0">
                <a:solidFill>
                  <a:schemeClr val="accent1">
                    <a:lumMod val="40000"/>
                    <a:lumOff val="60000"/>
                  </a:schemeClr>
                </a:solidFill>
              </a:rPr>
              <a:t>) </a:t>
            </a:r>
            <a:r>
              <a:rPr lang="en-IN" sz="1600" dirty="0" err="1">
                <a:solidFill>
                  <a:schemeClr val="accent1">
                    <a:lumMod val="40000"/>
                    <a:lumOff val="60000"/>
                  </a:schemeClr>
                </a:solidFill>
              </a:rPr>
              <a:t>Times_ordered</a:t>
            </a:r>
            <a:endParaRPr lang="en-IN" sz="1600" dirty="0">
              <a:solidFill>
                <a:schemeClr val="accent1">
                  <a:lumMod val="40000"/>
                  <a:lumOff val="60000"/>
                </a:schemeClr>
              </a:solidFill>
            </a:endParaRPr>
          </a:p>
          <a:p>
            <a:r>
              <a:rPr lang="en-IN" sz="1600" dirty="0">
                <a:solidFill>
                  <a:schemeClr val="accent1">
                    <a:lumMod val="40000"/>
                    <a:lumOff val="60000"/>
                  </a:schemeClr>
                </a:solidFill>
              </a:rPr>
              <a:t>from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od</a:t>
            </a:r>
          </a:p>
          <a:p>
            <a:r>
              <a:rPr lang="en-IN" sz="1600" dirty="0">
                <a:solidFill>
                  <a:schemeClr val="accent1">
                    <a:lumMod val="40000"/>
                    <a:lumOff val="60000"/>
                  </a:schemeClr>
                </a:solidFill>
              </a:rPr>
              <a:t>join pizzas p on </a:t>
            </a:r>
            <a:r>
              <a:rPr lang="en-IN" sz="1600" dirty="0" err="1">
                <a:solidFill>
                  <a:schemeClr val="accent1">
                    <a:lumMod val="40000"/>
                    <a:lumOff val="60000"/>
                  </a:schemeClr>
                </a:solidFill>
              </a:rPr>
              <a:t>od.pizza_id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p.pizza_id</a:t>
            </a:r>
            <a:endParaRPr lang="en-IN" sz="1600" dirty="0">
              <a:solidFill>
                <a:schemeClr val="accent1">
                  <a:lumMod val="40000"/>
                  <a:lumOff val="60000"/>
                </a:schemeClr>
              </a:solidFill>
            </a:endParaRPr>
          </a:p>
          <a:p>
            <a:r>
              <a:rPr lang="en-IN" sz="1600" dirty="0">
                <a:solidFill>
                  <a:schemeClr val="accent1">
                    <a:lumMod val="40000"/>
                    <a:lumOff val="60000"/>
                  </a:schemeClr>
                </a:solidFill>
              </a:rPr>
              <a:t>join </a:t>
            </a:r>
            <a:r>
              <a:rPr lang="en-IN" sz="1600" dirty="0" err="1">
                <a:solidFill>
                  <a:schemeClr val="accent1">
                    <a:lumMod val="40000"/>
                    <a:lumOff val="60000"/>
                  </a:schemeClr>
                </a:solidFill>
              </a:rPr>
              <a:t>pizza_types</a:t>
            </a:r>
            <a:r>
              <a:rPr lang="en-IN" sz="1600" dirty="0">
                <a:solidFill>
                  <a:schemeClr val="accent1">
                    <a:lumMod val="40000"/>
                    <a:lumOff val="60000"/>
                  </a:schemeClr>
                </a:solidFill>
              </a:rPr>
              <a:t> pt on </a:t>
            </a:r>
            <a:r>
              <a:rPr lang="en-IN" sz="1600" dirty="0" err="1">
                <a:solidFill>
                  <a:schemeClr val="accent1">
                    <a:lumMod val="40000"/>
                    <a:lumOff val="60000"/>
                  </a:schemeClr>
                </a:solidFill>
              </a:rPr>
              <a:t>p.pizza_type_id</a:t>
            </a:r>
            <a:r>
              <a:rPr lang="en-IN" sz="1600" dirty="0">
                <a:solidFill>
                  <a:schemeClr val="accent1">
                    <a:lumMod val="40000"/>
                    <a:lumOff val="60000"/>
                  </a:schemeClr>
                </a:solidFill>
              </a:rPr>
              <a:t> = </a:t>
            </a:r>
            <a:r>
              <a:rPr lang="en-IN" sz="1600" dirty="0" err="1">
                <a:solidFill>
                  <a:schemeClr val="accent1">
                    <a:lumMod val="40000"/>
                    <a:lumOff val="60000"/>
                  </a:schemeClr>
                </a:solidFill>
              </a:rPr>
              <a:t>pt.pizza_type_id</a:t>
            </a:r>
            <a:endParaRPr lang="en-IN" sz="1600" dirty="0">
              <a:solidFill>
                <a:schemeClr val="accent1">
                  <a:lumMod val="40000"/>
                  <a:lumOff val="60000"/>
                </a:schemeClr>
              </a:solidFill>
            </a:endParaRPr>
          </a:p>
          <a:p>
            <a:r>
              <a:rPr lang="en-IN" sz="1600" dirty="0">
                <a:solidFill>
                  <a:schemeClr val="accent1">
                    <a:lumMod val="40000"/>
                    <a:lumOff val="60000"/>
                  </a:schemeClr>
                </a:solidFill>
              </a:rPr>
              <a:t>group by pt.name order by </a:t>
            </a:r>
            <a:r>
              <a:rPr lang="en-IN" sz="1600" dirty="0" err="1">
                <a:solidFill>
                  <a:schemeClr val="accent1">
                    <a:lumMod val="40000"/>
                    <a:lumOff val="60000"/>
                  </a:schemeClr>
                </a:solidFill>
              </a:rPr>
              <a:t>times_ordered</a:t>
            </a:r>
            <a:r>
              <a:rPr lang="en-IN" sz="1600" dirty="0">
                <a:solidFill>
                  <a:schemeClr val="accent1">
                    <a:lumMod val="40000"/>
                    <a:lumOff val="60000"/>
                  </a:schemeClr>
                </a:solidFill>
              </a:rPr>
              <a:t> </a:t>
            </a:r>
          </a:p>
        </p:txBody>
      </p:sp>
      <p:pic>
        <p:nvPicPr>
          <p:cNvPr id="8" name="Picture 7">
            <a:extLst>
              <a:ext uri="{FF2B5EF4-FFF2-40B4-BE49-F238E27FC236}">
                <a16:creationId xmlns:a16="http://schemas.microsoft.com/office/drawing/2014/main" id="{88427084-04B0-42C1-F8EB-63D157679FD5}"/>
              </a:ext>
            </a:extLst>
          </p:cNvPr>
          <p:cNvPicPr>
            <a:picLocks noChangeAspect="1"/>
          </p:cNvPicPr>
          <p:nvPr/>
        </p:nvPicPr>
        <p:blipFill>
          <a:blip r:embed="rId2"/>
          <a:srcRect/>
          <a:stretch/>
        </p:blipFill>
        <p:spPr>
          <a:xfrm>
            <a:off x="752314" y="3363067"/>
            <a:ext cx="3187225" cy="495994"/>
          </a:xfrm>
          <a:prstGeom prst="rect">
            <a:avLst/>
          </a:prstGeom>
        </p:spPr>
      </p:pic>
      <p:sp>
        <p:nvSpPr>
          <p:cNvPr id="9" name="TextBox 8">
            <a:extLst>
              <a:ext uri="{FF2B5EF4-FFF2-40B4-BE49-F238E27FC236}">
                <a16:creationId xmlns:a16="http://schemas.microsoft.com/office/drawing/2014/main" id="{5540106A-066C-238B-1218-3B56EA182894}"/>
              </a:ext>
            </a:extLst>
          </p:cNvPr>
          <p:cNvSpPr txBox="1"/>
          <p:nvPr/>
        </p:nvSpPr>
        <p:spPr>
          <a:xfrm>
            <a:off x="651782" y="2965513"/>
            <a:ext cx="22196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907249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332EE-E751-1A5A-71A0-8B0840355B7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938081-2A17-2420-8AEE-6B68D40F5B8C}"/>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5ABB5F4F-3229-6924-0754-22846757A279}"/>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9F2214E3-47BA-949F-15EF-7D37A7A29C02}"/>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2AE7B6FC-D119-6440-A2B9-729292244101}"/>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15. Find the percentage contribution of each pizza category to total revenue.</a:t>
            </a:r>
          </a:p>
        </p:txBody>
      </p:sp>
      <p:sp>
        <p:nvSpPr>
          <p:cNvPr id="6" name="TextBox 5">
            <a:extLst>
              <a:ext uri="{FF2B5EF4-FFF2-40B4-BE49-F238E27FC236}">
                <a16:creationId xmlns:a16="http://schemas.microsoft.com/office/drawing/2014/main" id="{B9EBD0D3-F477-FA7C-7392-61A298337310}"/>
              </a:ext>
            </a:extLst>
          </p:cNvPr>
          <p:cNvSpPr txBox="1"/>
          <p:nvPr/>
        </p:nvSpPr>
        <p:spPr>
          <a:xfrm>
            <a:off x="651782" y="1024981"/>
            <a:ext cx="7414532"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a:t>
            </a:r>
            <a:r>
              <a:rPr lang="en-IN" sz="1600" dirty="0" err="1">
                <a:solidFill>
                  <a:schemeClr val="accent1">
                    <a:lumMod val="40000"/>
                    <a:lumOff val="60000"/>
                  </a:schemeClr>
                </a:solidFill>
              </a:rPr>
              <a:t>pt.category</a:t>
            </a:r>
            <a:r>
              <a:rPr lang="en-IN" sz="1600" dirty="0">
                <a:solidFill>
                  <a:schemeClr val="accent1">
                    <a:lumMod val="40000"/>
                    <a:lumOff val="60000"/>
                  </a:schemeClr>
                </a:solidFill>
              </a:rPr>
              <a:t>, 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),2) </a:t>
            </a:r>
            <a:r>
              <a:rPr lang="en-IN" sz="1600" dirty="0" err="1">
                <a:solidFill>
                  <a:schemeClr val="accent1">
                    <a:lumMod val="40000"/>
                    <a:lumOff val="60000"/>
                  </a:schemeClr>
                </a:solidFill>
              </a:rPr>
              <a:t>category_revenue</a:t>
            </a:r>
            <a:r>
              <a:rPr lang="en-IN" sz="1600" dirty="0">
                <a:solidFill>
                  <a:schemeClr val="accent1">
                    <a:lumMod val="40000"/>
                    <a:lumOff val="60000"/>
                  </a:schemeClr>
                </a:solidFill>
              </a:rPr>
              <a:t>,</a:t>
            </a:r>
          </a:p>
          <a:p>
            <a:r>
              <a:rPr lang="en-IN" sz="1600" dirty="0">
                <a:solidFill>
                  <a:schemeClr val="accent1">
                    <a:lumMod val="40000"/>
                    <a:lumOff val="60000"/>
                  </a:schemeClr>
                </a:solidFill>
              </a:rPr>
              <a:t>sum(round(sum(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),2)) over() </a:t>
            </a:r>
            <a:r>
              <a:rPr lang="en-IN" sz="1600" dirty="0" err="1">
                <a:solidFill>
                  <a:schemeClr val="accent1">
                    <a:lumMod val="40000"/>
                    <a:lumOff val="60000"/>
                  </a:schemeClr>
                </a:solidFill>
              </a:rPr>
              <a:t>Grand_Total</a:t>
            </a:r>
            <a:r>
              <a:rPr lang="en-IN" sz="1600" dirty="0">
                <a:solidFill>
                  <a:schemeClr val="accent1">
                    <a:lumMod val="40000"/>
                    <a:lumOff val="60000"/>
                  </a:schemeClr>
                </a:solidFill>
              </a:rPr>
              <a:t>,  </a:t>
            </a:r>
          </a:p>
          <a:p>
            <a:r>
              <a:rPr lang="en-IN" sz="1600" dirty="0">
                <a:solidFill>
                  <a:schemeClr val="accent1">
                    <a:lumMod val="40000"/>
                    <a:lumOff val="60000"/>
                  </a:schemeClr>
                </a:solidFill>
              </a:rPr>
              <a:t>(round(sum(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),2) * 100.0) /</a:t>
            </a:r>
          </a:p>
          <a:p>
            <a:r>
              <a:rPr lang="en-IN" sz="1600" dirty="0">
                <a:solidFill>
                  <a:schemeClr val="accent1">
                    <a:lumMod val="40000"/>
                    <a:lumOff val="60000"/>
                  </a:schemeClr>
                </a:solidFill>
              </a:rPr>
              <a:t>sum(round(sum(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),2)) over() as Contribution</a:t>
            </a:r>
          </a:p>
          <a:p>
            <a:r>
              <a:rPr lang="en-IN" sz="1600" dirty="0">
                <a:solidFill>
                  <a:schemeClr val="accent1">
                    <a:lumMod val="40000"/>
                    <a:lumOff val="60000"/>
                  </a:schemeClr>
                </a:solidFill>
              </a:rPr>
              <a:t>from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od join pizzas p on </a:t>
            </a:r>
            <a:r>
              <a:rPr lang="en-IN" sz="1600" dirty="0" err="1">
                <a:solidFill>
                  <a:schemeClr val="accent1">
                    <a:lumMod val="40000"/>
                    <a:lumOff val="60000"/>
                  </a:schemeClr>
                </a:solidFill>
              </a:rPr>
              <a:t>od.pizza_id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p.pizza_id</a:t>
            </a:r>
            <a:endParaRPr lang="en-IN" sz="1600" dirty="0">
              <a:solidFill>
                <a:schemeClr val="accent1">
                  <a:lumMod val="40000"/>
                  <a:lumOff val="60000"/>
                </a:schemeClr>
              </a:solidFill>
            </a:endParaRPr>
          </a:p>
          <a:p>
            <a:r>
              <a:rPr lang="en-IN" sz="1600" dirty="0">
                <a:solidFill>
                  <a:schemeClr val="accent1">
                    <a:lumMod val="40000"/>
                    <a:lumOff val="60000"/>
                  </a:schemeClr>
                </a:solidFill>
              </a:rPr>
              <a:t>join </a:t>
            </a:r>
            <a:r>
              <a:rPr lang="en-IN" sz="1600" dirty="0" err="1">
                <a:solidFill>
                  <a:schemeClr val="accent1">
                    <a:lumMod val="40000"/>
                    <a:lumOff val="60000"/>
                  </a:schemeClr>
                </a:solidFill>
              </a:rPr>
              <a:t>pizza_types</a:t>
            </a:r>
            <a:r>
              <a:rPr lang="en-IN" sz="1600" dirty="0">
                <a:solidFill>
                  <a:schemeClr val="accent1">
                    <a:lumMod val="40000"/>
                    <a:lumOff val="60000"/>
                  </a:schemeClr>
                </a:solidFill>
              </a:rPr>
              <a:t> pt on </a:t>
            </a:r>
            <a:r>
              <a:rPr lang="en-IN" sz="1600" dirty="0" err="1">
                <a:solidFill>
                  <a:schemeClr val="accent1">
                    <a:lumMod val="40000"/>
                    <a:lumOff val="60000"/>
                  </a:schemeClr>
                </a:solidFill>
              </a:rPr>
              <a:t>p.pizza_type_id</a:t>
            </a:r>
            <a:r>
              <a:rPr lang="en-IN" sz="1600" dirty="0">
                <a:solidFill>
                  <a:schemeClr val="accent1">
                    <a:lumMod val="40000"/>
                    <a:lumOff val="60000"/>
                  </a:schemeClr>
                </a:solidFill>
              </a:rPr>
              <a:t> = </a:t>
            </a:r>
            <a:r>
              <a:rPr lang="en-IN" sz="1600" dirty="0" err="1">
                <a:solidFill>
                  <a:schemeClr val="accent1">
                    <a:lumMod val="40000"/>
                    <a:lumOff val="60000"/>
                  </a:schemeClr>
                </a:solidFill>
              </a:rPr>
              <a:t>pt.pizza_type_id</a:t>
            </a:r>
            <a:endParaRPr lang="en-IN" sz="1600" dirty="0">
              <a:solidFill>
                <a:schemeClr val="accent1">
                  <a:lumMod val="40000"/>
                  <a:lumOff val="60000"/>
                </a:schemeClr>
              </a:solidFill>
            </a:endParaRPr>
          </a:p>
          <a:p>
            <a:r>
              <a:rPr lang="en-IN" sz="1600" dirty="0">
                <a:solidFill>
                  <a:schemeClr val="accent1">
                    <a:lumMod val="40000"/>
                    <a:lumOff val="60000"/>
                  </a:schemeClr>
                </a:solidFill>
              </a:rPr>
              <a:t>group by </a:t>
            </a:r>
            <a:r>
              <a:rPr lang="en-IN" sz="1600" dirty="0" err="1">
                <a:solidFill>
                  <a:schemeClr val="accent1">
                    <a:lumMod val="40000"/>
                    <a:lumOff val="60000"/>
                  </a:schemeClr>
                </a:solidFill>
              </a:rPr>
              <a:t>pt.category</a:t>
            </a:r>
            <a:r>
              <a:rPr lang="en-IN" sz="1600" dirty="0">
                <a:solidFill>
                  <a:schemeClr val="accent1">
                    <a:lumMod val="40000"/>
                    <a:lumOff val="60000"/>
                  </a:schemeClr>
                </a:solidFill>
              </a:rPr>
              <a:t> order by Contribution </a:t>
            </a:r>
            <a:r>
              <a:rPr lang="en-IN" sz="1600" dirty="0" err="1">
                <a:solidFill>
                  <a:schemeClr val="accent1">
                    <a:lumMod val="40000"/>
                    <a:lumOff val="60000"/>
                  </a:schemeClr>
                </a:solidFill>
              </a:rPr>
              <a:t>desc</a:t>
            </a:r>
            <a:endParaRPr lang="en-IN" sz="1600" dirty="0">
              <a:solidFill>
                <a:schemeClr val="accent1">
                  <a:lumMod val="40000"/>
                  <a:lumOff val="60000"/>
                </a:schemeClr>
              </a:solidFill>
            </a:endParaRPr>
          </a:p>
        </p:txBody>
      </p:sp>
      <p:pic>
        <p:nvPicPr>
          <p:cNvPr id="8" name="Picture 7">
            <a:extLst>
              <a:ext uri="{FF2B5EF4-FFF2-40B4-BE49-F238E27FC236}">
                <a16:creationId xmlns:a16="http://schemas.microsoft.com/office/drawing/2014/main" id="{D5CA732B-7901-C5EA-5247-213DB9C1A66A}"/>
              </a:ext>
            </a:extLst>
          </p:cNvPr>
          <p:cNvPicPr>
            <a:picLocks noChangeAspect="1"/>
          </p:cNvPicPr>
          <p:nvPr/>
        </p:nvPicPr>
        <p:blipFill>
          <a:blip r:embed="rId2"/>
          <a:srcRect/>
          <a:stretch/>
        </p:blipFill>
        <p:spPr>
          <a:xfrm>
            <a:off x="780504" y="3581065"/>
            <a:ext cx="4411612" cy="1136931"/>
          </a:xfrm>
          <a:prstGeom prst="rect">
            <a:avLst/>
          </a:prstGeom>
        </p:spPr>
      </p:pic>
      <p:sp>
        <p:nvSpPr>
          <p:cNvPr id="9" name="TextBox 8">
            <a:extLst>
              <a:ext uri="{FF2B5EF4-FFF2-40B4-BE49-F238E27FC236}">
                <a16:creationId xmlns:a16="http://schemas.microsoft.com/office/drawing/2014/main" id="{6135A9DB-21BE-53E4-9FA7-A43782C24AEF}"/>
              </a:ext>
            </a:extLst>
          </p:cNvPr>
          <p:cNvSpPr txBox="1"/>
          <p:nvPr/>
        </p:nvSpPr>
        <p:spPr>
          <a:xfrm>
            <a:off x="651783" y="3211734"/>
            <a:ext cx="17149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1551908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C881-888E-14E1-90A2-EB59B0EBB4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065210-E983-E675-4477-DD68F5848FE2}"/>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DD62FCF9-E019-7D30-EBE2-A70A3A62D3AF}"/>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43351CDE-2AE7-91F9-DAA2-FF051A5DA632}"/>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5ABF6F55-D9F5-D70E-C5D9-BBEF84CBFF72}"/>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16. Find the maximum difference (in minutes) of each orders placed on each day.</a:t>
            </a:r>
          </a:p>
        </p:txBody>
      </p:sp>
      <p:sp>
        <p:nvSpPr>
          <p:cNvPr id="6" name="TextBox 5">
            <a:extLst>
              <a:ext uri="{FF2B5EF4-FFF2-40B4-BE49-F238E27FC236}">
                <a16:creationId xmlns:a16="http://schemas.microsoft.com/office/drawing/2014/main" id="{B0943A62-8704-2A29-E8E1-789939BAAB05}"/>
              </a:ext>
            </a:extLst>
          </p:cNvPr>
          <p:cNvSpPr txBox="1"/>
          <p:nvPr/>
        </p:nvSpPr>
        <p:spPr>
          <a:xfrm>
            <a:off x="651782" y="1024981"/>
            <a:ext cx="7414532"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with </a:t>
            </a:r>
            <a:r>
              <a:rPr lang="en-IN" sz="1600" dirty="0" err="1">
                <a:solidFill>
                  <a:schemeClr val="accent1">
                    <a:lumMod val="40000"/>
                    <a:lumOff val="60000"/>
                  </a:schemeClr>
                </a:solidFill>
              </a:rPr>
              <a:t>cte</a:t>
            </a:r>
            <a:r>
              <a:rPr lang="en-IN" sz="1600" dirty="0">
                <a:solidFill>
                  <a:schemeClr val="accent1">
                    <a:lumMod val="40000"/>
                    <a:lumOff val="60000"/>
                  </a:schemeClr>
                </a:solidFill>
              </a:rPr>
              <a:t> as (</a:t>
            </a:r>
          </a:p>
          <a:p>
            <a:r>
              <a:rPr lang="en-IN" sz="1600" dirty="0">
                <a:solidFill>
                  <a:schemeClr val="accent1">
                    <a:lumMod val="40000"/>
                    <a:lumOff val="60000"/>
                  </a:schemeClr>
                </a:solidFill>
              </a:rPr>
              <a:t>select *, lead(time) Over(partition by date order by time) as </a:t>
            </a:r>
            <a:r>
              <a:rPr lang="en-IN" sz="1600" dirty="0" err="1">
                <a:solidFill>
                  <a:schemeClr val="accent1">
                    <a:lumMod val="40000"/>
                    <a:lumOff val="60000"/>
                  </a:schemeClr>
                </a:solidFill>
              </a:rPr>
              <a:t>Next_Order</a:t>
            </a:r>
            <a:r>
              <a:rPr lang="en-IN" sz="1600" dirty="0">
                <a:solidFill>
                  <a:schemeClr val="accent1">
                    <a:lumMod val="40000"/>
                    <a:lumOff val="60000"/>
                  </a:schemeClr>
                </a:solidFill>
              </a:rPr>
              <a:t>,</a:t>
            </a:r>
          </a:p>
          <a:p>
            <a:r>
              <a:rPr lang="en-IN" sz="1600" dirty="0">
                <a:solidFill>
                  <a:schemeClr val="accent1">
                    <a:lumMod val="40000"/>
                    <a:lumOff val="60000"/>
                  </a:schemeClr>
                </a:solidFill>
              </a:rPr>
              <a:t>DATEDIFF(MINUTE, time, lead(time) over (partition by date order by time)) </a:t>
            </a:r>
          </a:p>
          <a:p>
            <a:r>
              <a:rPr lang="en-IN" sz="1600" dirty="0" err="1">
                <a:solidFill>
                  <a:schemeClr val="accent1">
                    <a:lumMod val="40000"/>
                    <a:lumOff val="60000"/>
                  </a:schemeClr>
                </a:solidFill>
              </a:rPr>
              <a:t>Difference_In_Minutes</a:t>
            </a:r>
            <a:r>
              <a:rPr lang="en-IN" sz="1600" dirty="0">
                <a:solidFill>
                  <a:schemeClr val="accent1">
                    <a:lumMod val="40000"/>
                    <a:lumOff val="60000"/>
                  </a:schemeClr>
                </a:solidFill>
              </a:rPr>
              <a:t> from orders ),  cte2 as (</a:t>
            </a:r>
          </a:p>
          <a:p>
            <a:r>
              <a:rPr lang="en-IN" sz="1600" dirty="0">
                <a:solidFill>
                  <a:schemeClr val="accent1">
                    <a:lumMod val="40000"/>
                    <a:lumOff val="60000"/>
                  </a:schemeClr>
                </a:solidFill>
              </a:rPr>
              <a:t>select *, DENSE_RANK() over(partition by </a:t>
            </a:r>
            <a:r>
              <a:rPr lang="en-IN" sz="1600" dirty="0" err="1">
                <a:solidFill>
                  <a:schemeClr val="accent1">
                    <a:lumMod val="40000"/>
                    <a:lumOff val="60000"/>
                  </a:schemeClr>
                </a:solidFill>
              </a:rPr>
              <a:t>cte.date</a:t>
            </a:r>
            <a:r>
              <a:rPr lang="en-IN" sz="1600" dirty="0">
                <a:solidFill>
                  <a:schemeClr val="accent1">
                    <a:lumMod val="40000"/>
                    <a:lumOff val="60000"/>
                  </a:schemeClr>
                </a:solidFill>
              </a:rPr>
              <a:t> order by </a:t>
            </a:r>
            <a:r>
              <a:rPr lang="en-IN" sz="1600" dirty="0" err="1">
                <a:solidFill>
                  <a:schemeClr val="accent1">
                    <a:lumMod val="40000"/>
                    <a:lumOff val="60000"/>
                  </a:schemeClr>
                </a:solidFill>
              </a:rPr>
              <a:t>cte.Difference_In_Minutes</a:t>
            </a:r>
            <a:r>
              <a:rPr lang="en-IN" sz="1600" dirty="0">
                <a:solidFill>
                  <a:schemeClr val="accent1">
                    <a:lumMod val="40000"/>
                    <a:lumOff val="60000"/>
                  </a:schemeClr>
                </a:solidFill>
              </a:rPr>
              <a:t> </a:t>
            </a:r>
            <a:r>
              <a:rPr lang="en-IN" sz="1600" dirty="0" err="1">
                <a:solidFill>
                  <a:schemeClr val="accent1">
                    <a:lumMod val="40000"/>
                    <a:lumOff val="60000"/>
                  </a:schemeClr>
                </a:solidFill>
              </a:rPr>
              <a:t>desc</a:t>
            </a:r>
            <a:r>
              <a:rPr lang="en-IN" sz="1600" dirty="0">
                <a:solidFill>
                  <a:schemeClr val="accent1">
                    <a:lumMod val="40000"/>
                    <a:lumOff val="60000"/>
                  </a:schemeClr>
                </a:solidFill>
              </a:rPr>
              <a:t>) </a:t>
            </a:r>
            <a:r>
              <a:rPr lang="en-IN" sz="1600" dirty="0" err="1">
                <a:solidFill>
                  <a:schemeClr val="accent1">
                    <a:lumMod val="40000"/>
                    <a:lumOff val="60000"/>
                  </a:schemeClr>
                </a:solidFill>
              </a:rPr>
              <a:t>Rnk</a:t>
            </a:r>
            <a:r>
              <a:rPr lang="en-IN" sz="1600" dirty="0">
                <a:solidFill>
                  <a:schemeClr val="accent1">
                    <a:lumMod val="40000"/>
                    <a:lumOff val="60000"/>
                  </a:schemeClr>
                </a:solidFill>
              </a:rPr>
              <a:t> from </a:t>
            </a:r>
            <a:r>
              <a:rPr lang="en-IN" sz="1600" dirty="0" err="1">
                <a:solidFill>
                  <a:schemeClr val="accent1">
                    <a:lumMod val="40000"/>
                    <a:lumOff val="60000"/>
                  </a:schemeClr>
                </a:solidFill>
              </a:rPr>
              <a:t>cte</a:t>
            </a:r>
            <a:r>
              <a:rPr lang="en-IN" sz="1600" dirty="0">
                <a:solidFill>
                  <a:schemeClr val="accent1">
                    <a:lumMod val="40000"/>
                    <a:lumOff val="60000"/>
                  </a:schemeClr>
                </a:solidFill>
              </a:rPr>
              <a:t> )</a:t>
            </a:r>
          </a:p>
          <a:p>
            <a:r>
              <a:rPr lang="en-IN" sz="1600" dirty="0">
                <a:solidFill>
                  <a:schemeClr val="accent1">
                    <a:lumMod val="40000"/>
                    <a:lumOff val="60000"/>
                  </a:schemeClr>
                </a:solidFill>
              </a:rPr>
              <a:t>select * from cte2 where cte2.Rnk = 1 </a:t>
            </a:r>
          </a:p>
        </p:txBody>
      </p:sp>
      <p:pic>
        <p:nvPicPr>
          <p:cNvPr id="8" name="Picture 7">
            <a:extLst>
              <a:ext uri="{FF2B5EF4-FFF2-40B4-BE49-F238E27FC236}">
                <a16:creationId xmlns:a16="http://schemas.microsoft.com/office/drawing/2014/main" id="{C2129805-34AE-0167-4E48-5EBA9A505B16}"/>
              </a:ext>
            </a:extLst>
          </p:cNvPr>
          <p:cNvPicPr>
            <a:picLocks noChangeAspect="1"/>
          </p:cNvPicPr>
          <p:nvPr/>
        </p:nvPicPr>
        <p:blipFill>
          <a:blip r:embed="rId2"/>
          <a:srcRect/>
          <a:stretch/>
        </p:blipFill>
        <p:spPr>
          <a:xfrm>
            <a:off x="748353" y="3465736"/>
            <a:ext cx="4023432" cy="1471729"/>
          </a:xfrm>
          <a:prstGeom prst="rect">
            <a:avLst/>
          </a:prstGeom>
        </p:spPr>
      </p:pic>
      <p:sp>
        <p:nvSpPr>
          <p:cNvPr id="9" name="TextBox 8">
            <a:extLst>
              <a:ext uri="{FF2B5EF4-FFF2-40B4-BE49-F238E27FC236}">
                <a16:creationId xmlns:a16="http://schemas.microsoft.com/office/drawing/2014/main" id="{D450C308-4E0E-F73E-694C-3F0E94768C46}"/>
              </a:ext>
            </a:extLst>
          </p:cNvPr>
          <p:cNvSpPr txBox="1"/>
          <p:nvPr/>
        </p:nvSpPr>
        <p:spPr>
          <a:xfrm>
            <a:off x="651783" y="3087084"/>
            <a:ext cx="17149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213689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1028A-2125-E7ED-C210-7E9BF24C49B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2EB4F8-FC43-6A80-34C5-7A207068180A}"/>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B9A1FAAF-AD74-691C-430F-5F231D2C4C7F}"/>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975426C9-608F-B252-5C23-D6000F135059}"/>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0D58D414-F55B-0756-AB07-DB039D19970F}"/>
              </a:ext>
            </a:extLst>
          </p:cNvPr>
          <p:cNvSpPr txBox="1"/>
          <p:nvPr/>
        </p:nvSpPr>
        <p:spPr>
          <a:xfrm>
            <a:off x="419100" y="715665"/>
            <a:ext cx="9029700" cy="369332"/>
          </a:xfrm>
          <a:prstGeom prst="rect">
            <a:avLst/>
          </a:prstGeom>
          <a:noFill/>
        </p:spPr>
        <p:txBody>
          <a:bodyPr wrap="square" rtlCol="0">
            <a:spAutoFit/>
          </a:bodyPr>
          <a:lstStyle/>
          <a:p>
            <a:r>
              <a:rPr lang="en-IN" b="1" dirty="0">
                <a:solidFill>
                  <a:schemeClr val="bg1"/>
                </a:solidFill>
              </a:rPr>
              <a:t>17. Find the rolling sales average of last 3 months.</a:t>
            </a:r>
          </a:p>
        </p:txBody>
      </p:sp>
      <p:sp>
        <p:nvSpPr>
          <p:cNvPr id="6" name="TextBox 5">
            <a:extLst>
              <a:ext uri="{FF2B5EF4-FFF2-40B4-BE49-F238E27FC236}">
                <a16:creationId xmlns:a16="http://schemas.microsoft.com/office/drawing/2014/main" id="{7860B292-ADCD-CC35-7763-14CDFD1A68AF}"/>
              </a:ext>
            </a:extLst>
          </p:cNvPr>
          <p:cNvSpPr txBox="1"/>
          <p:nvPr/>
        </p:nvSpPr>
        <p:spPr>
          <a:xfrm>
            <a:off x="651782" y="1024981"/>
            <a:ext cx="7414532"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600" dirty="0">
                <a:solidFill>
                  <a:schemeClr val="accent1">
                    <a:lumMod val="40000"/>
                    <a:lumOff val="60000"/>
                  </a:schemeClr>
                </a:solidFill>
              </a:rPr>
              <a:t>select DATEPART(MONTH, </a:t>
            </a:r>
            <a:r>
              <a:rPr lang="en-IN" sz="1600" dirty="0" err="1">
                <a:solidFill>
                  <a:schemeClr val="accent1">
                    <a:lumMod val="40000"/>
                    <a:lumOff val="60000"/>
                  </a:schemeClr>
                </a:solidFill>
              </a:rPr>
              <a:t>o.date</a:t>
            </a:r>
            <a:r>
              <a:rPr lang="en-IN" sz="1600" dirty="0">
                <a:solidFill>
                  <a:schemeClr val="accent1">
                    <a:lumMod val="40000"/>
                    <a:lumOff val="60000"/>
                  </a:schemeClr>
                </a:solidFill>
              </a:rPr>
              <a:t>) </a:t>
            </a:r>
            <a:r>
              <a:rPr lang="en-IN" sz="1600" dirty="0" err="1">
                <a:solidFill>
                  <a:schemeClr val="accent1">
                    <a:lumMod val="40000"/>
                    <a:lumOff val="60000"/>
                  </a:schemeClr>
                </a:solidFill>
              </a:rPr>
              <a:t>Month_No</a:t>
            </a:r>
            <a:r>
              <a:rPr lang="en-IN" sz="1600" dirty="0">
                <a:solidFill>
                  <a:schemeClr val="accent1">
                    <a:lumMod val="40000"/>
                    <a:lumOff val="60000"/>
                  </a:schemeClr>
                </a:solidFill>
              </a:rPr>
              <a:t>, DATENAME(MONTH, </a:t>
            </a:r>
            <a:r>
              <a:rPr lang="en-IN" sz="1600" dirty="0" err="1">
                <a:solidFill>
                  <a:schemeClr val="accent1">
                    <a:lumMod val="40000"/>
                    <a:lumOff val="60000"/>
                  </a:schemeClr>
                </a:solidFill>
              </a:rPr>
              <a:t>o.date</a:t>
            </a:r>
            <a:r>
              <a:rPr lang="en-IN" sz="1600" dirty="0">
                <a:solidFill>
                  <a:schemeClr val="accent1">
                    <a:lumMod val="40000"/>
                    <a:lumOff val="60000"/>
                  </a:schemeClr>
                </a:solidFill>
              </a:rPr>
              <a:t>) </a:t>
            </a:r>
            <a:r>
              <a:rPr lang="en-IN" sz="1600" dirty="0" err="1">
                <a:solidFill>
                  <a:schemeClr val="accent1">
                    <a:lumMod val="40000"/>
                    <a:lumOff val="60000"/>
                  </a:schemeClr>
                </a:solidFill>
              </a:rPr>
              <a:t>Month_name</a:t>
            </a:r>
            <a:r>
              <a:rPr lang="en-IN" sz="1600" dirty="0">
                <a:solidFill>
                  <a:schemeClr val="accent1">
                    <a:lumMod val="40000"/>
                    <a:lumOff val="60000"/>
                  </a:schemeClr>
                </a:solidFill>
              </a:rPr>
              <a:t>, round(sum(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),2) </a:t>
            </a:r>
            <a:r>
              <a:rPr lang="en-IN" sz="1600" dirty="0" err="1">
                <a:solidFill>
                  <a:schemeClr val="accent1">
                    <a:lumMod val="40000"/>
                    <a:lumOff val="60000"/>
                  </a:schemeClr>
                </a:solidFill>
              </a:rPr>
              <a:t>Monthly_revenue</a:t>
            </a:r>
            <a:r>
              <a:rPr lang="en-IN" sz="1600" dirty="0">
                <a:solidFill>
                  <a:schemeClr val="accent1">
                    <a:lumMod val="40000"/>
                    <a:lumOff val="60000"/>
                  </a:schemeClr>
                </a:solidFill>
              </a:rPr>
              <a:t>,</a:t>
            </a:r>
          </a:p>
          <a:p>
            <a:r>
              <a:rPr lang="en-IN" sz="1600" dirty="0">
                <a:solidFill>
                  <a:schemeClr val="accent1">
                    <a:lumMod val="40000"/>
                    <a:lumOff val="60000"/>
                  </a:schemeClr>
                </a:solidFill>
              </a:rPr>
              <a:t>AVG(sum(</a:t>
            </a:r>
            <a:r>
              <a:rPr lang="en-IN" sz="1600" dirty="0" err="1">
                <a:solidFill>
                  <a:schemeClr val="accent1">
                    <a:lumMod val="40000"/>
                    <a:lumOff val="60000"/>
                  </a:schemeClr>
                </a:solidFill>
              </a:rPr>
              <a:t>od.quantity</a:t>
            </a:r>
            <a:r>
              <a:rPr lang="en-IN" sz="1600" dirty="0">
                <a:solidFill>
                  <a:schemeClr val="accent1">
                    <a:lumMod val="40000"/>
                    <a:lumOff val="60000"/>
                  </a:schemeClr>
                </a:solidFill>
              </a:rPr>
              <a:t> * </a:t>
            </a:r>
            <a:r>
              <a:rPr lang="en-IN" sz="1600" dirty="0" err="1">
                <a:solidFill>
                  <a:schemeClr val="accent1">
                    <a:lumMod val="40000"/>
                    <a:lumOff val="60000"/>
                  </a:schemeClr>
                </a:solidFill>
              </a:rPr>
              <a:t>p.price</a:t>
            </a:r>
            <a:r>
              <a:rPr lang="en-IN" sz="1600" dirty="0">
                <a:solidFill>
                  <a:schemeClr val="accent1">
                    <a:lumMod val="40000"/>
                    <a:lumOff val="60000"/>
                  </a:schemeClr>
                </a:solidFill>
              </a:rPr>
              <a:t>)) Over(order by DATEPART(MONTH, </a:t>
            </a:r>
            <a:r>
              <a:rPr lang="en-IN" sz="1600" dirty="0" err="1">
                <a:solidFill>
                  <a:schemeClr val="accent1">
                    <a:lumMod val="40000"/>
                    <a:lumOff val="60000"/>
                  </a:schemeClr>
                </a:solidFill>
              </a:rPr>
              <a:t>o.date</a:t>
            </a:r>
            <a:r>
              <a:rPr lang="en-IN" sz="1600" dirty="0">
                <a:solidFill>
                  <a:schemeClr val="accent1">
                    <a:lumMod val="40000"/>
                    <a:lumOff val="60000"/>
                  </a:schemeClr>
                </a:solidFill>
              </a:rPr>
              <a:t>)</a:t>
            </a:r>
          </a:p>
          <a:p>
            <a:r>
              <a:rPr lang="en-IN" sz="1600" dirty="0">
                <a:solidFill>
                  <a:schemeClr val="accent1">
                    <a:lumMod val="40000"/>
                    <a:lumOff val="60000"/>
                  </a:schemeClr>
                </a:solidFill>
              </a:rPr>
              <a:t>rows between 2 preceding and current row) as </a:t>
            </a:r>
          </a:p>
          <a:p>
            <a:r>
              <a:rPr lang="en-IN" sz="1600" dirty="0" err="1">
                <a:solidFill>
                  <a:schemeClr val="accent1">
                    <a:lumMod val="40000"/>
                    <a:lumOff val="60000"/>
                  </a:schemeClr>
                </a:solidFill>
              </a:rPr>
              <a:t>Rolling_Average</a:t>
            </a:r>
            <a:r>
              <a:rPr lang="en-IN" sz="1600" dirty="0">
                <a:solidFill>
                  <a:schemeClr val="accent1">
                    <a:lumMod val="40000"/>
                    <a:lumOff val="60000"/>
                  </a:schemeClr>
                </a:solidFill>
              </a:rPr>
              <a:t> from orders o join </a:t>
            </a:r>
            <a:r>
              <a:rPr lang="en-IN" sz="1600" dirty="0" err="1">
                <a:solidFill>
                  <a:schemeClr val="accent1">
                    <a:lumMod val="40000"/>
                    <a:lumOff val="60000"/>
                  </a:schemeClr>
                </a:solidFill>
              </a:rPr>
              <a:t>orders_details</a:t>
            </a:r>
            <a:r>
              <a:rPr lang="en-IN" sz="1600" dirty="0">
                <a:solidFill>
                  <a:schemeClr val="accent1">
                    <a:lumMod val="40000"/>
                    <a:lumOff val="60000"/>
                  </a:schemeClr>
                </a:solidFill>
              </a:rPr>
              <a:t> od on </a:t>
            </a:r>
            <a:r>
              <a:rPr lang="en-IN" sz="1600" dirty="0" err="1">
                <a:solidFill>
                  <a:schemeClr val="accent1">
                    <a:lumMod val="40000"/>
                    <a:lumOff val="60000"/>
                  </a:schemeClr>
                </a:solidFill>
              </a:rPr>
              <a:t>o.order_id</a:t>
            </a:r>
            <a:r>
              <a:rPr lang="en-IN" sz="1600" dirty="0">
                <a:solidFill>
                  <a:schemeClr val="accent1">
                    <a:lumMod val="40000"/>
                    <a:lumOff val="60000"/>
                  </a:schemeClr>
                </a:solidFill>
              </a:rPr>
              <a:t> = </a:t>
            </a:r>
            <a:r>
              <a:rPr lang="en-IN" sz="1600" dirty="0" err="1">
                <a:solidFill>
                  <a:schemeClr val="accent1">
                    <a:lumMod val="40000"/>
                    <a:lumOff val="60000"/>
                  </a:schemeClr>
                </a:solidFill>
              </a:rPr>
              <a:t>od.order_id</a:t>
            </a:r>
            <a:endParaRPr lang="en-IN" sz="1600" dirty="0">
              <a:solidFill>
                <a:schemeClr val="accent1">
                  <a:lumMod val="40000"/>
                  <a:lumOff val="60000"/>
                </a:schemeClr>
              </a:solidFill>
            </a:endParaRPr>
          </a:p>
          <a:p>
            <a:r>
              <a:rPr lang="en-IN" sz="1600" dirty="0">
                <a:solidFill>
                  <a:schemeClr val="accent1">
                    <a:lumMod val="40000"/>
                    <a:lumOff val="60000"/>
                  </a:schemeClr>
                </a:solidFill>
              </a:rPr>
              <a:t>join pizzas p on </a:t>
            </a:r>
            <a:r>
              <a:rPr lang="en-IN" sz="1600" dirty="0" err="1">
                <a:solidFill>
                  <a:schemeClr val="accent1">
                    <a:lumMod val="40000"/>
                    <a:lumOff val="60000"/>
                  </a:schemeClr>
                </a:solidFill>
              </a:rPr>
              <a:t>od.pizza_id</a:t>
            </a:r>
            <a:r>
              <a:rPr lang="en-IN" sz="1600" dirty="0">
                <a:solidFill>
                  <a:schemeClr val="accent1">
                    <a:lumMod val="40000"/>
                    <a:lumOff val="60000"/>
                  </a:schemeClr>
                </a:solidFill>
              </a:rPr>
              <a:t> = </a:t>
            </a:r>
            <a:r>
              <a:rPr lang="en-IN" sz="1600" dirty="0" err="1">
                <a:solidFill>
                  <a:schemeClr val="accent1">
                    <a:lumMod val="40000"/>
                    <a:lumOff val="60000"/>
                  </a:schemeClr>
                </a:solidFill>
              </a:rPr>
              <a:t>p.pizza_id</a:t>
            </a:r>
            <a:endParaRPr lang="en-IN" sz="1600" dirty="0">
              <a:solidFill>
                <a:schemeClr val="accent1">
                  <a:lumMod val="40000"/>
                  <a:lumOff val="60000"/>
                </a:schemeClr>
              </a:solidFill>
            </a:endParaRPr>
          </a:p>
          <a:p>
            <a:r>
              <a:rPr lang="en-IN" sz="1600" dirty="0">
                <a:solidFill>
                  <a:schemeClr val="accent1">
                    <a:lumMod val="40000"/>
                    <a:lumOff val="60000"/>
                  </a:schemeClr>
                </a:solidFill>
              </a:rPr>
              <a:t>group by DATEPART(MONTH, </a:t>
            </a:r>
            <a:r>
              <a:rPr lang="en-IN" sz="1600" dirty="0" err="1">
                <a:solidFill>
                  <a:schemeClr val="accent1">
                    <a:lumMod val="40000"/>
                    <a:lumOff val="60000"/>
                  </a:schemeClr>
                </a:solidFill>
              </a:rPr>
              <a:t>o.date</a:t>
            </a:r>
            <a:r>
              <a:rPr lang="en-IN" sz="1600" dirty="0">
                <a:solidFill>
                  <a:schemeClr val="accent1">
                    <a:lumMod val="40000"/>
                    <a:lumOff val="60000"/>
                  </a:schemeClr>
                </a:solidFill>
              </a:rPr>
              <a:t>), DATENAME(MONTH, </a:t>
            </a:r>
            <a:r>
              <a:rPr lang="en-IN" sz="1600" dirty="0" err="1">
                <a:solidFill>
                  <a:schemeClr val="accent1">
                    <a:lumMod val="40000"/>
                    <a:lumOff val="60000"/>
                  </a:schemeClr>
                </a:solidFill>
              </a:rPr>
              <a:t>o.date</a:t>
            </a:r>
            <a:r>
              <a:rPr lang="en-IN" sz="1600" dirty="0">
                <a:solidFill>
                  <a:schemeClr val="accent1">
                    <a:lumMod val="40000"/>
                    <a:lumOff val="60000"/>
                  </a:schemeClr>
                </a:solidFill>
              </a:rPr>
              <a:t>)  </a:t>
            </a:r>
          </a:p>
        </p:txBody>
      </p:sp>
      <p:pic>
        <p:nvPicPr>
          <p:cNvPr id="8" name="Picture 7">
            <a:extLst>
              <a:ext uri="{FF2B5EF4-FFF2-40B4-BE49-F238E27FC236}">
                <a16:creationId xmlns:a16="http://schemas.microsoft.com/office/drawing/2014/main" id="{D226CCEB-149E-07FD-88FB-ACF40D009E61}"/>
              </a:ext>
            </a:extLst>
          </p:cNvPr>
          <p:cNvPicPr>
            <a:picLocks noChangeAspect="1"/>
          </p:cNvPicPr>
          <p:nvPr/>
        </p:nvPicPr>
        <p:blipFill>
          <a:blip r:embed="rId2"/>
          <a:srcRect/>
          <a:stretch/>
        </p:blipFill>
        <p:spPr>
          <a:xfrm>
            <a:off x="1587341" y="3130485"/>
            <a:ext cx="2984659" cy="1748600"/>
          </a:xfrm>
          <a:prstGeom prst="rect">
            <a:avLst/>
          </a:prstGeom>
        </p:spPr>
      </p:pic>
      <p:sp>
        <p:nvSpPr>
          <p:cNvPr id="9" name="TextBox 8">
            <a:extLst>
              <a:ext uri="{FF2B5EF4-FFF2-40B4-BE49-F238E27FC236}">
                <a16:creationId xmlns:a16="http://schemas.microsoft.com/office/drawing/2014/main" id="{451E8D22-EA33-2294-4D3C-A6D15219854C}"/>
              </a:ext>
            </a:extLst>
          </p:cNvPr>
          <p:cNvSpPr txBox="1"/>
          <p:nvPr/>
        </p:nvSpPr>
        <p:spPr>
          <a:xfrm>
            <a:off x="651783" y="3087084"/>
            <a:ext cx="17149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2059330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CE81-D716-F655-0864-E71AED0235E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22F39A-4694-FF0C-82D6-484B0229F4D5}"/>
              </a:ext>
            </a:extLst>
          </p:cNvPr>
          <p:cNvSpPr/>
          <p:nvPr/>
        </p:nvSpPr>
        <p:spPr>
          <a:xfrm>
            <a:off x="0" y="0"/>
            <a:ext cx="9144000" cy="5143500"/>
          </a:xfrm>
          <a:prstGeom prst="rect">
            <a:avLst/>
          </a:prstGeom>
          <a:solidFill>
            <a:srgbClr val="211C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
        <p:nvSpPr>
          <p:cNvPr id="3" name="Rectangle 2">
            <a:extLst>
              <a:ext uri="{FF2B5EF4-FFF2-40B4-BE49-F238E27FC236}">
                <a16:creationId xmlns:a16="http://schemas.microsoft.com/office/drawing/2014/main" id="{345D4BED-1233-F7EA-FF3D-C4A7BDF9D1F3}"/>
              </a:ext>
            </a:extLst>
          </p:cNvPr>
          <p:cNvSpPr/>
          <p:nvPr/>
        </p:nvSpPr>
        <p:spPr>
          <a:xfrm>
            <a:off x="355600" y="304800"/>
            <a:ext cx="63500" cy="355600"/>
          </a:xfrm>
          <a:prstGeom prst="rect">
            <a:avLst/>
          </a:prstGeom>
          <a:solidFill>
            <a:srgbClr val="F044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sp>
        <p:nvSpPr>
          <p:cNvPr id="4" name="TextBox 3">
            <a:extLst>
              <a:ext uri="{FF2B5EF4-FFF2-40B4-BE49-F238E27FC236}">
                <a16:creationId xmlns:a16="http://schemas.microsoft.com/office/drawing/2014/main" id="{6D6EE8A4-34C7-34F2-88E3-5B4B64B14196}"/>
              </a:ext>
            </a:extLst>
          </p:cNvPr>
          <p:cNvSpPr txBox="1"/>
          <p:nvPr/>
        </p:nvSpPr>
        <p:spPr>
          <a:xfrm>
            <a:off x="419100" y="304800"/>
            <a:ext cx="45720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sng" strike="noStrike" kern="1200" cap="none" spc="0" normalizeH="0" baseline="0" noProof="0" dirty="0">
                <a:ln>
                  <a:noFill/>
                </a:ln>
                <a:solidFill>
                  <a:srgbClr val="FFF4E8"/>
                </a:solidFill>
                <a:effectLst/>
                <a:uLnTx/>
                <a:uFillTx/>
                <a:latin typeface="Georgia"/>
                <a:ea typeface="+mn-ea"/>
                <a:cs typeface="+mn-cs"/>
              </a:rPr>
              <a:t>Pizza Sales Report</a:t>
            </a:r>
          </a:p>
        </p:txBody>
      </p:sp>
      <p:sp>
        <p:nvSpPr>
          <p:cNvPr id="5" name="TextBox 4">
            <a:extLst>
              <a:ext uri="{FF2B5EF4-FFF2-40B4-BE49-F238E27FC236}">
                <a16:creationId xmlns:a16="http://schemas.microsoft.com/office/drawing/2014/main" id="{77269C2E-7F36-088F-1D42-42D3DDC89D40}"/>
              </a:ext>
            </a:extLst>
          </p:cNvPr>
          <p:cNvSpPr txBox="1"/>
          <p:nvPr/>
        </p:nvSpPr>
        <p:spPr>
          <a:xfrm>
            <a:off x="419100" y="715665"/>
            <a:ext cx="9086050" cy="646331"/>
          </a:xfrm>
          <a:prstGeom prst="rect">
            <a:avLst/>
          </a:prstGeom>
          <a:noFill/>
        </p:spPr>
        <p:txBody>
          <a:bodyPr wrap="square" rtlCol="0">
            <a:spAutoFit/>
          </a:bodyPr>
          <a:lstStyle/>
          <a:p>
            <a:r>
              <a:rPr lang="en-IN" b="1" dirty="0">
                <a:solidFill>
                  <a:schemeClr val="bg1"/>
                </a:solidFill>
              </a:rPr>
              <a:t>18. Compare the previous month sales with the current month and show only</a:t>
            </a:r>
          </a:p>
          <a:p>
            <a:r>
              <a:rPr lang="en-IN" b="1" dirty="0">
                <a:solidFill>
                  <a:schemeClr val="bg1"/>
                </a:solidFill>
              </a:rPr>
              <a:t>        declining sales.</a:t>
            </a:r>
          </a:p>
        </p:txBody>
      </p:sp>
      <p:sp>
        <p:nvSpPr>
          <p:cNvPr id="6" name="TextBox 5">
            <a:extLst>
              <a:ext uri="{FF2B5EF4-FFF2-40B4-BE49-F238E27FC236}">
                <a16:creationId xmlns:a16="http://schemas.microsoft.com/office/drawing/2014/main" id="{F16D5210-E216-CC82-F2CF-106004D4846B}"/>
              </a:ext>
            </a:extLst>
          </p:cNvPr>
          <p:cNvSpPr txBox="1"/>
          <p:nvPr/>
        </p:nvSpPr>
        <p:spPr>
          <a:xfrm>
            <a:off x="651782" y="1278660"/>
            <a:ext cx="7414532" cy="200054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bg1"/>
                </a:solidFill>
                <a:effectLst/>
                <a:uLnTx/>
                <a:uFillTx/>
                <a:latin typeface="Cambria" panose="02040503050406030204"/>
                <a:ea typeface="+mn-ea"/>
                <a:cs typeface="+mn-cs"/>
              </a:rPr>
              <a:t>Query –</a:t>
            </a:r>
          </a:p>
          <a:p>
            <a:r>
              <a:rPr lang="en-IN" sz="1200" dirty="0">
                <a:solidFill>
                  <a:schemeClr val="accent1">
                    <a:lumMod val="40000"/>
                    <a:lumOff val="60000"/>
                  </a:schemeClr>
                </a:solidFill>
              </a:rPr>
              <a:t>With </a:t>
            </a:r>
            <a:r>
              <a:rPr lang="en-IN" sz="1200" dirty="0" err="1">
                <a:solidFill>
                  <a:schemeClr val="accent1">
                    <a:lumMod val="40000"/>
                    <a:lumOff val="60000"/>
                  </a:schemeClr>
                </a:solidFill>
              </a:rPr>
              <a:t>cte</a:t>
            </a:r>
            <a:r>
              <a:rPr lang="en-IN" sz="1200" dirty="0">
                <a:solidFill>
                  <a:schemeClr val="accent1">
                    <a:lumMod val="40000"/>
                    <a:lumOff val="60000"/>
                  </a:schemeClr>
                </a:solidFill>
              </a:rPr>
              <a:t> as ( select DATEPART(MONTH, </a:t>
            </a:r>
            <a:r>
              <a:rPr lang="en-IN" sz="1200" dirty="0" err="1">
                <a:solidFill>
                  <a:schemeClr val="accent1">
                    <a:lumMod val="40000"/>
                    <a:lumOff val="60000"/>
                  </a:schemeClr>
                </a:solidFill>
              </a:rPr>
              <a:t>o.date</a:t>
            </a:r>
            <a:r>
              <a:rPr lang="en-IN" sz="1200" dirty="0">
                <a:solidFill>
                  <a:schemeClr val="accent1">
                    <a:lumMod val="40000"/>
                    <a:lumOff val="60000"/>
                  </a:schemeClr>
                </a:solidFill>
              </a:rPr>
              <a:t>) </a:t>
            </a:r>
            <a:r>
              <a:rPr lang="en-IN" sz="1200" dirty="0" err="1">
                <a:solidFill>
                  <a:schemeClr val="accent1">
                    <a:lumMod val="40000"/>
                    <a:lumOff val="60000"/>
                  </a:schemeClr>
                </a:solidFill>
              </a:rPr>
              <a:t>Month_No</a:t>
            </a:r>
            <a:r>
              <a:rPr lang="en-IN" sz="1200" dirty="0">
                <a:solidFill>
                  <a:schemeClr val="accent1">
                    <a:lumMod val="40000"/>
                    <a:lumOff val="60000"/>
                  </a:schemeClr>
                </a:solidFill>
              </a:rPr>
              <a:t>, DATENAME(MONTH, </a:t>
            </a:r>
            <a:r>
              <a:rPr lang="en-IN" sz="1200" dirty="0" err="1">
                <a:solidFill>
                  <a:schemeClr val="accent1">
                    <a:lumMod val="40000"/>
                    <a:lumOff val="60000"/>
                  </a:schemeClr>
                </a:solidFill>
              </a:rPr>
              <a:t>o.date</a:t>
            </a:r>
            <a:r>
              <a:rPr lang="en-IN" sz="1200" dirty="0">
                <a:solidFill>
                  <a:schemeClr val="accent1">
                    <a:lumMod val="40000"/>
                    <a:lumOff val="60000"/>
                  </a:schemeClr>
                </a:solidFill>
              </a:rPr>
              <a:t>) </a:t>
            </a:r>
            <a:r>
              <a:rPr lang="en-IN" sz="1200" dirty="0" err="1">
                <a:solidFill>
                  <a:schemeClr val="accent1">
                    <a:lumMod val="40000"/>
                    <a:lumOff val="60000"/>
                  </a:schemeClr>
                </a:solidFill>
              </a:rPr>
              <a:t>Month_name</a:t>
            </a:r>
            <a:r>
              <a:rPr lang="en-IN" sz="1200" dirty="0">
                <a:solidFill>
                  <a:schemeClr val="accent1">
                    <a:lumMod val="40000"/>
                    <a:lumOff val="60000"/>
                  </a:schemeClr>
                </a:solidFill>
              </a:rPr>
              <a:t>,</a:t>
            </a:r>
          </a:p>
          <a:p>
            <a:r>
              <a:rPr lang="en-IN" sz="1200" dirty="0">
                <a:solidFill>
                  <a:schemeClr val="accent1">
                    <a:lumMod val="40000"/>
                    <a:lumOff val="60000"/>
                  </a:schemeClr>
                </a:solidFill>
              </a:rPr>
              <a:t>round(sum(</a:t>
            </a:r>
            <a:r>
              <a:rPr lang="en-IN" sz="1200" dirty="0" err="1">
                <a:solidFill>
                  <a:schemeClr val="accent1">
                    <a:lumMod val="40000"/>
                    <a:lumOff val="60000"/>
                  </a:schemeClr>
                </a:solidFill>
              </a:rPr>
              <a:t>od.quantity</a:t>
            </a:r>
            <a:r>
              <a:rPr lang="en-IN" sz="1200" dirty="0">
                <a:solidFill>
                  <a:schemeClr val="accent1">
                    <a:lumMod val="40000"/>
                    <a:lumOff val="60000"/>
                  </a:schemeClr>
                </a:solidFill>
              </a:rPr>
              <a:t> * </a:t>
            </a:r>
            <a:r>
              <a:rPr lang="en-IN" sz="1200" dirty="0" err="1">
                <a:solidFill>
                  <a:schemeClr val="accent1">
                    <a:lumMod val="40000"/>
                    <a:lumOff val="60000"/>
                  </a:schemeClr>
                </a:solidFill>
              </a:rPr>
              <a:t>p.price</a:t>
            </a:r>
            <a:r>
              <a:rPr lang="en-IN" sz="1200" dirty="0">
                <a:solidFill>
                  <a:schemeClr val="accent1">
                    <a:lumMod val="40000"/>
                    <a:lumOff val="60000"/>
                  </a:schemeClr>
                </a:solidFill>
              </a:rPr>
              <a:t>),2) </a:t>
            </a:r>
            <a:r>
              <a:rPr lang="en-IN" sz="1200" dirty="0" err="1">
                <a:solidFill>
                  <a:schemeClr val="accent1">
                    <a:lumMod val="40000"/>
                    <a:lumOff val="60000"/>
                  </a:schemeClr>
                </a:solidFill>
              </a:rPr>
              <a:t>Monthly_revenue</a:t>
            </a:r>
            <a:r>
              <a:rPr lang="en-IN" sz="1200" dirty="0">
                <a:solidFill>
                  <a:schemeClr val="accent1">
                    <a:lumMod val="40000"/>
                    <a:lumOff val="60000"/>
                  </a:schemeClr>
                </a:solidFill>
              </a:rPr>
              <a:t>,</a:t>
            </a:r>
          </a:p>
          <a:p>
            <a:r>
              <a:rPr lang="en-IN" sz="1200" dirty="0">
                <a:solidFill>
                  <a:schemeClr val="accent1">
                    <a:lumMod val="40000"/>
                    <a:lumOff val="60000"/>
                  </a:schemeClr>
                </a:solidFill>
              </a:rPr>
              <a:t>LAG(sum(</a:t>
            </a:r>
            <a:r>
              <a:rPr lang="en-IN" sz="1200" dirty="0" err="1">
                <a:solidFill>
                  <a:schemeClr val="accent1">
                    <a:lumMod val="40000"/>
                    <a:lumOff val="60000"/>
                  </a:schemeClr>
                </a:solidFill>
              </a:rPr>
              <a:t>od.quantity</a:t>
            </a:r>
            <a:r>
              <a:rPr lang="en-IN" sz="1200" dirty="0">
                <a:solidFill>
                  <a:schemeClr val="accent1">
                    <a:lumMod val="40000"/>
                    <a:lumOff val="60000"/>
                  </a:schemeClr>
                </a:solidFill>
              </a:rPr>
              <a:t> * </a:t>
            </a:r>
            <a:r>
              <a:rPr lang="en-IN" sz="1200" dirty="0" err="1">
                <a:solidFill>
                  <a:schemeClr val="accent1">
                    <a:lumMod val="40000"/>
                    <a:lumOff val="60000"/>
                  </a:schemeClr>
                </a:solidFill>
              </a:rPr>
              <a:t>p.price</a:t>
            </a:r>
            <a:r>
              <a:rPr lang="en-IN" sz="1200" dirty="0">
                <a:solidFill>
                  <a:schemeClr val="accent1">
                    <a:lumMod val="40000"/>
                    <a:lumOff val="60000"/>
                  </a:schemeClr>
                </a:solidFill>
              </a:rPr>
              <a:t>),1,0) Over (order by DATEPART(MONTH, </a:t>
            </a:r>
            <a:r>
              <a:rPr lang="en-IN" sz="1200" dirty="0" err="1">
                <a:solidFill>
                  <a:schemeClr val="accent1">
                    <a:lumMod val="40000"/>
                    <a:lumOff val="60000"/>
                  </a:schemeClr>
                </a:solidFill>
              </a:rPr>
              <a:t>o.date</a:t>
            </a:r>
            <a:r>
              <a:rPr lang="en-IN" sz="1200" dirty="0">
                <a:solidFill>
                  <a:schemeClr val="accent1">
                    <a:lumMod val="40000"/>
                    <a:lumOff val="60000"/>
                  </a:schemeClr>
                </a:solidFill>
              </a:rPr>
              <a:t>)) </a:t>
            </a:r>
          </a:p>
          <a:p>
            <a:r>
              <a:rPr lang="en-IN" sz="1200" dirty="0" err="1">
                <a:solidFill>
                  <a:schemeClr val="accent1">
                    <a:lumMod val="40000"/>
                    <a:lumOff val="60000"/>
                  </a:schemeClr>
                </a:solidFill>
              </a:rPr>
              <a:t>Previous_Month_Sales</a:t>
            </a:r>
            <a:r>
              <a:rPr lang="en-IN" sz="1200" dirty="0">
                <a:solidFill>
                  <a:schemeClr val="accent1">
                    <a:lumMod val="40000"/>
                    <a:lumOff val="60000"/>
                  </a:schemeClr>
                </a:solidFill>
              </a:rPr>
              <a:t>, round(sum(</a:t>
            </a:r>
            <a:r>
              <a:rPr lang="en-IN" sz="1200" dirty="0" err="1">
                <a:solidFill>
                  <a:schemeClr val="accent1">
                    <a:lumMod val="40000"/>
                    <a:lumOff val="60000"/>
                  </a:schemeClr>
                </a:solidFill>
              </a:rPr>
              <a:t>od.quantity</a:t>
            </a:r>
            <a:r>
              <a:rPr lang="en-IN" sz="1200" dirty="0">
                <a:solidFill>
                  <a:schemeClr val="accent1">
                    <a:lumMod val="40000"/>
                    <a:lumOff val="60000"/>
                  </a:schemeClr>
                </a:solidFill>
              </a:rPr>
              <a:t> * </a:t>
            </a:r>
            <a:r>
              <a:rPr lang="en-IN" sz="1200" dirty="0" err="1">
                <a:solidFill>
                  <a:schemeClr val="accent1">
                    <a:lumMod val="40000"/>
                    <a:lumOff val="60000"/>
                  </a:schemeClr>
                </a:solidFill>
              </a:rPr>
              <a:t>p.price</a:t>
            </a:r>
            <a:r>
              <a:rPr lang="en-IN" sz="1200" dirty="0">
                <a:solidFill>
                  <a:schemeClr val="accent1">
                    <a:lumMod val="40000"/>
                    <a:lumOff val="60000"/>
                  </a:schemeClr>
                </a:solidFill>
              </a:rPr>
              <a:t>),2) - </a:t>
            </a:r>
          </a:p>
          <a:p>
            <a:r>
              <a:rPr lang="en-IN" sz="1200" dirty="0">
                <a:solidFill>
                  <a:schemeClr val="accent1">
                    <a:lumMod val="40000"/>
                    <a:lumOff val="60000"/>
                  </a:schemeClr>
                </a:solidFill>
              </a:rPr>
              <a:t>LAG(sum(</a:t>
            </a:r>
            <a:r>
              <a:rPr lang="en-IN" sz="1200" dirty="0" err="1">
                <a:solidFill>
                  <a:schemeClr val="accent1">
                    <a:lumMod val="40000"/>
                    <a:lumOff val="60000"/>
                  </a:schemeClr>
                </a:solidFill>
              </a:rPr>
              <a:t>od.quantity</a:t>
            </a:r>
            <a:r>
              <a:rPr lang="en-IN" sz="1200" dirty="0">
                <a:solidFill>
                  <a:schemeClr val="accent1">
                    <a:lumMod val="40000"/>
                    <a:lumOff val="60000"/>
                  </a:schemeClr>
                </a:solidFill>
              </a:rPr>
              <a:t> * </a:t>
            </a:r>
            <a:r>
              <a:rPr lang="en-IN" sz="1200" dirty="0" err="1">
                <a:solidFill>
                  <a:schemeClr val="accent1">
                    <a:lumMod val="40000"/>
                    <a:lumOff val="60000"/>
                  </a:schemeClr>
                </a:solidFill>
              </a:rPr>
              <a:t>p.price</a:t>
            </a:r>
            <a:r>
              <a:rPr lang="en-IN" sz="1200" dirty="0">
                <a:solidFill>
                  <a:schemeClr val="accent1">
                    <a:lumMod val="40000"/>
                    <a:lumOff val="60000"/>
                  </a:schemeClr>
                </a:solidFill>
              </a:rPr>
              <a:t>),1,0) Over (order by DATEPART(MONTH, </a:t>
            </a:r>
            <a:r>
              <a:rPr lang="en-IN" sz="1200" dirty="0" err="1">
                <a:solidFill>
                  <a:schemeClr val="accent1">
                    <a:lumMod val="40000"/>
                    <a:lumOff val="60000"/>
                  </a:schemeClr>
                </a:solidFill>
              </a:rPr>
              <a:t>o.date</a:t>
            </a:r>
            <a:r>
              <a:rPr lang="en-IN" sz="1200" dirty="0">
                <a:solidFill>
                  <a:schemeClr val="accent1">
                    <a:lumMod val="40000"/>
                    <a:lumOff val="60000"/>
                  </a:schemeClr>
                </a:solidFill>
              </a:rPr>
              <a:t>)) </a:t>
            </a:r>
          </a:p>
          <a:p>
            <a:r>
              <a:rPr lang="en-IN" sz="1200" dirty="0">
                <a:solidFill>
                  <a:schemeClr val="accent1">
                    <a:lumMod val="40000"/>
                    <a:lumOff val="60000"/>
                  </a:schemeClr>
                </a:solidFill>
              </a:rPr>
              <a:t>Comparison from orders o join </a:t>
            </a:r>
            <a:r>
              <a:rPr lang="en-IN" sz="1200" dirty="0" err="1">
                <a:solidFill>
                  <a:schemeClr val="accent1">
                    <a:lumMod val="40000"/>
                    <a:lumOff val="60000"/>
                  </a:schemeClr>
                </a:solidFill>
              </a:rPr>
              <a:t>orders_details</a:t>
            </a:r>
            <a:r>
              <a:rPr lang="en-IN" sz="1200" dirty="0">
                <a:solidFill>
                  <a:schemeClr val="accent1">
                    <a:lumMod val="40000"/>
                    <a:lumOff val="60000"/>
                  </a:schemeClr>
                </a:solidFill>
              </a:rPr>
              <a:t> od on </a:t>
            </a:r>
            <a:r>
              <a:rPr lang="en-IN" sz="1200" dirty="0" err="1">
                <a:solidFill>
                  <a:schemeClr val="accent1">
                    <a:lumMod val="40000"/>
                    <a:lumOff val="60000"/>
                  </a:schemeClr>
                </a:solidFill>
              </a:rPr>
              <a:t>o.order_id</a:t>
            </a:r>
            <a:r>
              <a:rPr lang="en-IN" sz="1200" dirty="0">
                <a:solidFill>
                  <a:schemeClr val="accent1">
                    <a:lumMod val="40000"/>
                    <a:lumOff val="60000"/>
                  </a:schemeClr>
                </a:solidFill>
              </a:rPr>
              <a:t> = </a:t>
            </a:r>
            <a:r>
              <a:rPr lang="en-IN" sz="1200" dirty="0" err="1">
                <a:solidFill>
                  <a:schemeClr val="accent1">
                    <a:lumMod val="40000"/>
                    <a:lumOff val="60000"/>
                  </a:schemeClr>
                </a:solidFill>
              </a:rPr>
              <a:t>od.order_id</a:t>
            </a:r>
            <a:endParaRPr lang="en-IN" sz="1200" dirty="0">
              <a:solidFill>
                <a:schemeClr val="accent1">
                  <a:lumMod val="40000"/>
                  <a:lumOff val="60000"/>
                </a:schemeClr>
              </a:solidFill>
            </a:endParaRPr>
          </a:p>
          <a:p>
            <a:r>
              <a:rPr lang="en-IN" sz="1200" dirty="0">
                <a:solidFill>
                  <a:schemeClr val="accent1">
                    <a:lumMod val="40000"/>
                    <a:lumOff val="60000"/>
                  </a:schemeClr>
                </a:solidFill>
              </a:rPr>
              <a:t>join pizzas p on </a:t>
            </a:r>
            <a:r>
              <a:rPr lang="en-IN" sz="1200" dirty="0" err="1">
                <a:solidFill>
                  <a:schemeClr val="accent1">
                    <a:lumMod val="40000"/>
                    <a:lumOff val="60000"/>
                  </a:schemeClr>
                </a:solidFill>
              </a:rPr>
              <a:t>od.pizza_id</a:t>
            </a:r>
            <a:r>
              <a:rPr lang="en-IN" sz="1200" dirty="0">
                <a:solidFill>
                  <a:schemeClr val="accent1">
                    <a:lumMod val="40000"/>
                    <a:lumOff val="60000"/>
                  </a:schemeClr>
                </a:solidFill>
              </a:rPr>
              <a:t> = </a:t>
            </a:r>
            <a:r>
              <a:rPr lang="en-IN" sz="1200" dirty="0" err="1">
                <a:solidFill>
                  <a:schemeClr val="accent1">
                    <a:lumMod val="40000"/>
                    <a:lumOff val="60000"/>
                  </a:schemeClr>
                </a:solidFill>
              </a:rPr>
              <a:t>p.pizza_id</a:t>
            </a:r>
            <a:endParaRPr lang="en-IN" sz="1200" dirty="0">
              <a:solidFill>
                <a:schemeClr val="accent1">
                  <a:lumMod val="40000"/>
                  <a:lumOff val="60000"/>
                </a:schemeClr>
              </a:solidFill>
            </a:endParaRPr>
          </a:p>
          <a:p>
            <a:r>
              <a:rPr lang="en-IN" sz="1200" dirty="0">
                <a:solidFill>
                  <a:schemeClr val="accent1">
                    <a:lumMod val="40000"/>
                    <a:lumOff val="60000"/>
                  </a:schemeClr>
                </a:solidFill>
              </a:rPr>
              <a:t>group by DATEPART(MONTH, </a:t>
            </a:r>
            <a:r>
              <a:rPr lang="en-IN" sz="1200" dirty="0" err="1">
                <a:solidFill>
                  <a:schemeClr val="accent1">
                    <a:lumMod val="40000"/>
                    <a:lumOff val="60000"/>
                  </a:schemeClr>
                </a:solidFill>
              </a:rPr>
              <a:t>o.date</a:t>
            </a:r>
            <a:r>
              <a:rPr lang="en-IN" sz="1200" dirty="0">
                <a:solidFill>
                  <a:schemeClr val="accent1">
                    <a:lumMod val="40000"/>
                    <a:lumOff val="60000"/>
                  </a:schemeClr>
                </a:solidFill>
              </a:rPr>
              <a:t>), DATENAME(MONTH, </a:t>
            </a:r>
            <a:r>
              <a:rPr lang="en-IN" sz="1200" dirty="0" err="1">
                <a:solidFill>
                  <a:schemeClr val="accent1">
                    <a:lumMod val="40000"/>
                    <a:lumOff val="60000"/>
                  </a:schemeClr>
                </a:solidFill>
              </a:rPr>
              <a:t>o.date</a:t>
            </a:r>
            <a:r>
              <a:rPr lang="en-IN" sz="1200" dirty="0">
                <a:solidFill>
                  <a:schemeClr val="accent1">
                    <a:lumMod val="40000"/>
                    <a:lumOff val="60000"/>
                  </a:schemeClr>
                </a:solidFill>
              </a:rPr>
              <a:t>))</a:t>
            </a:r>
          </a:p>
          <a:p>
            <a:r>
              <a:rPr lang="en-IN" sz="1200" dirty="0">
                <a:solidFill>
                  <a:schemeClr val="accent1">
                    <a:lumMod val="40000"/>
                    <a:lumOff val="60000"/>
                  </a:schemeClr>
                </a:solidFill>
              </a:rPr>
              <a:t>select * from </a:t>
            </a:r>
            <a:r>
              <a:rPr lang="en-IN" sz="1200" dirty="0" err="1">
                <a:solidFill>
                  <a:schemeClr val="accent1">
                    <a:lumMod val="40000"/>
                    <a:lumOff val="60000"/>
                  </a:schemeClr>
                </a:solidFill>
              </a:rPr>
              <a:t>cte</a:t>
            </a:r>
            <a:r>
              <a:rPr lang="en-IN" sz="1200" dirty="0">
                <a:solidFill>
                  <a:schemeClr val="accent1">
                    <a:lumMod val="40000"/>
                    <a:lumOff val="60000"/>
                  </a:schemeClr>
                </a:solidFill>
              </a:rPr>
              <a:t> where </a:t>
            </a:r>
            <a:r>
              <a:rPr lang="en-IN" sz="1200" dirty="0" err="1">
                <a:solidFill>
                  <a:schemeClr val="accent1">
                    <a:lumMod val="40000"/>
                    <a:lumOff val="60000"/>
                  </a:schemeClr>
                </a:solidFill>
              </a:rPr>
              <a:t>cte.Comparison</a:t>
            </a:r>
            <a:r>
              <a:rPr lang="en-IN" sz="1200" dirty="0">
                <a:solidFill>
                  <a:schemeClr val="accent1">
                    <a:lumMod val="40000"/>
                    <a:lumOff val="60000"/>
                  </a:schemeClr>
                </a:solidFill>
              </a:rPr>
              <a:t> &lt; 0</a:t>
            </a:r>
          </a:p>
        </p:txBody>
      </p:sp>
      <p:pic>
        <p:nvPicPr>
          <p:cNvPr id="8" name="Picture 7">
            <a:extLst>
              <a:ext uri="{FF2B5EF4-FFF2-40B4-BE49-F238E27FC236}">
                <a16:creationId xmlns:a16="http://schemas.microsoft.com/office/drawing/2014/main" id="{42E66C60-1DFE-727B-6226-AD66DF5C9FC0}"/>
              </a:ext>
            </a:extLst>
          </p:cNvPr>
          <p:cNvPicPr>
            <a:picLocks noChangeAspect="1"/>
          </p:cNvPicPr>
          <p:nvPr/>
        </p:nvPicPr>
        <p:blipFill>
          <a:blip r:embed="rId2"/>
          <a:srcRect/>
          <a:stretch/>
        </p:blipFill>
        <p:spPr>
          <a:xfrm>
            <a:off x="1587341" y="3396851"/>
            <a:ext cx="4962646" cy="1441849"/>
          </a:xfrm>
          <a:prstGeom prst="rect">
            <a:avLst/>
          </a:prstGeom>
        </p:spPr>
      </p:pic>
      <p:sp>
        <p:nvSpPr>
          <p:cNvPr id="9" name="TextBox 8">
            <a:extLst>
              <a:ext uri="{FF2B5EF4-FFF2-40B4-BE49-F238E27FC236}">
                <a16:creationId xmlns:a16="http://schemas.microsoft.com/office/drawing/2014/main" id="{7B98D8BB-ED02-4B6C-D335-C6C5FF450020}"/>
              </a:ext>
            </a:extLst>
          </p:cNvPr>
          <p:cNvSpPr txBox="1"/>
          <p:nvPr/>
        </p:nvSpPr>
        <p:spPr>
          <a:xfrm>
            <a:off x="651783" y="3302566"/>
            <a:ext cx="17149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panose="02040503050406030204"/>
                <a:ea typeface="+mn-ea"/>
                <a:cs typeface="+mn-cs"/>
              </a:rPr>
              <a:t>Result -</a:t>
            </a:r>
            <a:endParaRPr kumimoji="0" lang="en-IN" sz="1800" b="0" i="0" u="none" strike="noStrike" kern="1200" cap="none" spc="0" normalizeH="0" baseline="0" noProof="0" dirty="0">
              <a:ln>
                <a:noFill/>
              </a:ln>
              <a:solidFill>
                <a:prstClr val="white"/>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570599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F1A17"/>
        </a:solidFill>
        <a:effectLst/>
      </p:bgPr>
    </p:bg>
    <p:spTree>
      <p:nvGrpSpPr>
        <p:cNvPr id="1" name=""/>
        <p:cNvGrpSpPr/>
        <p:nvPr/>
      </p:nvGrpSpPr>
      <p:grpSpPr>
        <a:xfrm>
          <a:off x="0" y="0"/>
          <a:ext cx="0" cy="0"/>
          <a:chOff x="0" y="0"/>
          <a:chExt cx="0" cy="0"/>
        </a:xfrm>
      </p:grpSpPr>
      <p:sp>
        <p:nvSpPr>
          <p:cNvPr id="2" name="Shape 0"/>
          <p:cNvSpPr/>
          <p:nvPr/>
        </p:nvSpPr>
        <p:spPr>
          <a:xfrm>
            <a:off x="548640" y="685800"/>
            <a:ext cx="73152" cy="292608"/>
          </a:xfrm>
          <a:prstGeom prst="rect">
            <a:avLst/>
          </a:prstGeom>
          <a:solidFill>
            <a:srgbClr val="E8452C"/>
          </a:solidFill>
          <a:ln w="12700">
            <a:solidFill>
              <a:srgbClr val="E8452C"/>
            </a:solidFill>
            <a:prstDash val="solid"/>
          </a:ln>
        </p:spPr>
      </p:sp>
      <p:sp>
        <p:nvSpPr>
          <p:cNvPr id="3" name="Text 1"/>
          <p:cNvSpPr txBox="1"/>
          <p:nvPr/>
        </p:nvSpPr>
        <p:spPr>
          <a:xfrm>
            <a:off x="731520" y="640080"/>
            <a:ext cx="3200400" cy="365760"/>
          </a:xfrm>
          <a:prstGeom prst="rect">
            <a:avLst/>
          </a:prstGeom>
          <a:noFill/>
          <a:ln/>
        </p:spPr>
        <p:txBody>
          <a:bodyPr wrap="square" lIns="0" tIns="0" rIns="0" bIns="0" rtlCol="0" anchor="ctr"/>
          <a:lstStyle/>
          <a:p>
            <a:pPr marL="0" indent="0">
              <a:buNone/>
            </a:pPr>
            <a:r>
              <a:rPr lang="en-US" sz="2400" b="1" kern="0" spc="400" dirty="0">
                <a:solidFill>
                  <a:srgbClr val="F4C542"/>
                </a:solidFill>
                <a:latin typeface="Calibri" pitchFamily="34" charset="0"/>
                <a:ea typeface="Calibri" pitchFamily="34" charset="-122"/>
                <a:cs typeface="Calibri" pitchFamily="34" charset="-120"/>
              </a:rPr>
              <a:t>CONCLUSION</a:t>
            </a:r>
            <a:endParaRPr lang="en-US" sz="2400" dirty="0"/>
          </a:p>
        </p:txBody>
      </p:sp>
      <p:sp>
        <p:nvSpPr>
          <p:cNvPr id="4" name="Text 2"/>
          <p:cNvSpPr txBox="1"/>
          <p:nvPr/>
        </p:nvSpPr>
        <p:spPr>
          <a:xfrm>
            <a:off x="548640" y="1143000"/>
            <a:ext cx="3474720" cy="731520"/>
          </a:xfrm>
          <a:prstGeom prst="rect">
            <a:avLst/>
          </a:prstGeom>
          <a:noFill/>
          <a:ln/>
        </p:spPr>
        <p:txBody>
          <a:bodyPr wrap="square" lIns="0" tIns="0" rIns="0" bIns="0" rtlCol="0" anchor="ctr"/>
          <a:lstStyle/>
          <a:p>
            <a:pPr marL="0" indent="0">
              <a:buNone/>
            </a:pPr>
            <a:r>
              <a:rPr lang="en-US" sz="3800" b="1" dirty="0">
                <a:solidFill>
                  <a:srgbClr val="FFF4E0"/>
                </a:solidFill>
                <a:latin typeface="Georgia" pitchFamily="34" charset="0"/>
                <a:ea typeface="Georgia" pitchFamily="34" charset="-122"/>
                <a:cs typeface="Georgia" pitchFamily="34" charset="-120"/>
              </a:rPr>
              <a:t>THE FINAL</a:t>
            </a:r>
            <a:endParaRPr lang="en-US" sz="3800" dirty="0"/>
          </a:p>
        </p:txBody>
      </p:sp>
      <p:sp>
        <p:nvSpPr>
          <p:cNvPr id="5" name="Text 3"/>
          <p:cNvSpPr txBox="1"/>
          <p:nvPr/>
        </p:nvSpPr>
        <p:spPr>
          <a:xfrm>
            <a:off x="548640" y="1783080"/>
            <a:ext cx="3474720" cy="1005840"/>
          </a:xfrm>
          <a:prstGeom prst="rect">
            <a:avLst/>
          </a:prstGeom>
          <a:noFill/>
          <a:ln/>
        </p:spPr>
        <p:txBody>
          <a:bodyPr wrap="square" lIns="0" tIns="0" rIns="0" bIns="0" rtlCol="0" anchor="ctr"/>
          <a:lstStyle/>
          <a:p>
            <a:pPr marL="0" indent="0">
              <a:buNone/>
            </a:pPr>
            <a:r>
              <a:rPr lang="en-US" sz="6400" b="1" dirty="0">
                <a:solidFill>
                  <a:srgbClr val="E8452C"/>
                </a:solidFill>
                <a:latin typeface="Georgia" pitchFamily="34" charset="0"/>
                <a:ea typeface="Georgia" pitchFamily="34" charset="-122"/>
                <a:cs typeface="Georgia" pitchFamily="34" charset="-120"/>
              </a:rPr>
              <a:t>SLICE</a:t>
            </a:r>
            <a:endParaRPr lang="en-US" sz="6400" dirty="0"/>
          </a:p>
        </p:txBody>
      </p:sp>
      <p:sp>
        <p:nvSpPr>
          <p:cNvPr id="6" name="Text 4"/>
          <p:cNvSpPr txBox="1"/>
          <p:nvPr/>
        </p:nvSpPr>
        <p:spPr>
          <a:xfrm>
            <a:off x="548640" y="2880360"/>
            <a:ext cx="3200400" cy="548640"/>
          </a:xfrm>
          <a:prstGeom prst="rect">
            <a:avLst/>
          </a:prstGeom>
          <a:noFill/>
          <a:ln/>
        </p:spPr>
        <p:txBody>
          <a:bodyPr wrap="square" lIns="0" tIns="0" rIns="0" bIns="0" rtlCol="0" anchor="ctr"/>
          <a:lstStyle/>
          <a:p>
            <a:pPr marL="0" indent="0">
              <a:buNone/>
            </a:pPr>
            <a:r>
              <a:rPr lang="en-US" sz="1300" i="1" dirty="0">
                <a:solidFill>
                  <a:srgbClr val="D8C9B6"/>
                </a:solidFill>
                <a:latin typeface="Calibri" pitchFamily="34" charset="0"/>
                <a:ea typeface="Calibri" pitchFamily="34" charset="-122"/>
                <a:cs typeface="Calibri" pitchFamily="34" charset="-120"/>
              </a:rPr>
              <a:t>Raw orders turned into tasty, actionable insights with Microsoft SQL Server.</a:t>
            </a:r>
            <a:endParaRPr lang="en-US" sz="1300" dirty="0"/>
          </a:p>
        </p:txBody>
      </p:sp>
      <p:sp>
        <p:nvSpPr>
          <p:cNvPr id="7" name="Text 5"/>
          <p:cNvSpPr txBox="1"/>
          <p:nvPr/>
        </p:nvSpPr>
        <p:spPr>
          <a:xfrm>
            <a:off x="548640" y="3611880"/>
            <a:ext cx="1463040" cy="384048"/>
          </a:xfrm>
          <a:prstGeom prst="roundRect">
            <a:avLst>
              <a:gd name="adj" fmla="val 50000"/>
            </a:avLst>
          </a:prstGeom>
          <a:solidFill>
            <a:srgbClr val="E8452C"/>
          </a:solidFill>
          <a:ln>
            <a:solidFill>
              <a:srgbClr val="E8452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Thank You!</a:t>
            </a:r>
            <a:endParaRPr lang="en-US" sz="1300" dirty="0"/>
          </a:p>
        </p:txBody>
      </p:sp>
      <p:sp>
        <p:nvSpPr>
          <p:cNvPr id="8" name="Shape 6"/>
          <p:cNvSpPr/>
          <p:nvPr/>
        </p:nvSpPr>
        <p:spPr>
          <a:xfrm>
            <a:off x="2221992" y="3511296"/>
            <a:ext cx="585216" cy="585216"/>
          </a:xfrm>
          <a:prstGeom prst="ellipse">
            <a:avLst/>
          </a:prstGeom>
          <a:solidFill>
            <a:srgbClr val="D9923F"/>
          </a:solidFill>
          <a:ln w="12700">
            <a:solidFill>
              <a:srgbClr val="D9923F"/>
            </a:solidFill>
            <a:prstDash val="solid"/>
          </a:ln>
        </p:spPr>
      </p:sp>
      <p:sp>
        <p:nvSpPr>
          <p:cNvPr id="9" name="Shape 7"/>
          <p:cNvSpPr/>
          <p:nvPr/>
        </p:nvSpPr>
        <p:spPr>
          <a:xfrm>
            <a:off x="2258568" y="3547872"/>
            <a:ext cx="512064" cy="512064"/>
          </a:xfrm>
          <a:prstGeom prst="ellipse">
            <a:avLst/>
          </a:prstGeom>
          <a:solidFill>
            <a:srgbClr val="C0392B"/>
          </a:solidFill>
          <a:ln w="12700">
            <a:solidFill>
              <a:srgbClr val="C0392B"/>
            </a:solidFill>
            <a:prstDash val="solid"/>
          </a:ln>
        </p:spPr>
      </p:sp>
      <p:sp>
        <p:nvSpPr>
          <p:cNvPr id="10" name="Shape 8"/>
          <p:cNvSpPr/>
          <p:nvPr/>
        </p:nvSpPr>
        <p:spPr>
          <a:xfrm>
            <a:off x="2286000" y="3575304"/>
            <a:ext cx="457200" cy="457200"/>
          </a:xfrm>
          <a:prstGeom prst="ellipse">
            <a:avLst/>
          </a:prstGeom>
          <a:solidFill>
            <a:srgbClr val="F4C542"/>
          </a:solidFill>
          <a:ln w="12700">
            <a:solidFill>
              <a:srgbClr val="F4C542"/>
            </a:solidFill>
            <a:prstDash val="solid"/>
          </a:ln>
        </p:spPr>
      </p:sp>
      <p:sp>
        <p:nvSpPr>
          <p:cNvPr id="11" name="Shape 9"/>
          <p:cNvSpPr/>
          <p:nvPr/>
        </p:nvSpPr>
        <p:spPr>
          <a:xfrm>
            <a:off x="2368296" y="3675888"/>
            <a:ext cx="109728" cy="109728"/>
          </a:xfrm>
          <a:prstGeom prst="ellipse">
            <a:avLst/>
          </a:prstGeom>
          <a:solidFill>
            <a:srgbClr val="A9281E"/>
          </a:solidFill>
          <a:ln w="12700">
            <a:solidFill>
              <a:srgbClr val="A9281E"/>
            </a:solidFill>
            <a:prstDash val="solid"/>
          </a:ln>
        </p:spPr>
      </p:sp>
      <p:sp>
        <p:nvSpPr>
          <p:cNvPr id="12" name="Shape 10"/>
          <p:cNvSpPr/>
          <p:nvPr/>
        </p:nvSpPr>
        <p:spPr>
          <a:xfrm>
            <a:off x="2551176" y="3794760"/>
            <a:ext cx="109728" cy="109728"/>
          </a:xfrm>
          <a:prstGeom prst="ellipse">
            <a:avLst/>
          </a:prstGeom>
          <a:solidFill>
            <a:srgbClr val="A9281E"/>
          </a:solidFill>
          <a:ln w="12700">
            <a:solidFill>
              <a:srgbClr val="A9281E"/>
            </a:solidFill>
            <a:prstDash val="solid"/>
          </a:ln>
        </p:spPr>
      </p:sp>
      <p:sp>
        <p:nvSpPr>
          <p:cNvPr id="13" name="Shape 11"/>
          <p:cNvSpPr/>
          <p:nvPr/>
        </p:nvSpPr>
        <p:spPr>
          <a:xfrm>
            <a:off x="2441448" y="3877056"/>
            <a:ext cx="109728" cy="109728"/>
          </a:xfrm>
          <a:prstGeom prst="ellipse">
            <a:avLst/>
          </a:prstGeom>
          <a:solidFill>
            <a:srgbClr val="A9281E"/>
          </a:solidFill>
          <a:ln w="12700">
            <a:solidFill>
              <a:srgbClr val="A9281E"/>
            </a:solidFill>
            <a:prstDash val="solid"/>
          </a:ln>
        </p:spPr>
      </p:sp>
      <p:sp>
        <p:nvSpPr>
          <p:cNvPr id="14" name="Text 12"/>
          <p:cNvSpPr txBox="1"/>
          <p:nvPr/>
        </p:nvSpPr>
        <p:spPr>
          <a:xfrm>
            <a:off x="548640" y="4224528"/>
            <a:ext cx="3566160" cy="274320"/>
          </a:xfrm>
          <a:prstGeom prst="rect">
            <a:avLst/>
          </a:prstGeom>
          <a:noFill/>
          <a:ln/>
        </p:spPr>
        <p:txBody>
          <a:bodyPr wrap="square" lIns="0" tIns="0" rIns="0" bIns="0" rtlCol="0" anchor="ctr"/>
          <a:lstStyle/>
          <a:p>
            <a:pPr marL="0" indent="0">
              <a:buNone/>
            </a:pPr>
            <a:r>
              <a:rPr lang="en-US" sz="1100" dirty="0">
                <a:solidFill>
                  <a:srgbClr val="A89A89"/>
                </a:solidFill>
                <a:latin typeface="Calibri" pitchFamily="34" charset="0"/>
                <a:ea typeface="Calibri" pitchFamily="34" charset="-122"/>
                <a:cs typeface="Calibri" pitchFamily="34" charset="-120"/>
              </a:rPr>
              <a:t>Let’s connect: </a:t>
            </a:r>
            <a:r>
              <a:rPr lang="en-US" sz="1100" u="sng" dirty="0">
                <a:solidFill>
                  <a:srgbClr val="F4C542"/>
                </a:solidFill>
                <a:latin typeface="Calibri" pitchFamily="34" charset="0"/>
                <a:ea typeface="Calibri" pitchFamily="34" charset="-122"/>
                <a:cs typeface="Calibri" pitchFamily="34" charset="-120"/>
                <a:hlinkClick r:id="rId3" tooltip="Send an email">
                  <a:extLst>
                    <a:ext uri="{A12FA001-AC4F-418D-AE19-62706E023703}">
                      <ahyp:hlinkClr xmlns:ahyp="http://schemas.microsoft.com/office/drawing/2018/hyperlinkcolor" val="tx"/>
                    </a:ext>
                  </a:extLst>
                </a:hlinkClick>
              </a:rPr>
              <a:t>amangusain8920@gmail.com</a:t>
            </a:r>
            <a:endParaRPr lang="en-US" sz="1100" dirty="0"/>
          </a:p>
        </p:txBody>
      </p:sp>
      <p:sp>
        <p:nvSpPr>
          <p:cNvPr id="15" name="Text 13"/>
          <p:cNvSpPr txBox="1"/>
          <p:nvPr/>
        </p:nvSpPr>
        <p:spPr>
          <a:xfrm>
            <a:off x="548640" y="4572000"/>
            <a:ext cx="3566160" cy="274320"/>
          </a:xfrm>
          <a:prstGeom prst="rect">
            <a:avLst/>
          </a:prstGeom>
          <a:noFill/>
          <a:ln/>
        </p:spPr>
        <p:txBody>
          <a:bodyPr wrap="square" lIns="0" tIns="0" rIns="0" bIns="0" rtlCol="0" anchor="ctr"/>
          <a:lstStyle/>
          <a:p>
            <a:pPr marL="0" indent="0">
              <a:buNone/>
            </a:pPr>
            <a:r>
              <a:rPr lang="en-US" sz="1000" dirty="0">
                <a:solidFill>
                  <a:srgbClr val="A89A89"/>
                </a:solidFill>
                <a:latin typeface="Calibri" pitchFamily="34" charset="0"/>
                <a:ea typeface="Calibri" pitchFamily="34" charset="-122"/>
                <a:cs typeface="Calibri" pitchFamily="34" charset="-120"/>
              </a:rPr>
              <a:t>Aman Gusain  |  Aspiring Data Analyst</a:t>
            </a:r>
            <a:endParaRPr lang="en-US" sz="1000" dirty="0"/>
          </a:p>
        </p:txBody>
      </p:sp>
      <p:sp>
        <p:nvSpPr>
          <p:cNvPr id="16" name="Shape 14"/>
          <p:cNvSpPr/>
          <p:nvPr/>
        </p:nvSpPr>
        <p:spPr>
          <a:xfrm>
            <a:off x="4206240" y="548640"/>
            <a:ext cx="2103120" cy="1691640"/>
          </a:xfrm>
          <a:prstGeom prst="roundRect">
            <a:avLst>
              <a:gd name="adj" fmla="val 5405"/>
            </a:avLst>
          </a:prstGeom>
          <a:solidFill>
            <a:srgbClr val="2A221D"/>
          </a:solidFill>
          <a:ln w="12700">
            <a:solidFill>
              <a:srgbClr val="3A2E27"/>
            </a:solidFill>
            <a:prstDash val="solid"/>
          </a:ln>
        </p:spPr>
      </p:sp>
      <p:sp>
        <p:nvSpPr>
          <p:cNvPr id="17" name="Shape 15"/>
          <p:cNvSpPr/>
          <p:nvPr/>
        </p:nvSpPr>
        <p:spPr>
          <a:xfrm>
            <a:off x="4343400" y="548640"/>
            <a:ext cx="1828800" cy="54864"/>
          </a:xfrm>
          <a:prstGeom prst="rect">
            <a:avLst/>
          </a:prstGeom>
          <a:solidFill>
            <a:srgbClr val="E8452C"/>
          </a:solidFill>
          <a:ln w="12700">
            <a:solidFill>
              <a:srgbClr val="E8452C"/>
            </a:solidFill>
            <a:prstDash val="solid"/>
          </a:ln>
        </p:spPr>
      </p:sp>
      <p:sp>
        <p:nvSpPr>
          <p:cNvPr id="18" name="Text 16"/>
          <p:cNvSpPr txBox="1"/>
          <p:nvPr/>
        </p:nvSpPr>
        <p:spPr>
          <a:xfrm>
            <a:off x="4343400" y="749808"/>
            <a:ext cx="365760" cy="365760"/>
          </a:xfrm>
          <a:prstGeom prst="ellipse">
            <a:avLst/>
          </a:prstGeom>
          <a:solidFill>
            <a:srgbClr val="E8452C"/>
          </a:solidFill>
          <a:ln>
            <a:solidFill>
              <a:srgbClr val="E8452C"/>
            </a:solid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9" name="Text 17"/>
          <p:cNvSpPr txBox="1"/>
          <p:nvPr/>
        </p:nvSpPr>
        <p:spPr>
          <a:xfrm>
            <a:off x="4343400" y="1207008"/>
            <a:ext cx="1828800" cy="274320"/>
          </a:xfrm>
          <a:prstGeom prst="rect">
            <a:avLst/>
          </a:prstGeom>
          <a:noFill/>
          <a:ln/>
        </p:spPr>
        <p:txBody>
          <a:bodyPr wrap="square" lIns="0" tIns="0" rIns="0" bIns="0" rtlCol="0" anchor="ctr"/>
          <a:lstStyle/>
          <a:p>
            <a:pPr marL="0" indent="0">
              <a:buNone/>
            </a:pPr>
            <a:r>
              <a:rPr lang="en-US" sz="1400" b="1" dirty="0">
                <a:solidFill>
                  <a:srgbClr val="FFF4E0"/>
                </a:solidFill>
                <a:latin typeface="Georgia" pitchFamily="34" charset="0"/>
                <a:ea typeface="Georgia" pitchFamily="34" charset="-122"/>
                <a:cs typeface="Georgia" pitchFamily="34" charset="-120"/>
              </a:rPr>
              <a:t>Business Health</a:t>
            </a:r>
            <a:endParaRPr lang="en-US" sz="1400" dirty="0"/>
          </a:p>
        </p:txBody>
      </p:sp>
      <p:sp>
        <p:nvSpPr>
          <p:cNvPr id="20" name="Text 18"/>
          <p:cNvSpPr txBox="1"/>
          <p:nvPr/>
        </p:nvSpPr>
        <p:spPr>
          <a:xfrm>
            <a:off x="4343400" y="1508760"/>
            <a:ext cx="1828800" cy="658368"/>
          </a:xfrm>
          <a:prstGeom prst="rect">
            <a:avLst/>
          </a:prstGeom>
          <a:noFill/>
          <a:ln/>
        </p:spPr>
        <p:txBody>
          <a:bodyPr wrap="square" lIns="0" tIns="0" rIns="0" bIns="0" rtlCol="0" anchor="t"/>
          <a:lstStyle/>
          <a:p>
            <a:pPr marL="0" indent="0">
              <a:buNone/>
            </a:pPr>
            <a:r>
              <a:rPr lang="en-US" sz="1050" dirty="0">
                <a:solidFill>
                  <a:srgbClr val="D8C9B6"/>
                </a:solidFill>
                <a:latin typeface="Calibri" pitchFamily="34" charset="0"/>
                <a:ea typeface="Calibri" pitchFamily="34" charset="-122"/>
                <a:cs typeface="Calibri" pitchFamily="34" charset="-120"/>
              </a:rPr>
              <a:t>Total orders, revenue and pizzas sold gave a clear snapshot of overall performance.</a:t>
            </a:r>
            <a:endParaRPr lang="en-US" sz="1050" dirty="0"/>
          </a:p>
        </p:txBody>
      </p:sp>
      <p:sp>
        <p:nvSpPr>
          <p:cNvPr id="21" name="Shape 19"/>
          <p:cNvSpPr/>
          <p:nvPr/>
        </p:nvSpPr>
        <p:spPr>
          <a:xfrm>
            <a:off x="6492240" y="548640"/>
            <a:ext cx="2103120" cy="1691640"/>
          </a:xfrm>
          <a:prstGeom prst="roundRect">
            <a:avLst>
              <a:gd name="adj" fmla="val 5405"/>
            </a:avLst>
          </a:prstGeom>
          <a:solidFill>
            <a:srgbClr val="2A221D"/>
          </a:solidFill>
          <a:ln w="12700">
            <a:solidFill>
              <a:srgbClr val="3A2E27"/>
            </a:solidFill>
            <a:prstDash val="solid"/>
          </a:ln>
        </p:spPr>
      </p:sp>
      <p:sp>
        <p:nvSpPr>
          <p:cNvPr id="22" name="Shape 20"/>
          <p:cNvSpPr/>
          <p:nvPr/>
        </p:nvSpPr>
        <p:spPr>
          <a:xfrm>
            <a:off x="6629400" y="548640"/>
            <a:ext cx="1828800" cy="54864"/>
          </a:xfrm>
          <a:prstGeom prst="rect">
            <a:avLst/>
          </a:prstGeom>
          <a:solidFill>
            <a:srgbClr val="D9923F"/>
          </a:solidFill>
          <a:ln w="12700">
            <a:solidFill>
              <a:srgbClr val="D9923F"/>
            </a:solidFill>
            <a:prstDash val="solid"/>
          </a:ln>
        </p:spPr>
      </p:sp>
      <p:sp>
        <p:nvSpPr>
          <p:cNvPr id="23" name="Text 21"/>
          <p:cNvSpPr txBox="1"/>
          <p:nvPr/>
        </p:nvSpPr>
        <p:spPr>
          <a:xfrm>
            <a:off x="6629400" y="749808"/>
            <a:ext cx="365760" cy="365760"/>
          </a:xfrm>
          <a:prstGeom prst="ellipse">
            <a:avLst/>
          </a:prstGeom>
          <a:solidFill>
            <a:srgbClr val="D9923F"/>
          </a:solidFill>
          <a:ln>
            <a:solidFill>
              <a:srgbClr val="D9923F"/>
            </a:solid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24" name="Text 22"/>
          <p:cNvSpPr txBox="1"/>
          <p:nvPr/>
        </p:nvSpPr>
        <p:spPr>
          <a:xfrm>
            <a:off x="6629400" y="1207008"/>
            <a:ext cx="1828800" cy="274320"/>
          </a:xfrm>
          <a:prstGeom prst="rect">
            <a:avLst/>
          </a:prstGeom>
          <a:noFill/>
          <a:ln/>
        </p:spPr>
        <p:txBody>
          <a:bodyPr wrap="square" lIns="0" tIns="0" rIns="0" bIns="0" rtlCol="0" anchor="ctr"/>
          <a:lstStyle/>
          <a:p>
            <a:pPr marL="0" indent="0">
              <a:buNone/>
            </a:pPr>
            <a:r>
              <a:rPr lang="en-US" sz="1400" b="1" dirty="0">
                <a:solidFill>
                  <a:srgbClr val="FFF4E0"/>
                </a:solidFill>
                <a:latin typeface="Georgia" pitchFamily="34" charset="0"/>
                <a:ea typeface="Georgia" pitchFamily="34" charset="-122"/>
                <a:cs typeface="Georgia" pitchFamily="34" charset="-120"/>
              </a:rPr>
              <a:t>Top Performers</a:t>
            </a:r>
            <a:endParaRPr lang="en-US" sz="1400" dirty="0"/>
          </a:p>
        </p:txBody>
      </p:sp>
      <p:sp>
        <p:nvSpPr>
          <p:cNvPr id="25" name="Text 23"/>
          <p:cNvSpPr txBox="1"/>
          <p:nvPr/>
        </p:nvSpPr>
        <p:spPr>
          <a:xfrm>
            <a:off x="6629400" y="1508760"/>
            <a:ext cx="1828800" cy="658368"/>
          </a:xfrm>
          <a:prstGeom prst="rect">
            <a:avLst/>
          </a:prstGeom>
          <a:noFill/>
          <a:ln/>
        </p:spPr>
        <p:txBody>
          <a:bodyPr wrap="square" lIns="0" tIns="0" rIns="0" bIns="0" rtlCol="0" anchor="t"/>
          <a:lstStyle/>
          <a:p>
            <a:pPr marL="0" indent="0">
              <a:buNone/>
            </a:pPr>
            <a:r>
              <a:rPr lang="en-US" sz="1050" dirty="0">
                <a:solidFill>
                  <a:srgbClr val="D8C9B6"/>
                </a:solidFill>
                <a:latin typeface="Calibri" pitchFamily="34" charset="0"/>
                <a:ea typeface="Calibri" pitchFamily="34" charset="-122"/>
                <a:cs typeface="Calibri" pitchFamily="34" charset="-120"/>
              </a:rPr>
              <a:t>Best-selling pizzas, sizes and categories reveal what drives revenue.</a:t>
            </a:r>
            <a:endParaRPr lang="en-US" sz="1050" dirty="0"/>
          </a:p>
        </p:txBody>
      </p:sp>
      <p:sp>
        <p:nvSpPr>
          <p:cNvPr id="26" name="Shape 24"/>
          <p:cNvSpPr/>
          <p:nvPr/>
        </p:nvSpPr>
        <p:spPr>
          <a:xfrm>
            <a:off x="4206240" y="2423160"/>
            <a:ext cx="2103120" cy="1691640"/>
          </a:xfrm>
          <a:prstGeom prst="roundRect">
            <a:avLst>
              <a:gd name="adj" fmla="val 5405"/>
            </a:avLst>
          </a:prstGeom>
          <a:solidFill>
            <a:srgbClr val="2A221D"/>
          </a:solidFill>
          <a:ln w="12700">
            <a:solidFill>
              <a:srgbClr val="3A2E27"/>
            </a:solidFill>
            <a:prstDash val="solid"/>
          </a:ln>
        </p:spPr>
      </p:sp>
      <p:sp>
        <p:nvSpPr>
          <p:cNvPr id="27" name="Shape 25"/>
          <p:cNvSpPr/>
          <p:nvPr/>
        </p:nvSpPr>
        <p:spPr>
          <a:xfrm>
            <a:off x="4343400" y="2423160"/>
            <a:ext cx="1828800" cy="54864"/>
          </a:xfrm>
          <a:prstGeom prst="rect">
            <a:avLst/>
          </a:prstGeom>
          <a:solidFill>
            <a:srgbClr val="3E8E41"/>
          </a:solidFill>
          <a:ln w="12700">
            <a:solidFill>
              <a:srgbClr val="3E8E41"/>
            </a:solidFill>
            <a:prstDash val="solid"/>
          </a:ln>
        </p:spPr>
      </p:sp>
      <p:sp>
        <p:nvSpPr>
          <p:cNvPr id="28" name="Text 26"/>
          <p:cNvSpPr txBox="1"/>
          <p:nvPr/>
        </p:nvSpPr>
        <p:spPr>
          <a:xfrm>
            <a:off x="4343400" y="2624328"/>
            <a:ext cx="365760" cy="365760"/>
          </a:xfrm>
          <a:prstGeom prst="ellipse">
            <a:avLst/>
          </a:prstGeom>
          <a:solidFill>
            <a:srgbClr val="3E8E41"/>
          </a:solidFill>
          <a:ln>
            <a:solidFill>
              <a:srgbClr val="3E8E41"/>
            </a:solid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9" name="Text 27"/>
          <p:cNvSpPr txBox="1"/>
          <p:nvPr/>
        </p:nvSpPr>
        <p:spPr>
          <a:xfrm>
            <a:off x="4343400" y="3081528"/>
            <a:ext cx="1828800" cy="274320"/>
          </a:xfrm>
          <a:prstGeom prst="rect">
            <a:avLst/>
          </a:prstGeom>
          <a:noFill/>
          <a:ln/>
        </p:spPr>
        <p:txBody>
          <a:bodyPr wrap="square" lIns="0" tIns="0" rIns="0" bIns="0" rtlCol="0" anchor="ctr"/>
          <a:lstStyle/>
          <a:p>
            <a:pPr marL="0" indent="0">
              <a:buNone/>
            </a:pPr>
            <a:r>
              <a:rPr lang="en-US" sz="1400" b="1" dirty="0">
                <a:solidFill>
                  <a:srgbClr val="FFF4E0"/>
                </a:solidFill>
                <a:latin typeface="Georgia" pitchFamily="34" charset="0"/>
                <a:ea typeface="Georgia" pitchFamily="34" charset="-122"/>
                <a:cs typeface="Georgia" pitchFamily="34" charset="-120"/>
              </a:rPr>
              <a:t>Peak Demand</a:t>
            </a:r>
            <a:endParaRPr lang="en-US" sz="1400" dirty="0"/>
          </a:p>
        </p:txBody>
      </p:sp>
      <p:sp>
        <p:nvSpPr>
          <p:cNvPr id="30" name="Text 28"/>
          <p:cNvSpPr txBox="1"/>
          <p:nvPr/>
        </p:nvSpPr>
        <p:spPr>
          <a:xfrm>
            <a:off x="4343400" y="3383280"/>
            <a:ext cx="1828800" cy="658368"/>
          </a:xfrm>
          <a:prstGeom prst="rect">
            <a:avLst/>
          </a:prstGeom>
          <a:noFill/>
          <a:ln/>
        </p:spPr>
        <p:txBody>
          <a:bodyPr wrap="square" lIns="0" tIns="0" rIns="0" bIns="0" rtlCol="0" anchor="t"/>
          <a:lstStyle/>
          <a:p>
            <a:pPr marL="0" indent="0">
              <a:buNone/>
            </a:pPr>
            <a:r>
              <a:rPr lang="en-US" sz="1050" dirty="0">
                <a:solidFill>
                  <a:srgbClr val="D8C9B6"/>
                </a:solidFill>
                <a:latin typeface="Calibri" pitchFamily="34" charset="0"/>
                <a:ea typeface="Calibri" pitchFamily="34" charset="-122"/>
                <a:cs typeface="Calibri" pitchFamily="34" charset="-120"/>
              </a:rPr>
              <a:t>Hourly, daily and monthly trends show when to staff up and run promotions.</a:t>
            </a:r>
            <a:endParaRPr lang="en-US" sz="1050" dirty="0"/>
          </a:p>
        </p:txBody>
      </p:sp>
      <p:sp>
        <p:nvSpPr>
          <p:cNvPr id="31" name="Shape 29"/>
          <p:cNvSpPr/>
          <p:nvPr/>
        </p:nvSpPr>
        <p:spPr>
          <a:xfrm>
            <a:off x="6492240" y="2423160"/>
            <a:ext cx="2103120" cy="1691640"/>
          </a:xfrm>
          <a:prstGeom prst="roundRect">
            <a:avLst>
              <a:gd name="adj" fmla="val 5405"/>
            </a:avLst>
          </a:prstGeom>
          <a:solidFill>
            <a:srgbClr val="2A221D"/>
          </a:solidFill>
          <a:ln w="12700">
            <a:solidFill>
              <a:srgbClr val="3A2E27"/>
            </a:solidFill>
            <a:prstDash val="solid"/>
          </a:ln>
        </p:spPr>
      </p:sp>
      <p:sp>
        <p:nvSpPr>
          <p:cNvPr id="32" name="Shape 30"/>
          <p:cNvSpPr/>
          <p:nvPr/>
        </p:nvSpPr>
        <p:spPr>
          <a:xfrm>
            <a:off x="6629400" y="2423160"/>
            <a:ext cx="1828800" cy="54864"/>
          </a:xfrm>
          <a:prstGeom prst="rect">
            <a:avLst/>
          </a:prstGeom>
          <a:solidFill>
            <a:srgbClr val="B8860B"/>
          </a:solidFill>
          <a:ln w="12700">
            <a:solidFill>
              <a:srgbClr val="B8860B"/>
            </a:solidFill>
            <a:prstDash val="solid"/>
          </a:ln>
        </p:spPr>
      </p:sp>
      <p:sp>
        <p:nvSpPr>
          <p:cNvPr id="33" name="Text 31"/>
          <p:cNvSpPr txBox="1"/>
          <p:nvPr/>
        </p:nvSpPr>
        <p:spPr>
          <a:xfrm>
            <a:off x="6629400" y="2624328"/>
            <a:ext cx="365760" cy="365760"/>
          </a:xfrm>
          <a:prstGeom prst="ellipse">
            <a:avLst/>
          </a:prstGeom>
          <a:solidFill>
            <a:srgbClr val="B8860B"/>
          </a:solidFill>
          <a:ln>
            <a:solidFill>
              <a:srgbClr val="B8860B"/>
            </a:solid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34" name="Text 32"/>
          <p:cNvSpPr txBox="1"/>
          <p:nvPr/>
        </p:nvSpPr>
        <p:spPr>
          <a:xfrm>
            <a:off x="6629400" y="3081528"/>
            <a:ext cx="1828800" cy="274320"/>
          </a:xfrm>
          <a:prstGeom prst="rect">
            <a:avLst/>
          </a:prstGeom>
          <a:noFill/>
          <a:ln/>
        </p:spPr>
        <p:txBody>
          <a:bodyPr wrap="square" lIns="0" tIns="0" rIns="0" bIns="0" rtlCol="0" anchor="ctr"/>
          <a:lstStyle/>
          <a:p>
            <a:pPr marL="0" indent="0">
              <a:buNone/>
            </a:pPr>
            <a:r>
              <a:rPr lang="en-US" sz="1400" b="1" dirty="0">
                <a:solidFill>
                  <a:srgbClr val="FFF4E0"/>
                </a:solidFill>
                <a:latin typeface="Georgia" pitchFamily="34" charset="0"/>
                <a:ea typeface="Georgia" pitchFamily="34" charset="-122"/>
                <a:cs typeface="Georgia" pitchFamily="34" charset="-120"/>
              </a:rPr>
              <a:t>Smarter Menu</a:t>
            </a:r>
            <a:endParaRPr lang="en-US" sz="1400" dirty="0"/>
          </a:p>
        </p:txBody>
      </p:sp>
      <p:sp>
        <p:nvSpPr>
          <p:cNvPr id="35" name="Text 33"/>
          <p:cNvSpPr txBox="1"/>
          <p:nvPr/>
        </p:nvSpPr>
        <p:spPr>
          <a:xfrm>
            <a:off x="6629400" y="3383280"/>
            <a:ext cx="1828800" cy="658368"/>
          </a:xfrm>
          <a:prstGeom prst="rect">
            <a:avLst/>
          </a:prstGeom>
          <a:noFill/>
          <a:ln/>
        </p:spPr>
        <p:txBody>
          <a:bodyPr wrap="square" lIns="0" tIns="0" rIns="0" bIns="0" rtlCol="0" anchor="t"/>
          <a:lstStyle/>
          <a:p>
            <a:pPr marL="0" indent="0">
              <a:buNone/>
            </a:pPr>
            <a:r>
              <a:rPr lang="en-US" sz="1050" dirty="0">
                <a:solidFill>
                  <a:srgbClr val="D8C9B6"/>
                </a:solidFill>
                <a:latin typeface="Calibri" pitchFamily="34" charset="0"/>
                <a:ea typeface="Calibri" pitchFamily="34" charset="-122"/>
                <a:cs typeface="Calibri" pitchFamily="34" charset="-120"/>
              </a:rPr>
              <a:t>Top and bottom sellers plus popular ingredients guide menu and inventory.</a:t>
            </a:r>
            <a:endParaRPr lang="en-US" sz="1050" dirty="0"/>
          </a:p>
        </p:txBody>
      </p:sp>
      <p:sp>
        <p:nvSpPr>
          <p:cNvPr id="36" name="Shape 34"/>
          <p:cNvSpPr/>
          <p:nvPr/>
        </p:nvSpPr>
        <p:spPr>
          <a:xfrm>
            <a:off x="4206240" y="4297680"/>
            <a:ext cx="4389120" cy="548640"/>
          </a:xfrm>
          <a:prstGeom prst="roundRect">
            <a:avLst>
              <a:gd name="adj" fmla="val 16667"/>
            </a:avLst>
          </a:prstGeom>
          <a:solidFill>
            <a:srgbClr val="F4C542"/>
          </a:solidFill>
          <a:ln w="12700">
            <a:solidFill>
              <a:srgbClr val="F4C542"/>
            </a:solidFill>
            <a:prstDash val="solid"/>
          </a:ln>
        </p:spPr>
      </p:sp>
      <p:sp>
        <p:nvSpPr>
          <p:cNvPr id="37" name="Text 35"/>
          <p:cNvSpPr txBox="1"/>
          <p:nvPr/>
        </p:nvSpPr>
        <p:spPr>
          <a:xfrm>
            <a:off x="4343400" y="4297680"/>
            <a:ext cx="4114800" cy="548640"/>
          </a:xfrm>
          <a:prstGeom prst="rect">
            <a:avLst/>
          </a:prstGeom>
          <a:noFill/>
          <a:ln/>
        </p:spPr>
        <p:txBody>
          <a:bodyPr wrap="square" lIns="0" tIns="0" rIns="0" bIns="0" rtlCol="0" anchor="ctr"/>
          <a:lstStyle/>
          <a:p>
            <a:pPr marL="0" indent="0">
              <a:buNone/>
            </a:pPr>
            <a:r>
              <a:rPr lang="en-US" sz="1100" b="1" dirty="0">
                <a:solidFill>
                  <a:srgbClr val="1F1A17"/>
                </a:solidFill>
                <a:latin typeface="Calibri" pitchFamily="34" charset="0"/>
                <a:ea typeface="Calibri" pitchFamily="34" charset="-122"/>
                <a:cs typeface="Calibri" pitchFamily="34" charset="-120"/>
              </a:rPr>
              <a:t>Recommendation: </a:t>
            </a:r>
            <a:r>
              <a:rPr lang="en-US" sz="1100" dirty="0">
                <a:solidFill>
                  <a:srgbClr val="1F1A17"/>
                </a:solidFill>
                <a:latin typeface="Calibri" pitchFamily="34" charset="0"/>
                <a:ea typeface="Calibri" pitchFamily="34" charset="-122"/>
                <a:cs typeface="Calibri" pitchFamily="34" charset="-120"/>
              </a:rPr>
              <a:t>Promote top sellers, staff for peak hours, and trim low performers.</a:t>
            </a:r>
            <a:endParaRPr lang="en-US" sz="1100" dirty="0"/>
          </a:p>
        </p:txBody>
      </p:sp>
    </p:spTree>
    <p:extLst>
      <p:ext uri="{BB962C8B-B14F-4D97-AF65-F5344CB8AC3E}">
        <p14:creationId xmlns:p14="http://schemas.microsoft.com/office/powerpoint/2010/main" val="439129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Cambria">
      <a:majorFont>
        <a:latin typeface="Calibri" panose="020F0502020204030204"/>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 dockstate="right" visibility="0" width="525"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1EB86470-E802-4575-A1E8-588EBD40FDA6}">
  <we:reference id="wa200010001" version="1.0.0.1" store="en-US" storeType="OMEX"/>
  <we:alternateReferences>
    <we:reference id="wa200010001" version="1.0.0.1" store="wa200010001" storeType="OMEX"/>
  </we:alternateReferences>
  <we:properties>
    <we:property name="claude.fileId" value="&quot;cb51c144-0356-42d2-8a7e-29c1898baefb&quot;"/>
  </we:properties>
  <we:bindings/>
  <we:snapshot xmlns:r="http://schemas.openxmlformats.org/officeDocument/2006/relationships"/>
</we:webextension>
</file>

<file path=ppt/webextensions/webextension2.xml><?xml version="1.0" encoding="utf-8"?>
<we:webextension xmlns:we="http://schemas.microsoft.com/office/webextensions/webextension/2010/11" id="{49388E32-300E-4BF8-9389-148826E46991}">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80F002AA-9D2C-4F01-964A-68F1F32E6A84}">
  <we:reference id="wa200010215" version="2.0.0.1" store="en-US" storeType="OMEX"/>
  <we:alternateReferences>
    <we:reference id="wa200010215" version="2.0.0.1" store="wa200010215" storeType="OMEX"/>
  </we:alternateReferences>
  <we:properties>
    <we:property name="bps.codex_control.document_id" value="&quot;31e34150-027d-4468-bfaf-1c5d09f43e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ppt2542.tmp</Template>
  <TotalTime>145</TotalTime>
  <Words>2418</Words>
  <Application>Microsoft Office PowerPoint</Application>
  <PresentationFormat>On-screen Show (16:9)</PresentationFormat>
  <Paragraphs>228</Paragraphs>
  <Slides>22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Pizza Sales Analysis</dc:title>
  <dc:subject>PptxGenJS Presentation</dc:subject>
  <dc:creator>Aman Gusain</dc:creator>
  <cp:lastModifiedBy>Aman Gusain</cp:lastModifiedBy>
  <cp:revision>16</cp:revision>
  <dcterms:created xsi:type="dcterms:W3CDTF">2026-10-07T08:05:51Z</dcterms:created>
  <dcterms:modified xsi:type="dcterms:W3CDTF">2026-10-07T15:28:14Z</dcterms:modified>
</cp:coreProperties>
</file>